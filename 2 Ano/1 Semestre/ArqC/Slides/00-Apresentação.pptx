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6" r:id="rId1"/>
    <p:sldMasterId id="2147483941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8" r:id="rId4"/>
    <p:sldId id="260" r:id="rId5"/>
    <p:sldId id="263" r:id="rId6"/>
    <p:sldId id="266" r:id="rId7"/>
    <p:sldId id="262" r:id="rId8"/>
    <p:sldId id="257" r:id="rId9"/>
    <p:sldId id="259" r:id="rId10"/>
    <p:sldId id="267" r:id="rId11"/>
  </p:sldIdLst>
  <p:sldSz cx="9144000" cy="6858000" type="screen4x3"/>
  <p:notesSz cx="6858000" cy="9144000"/>
  <p:defaultTextStyle>
    <a:defPPr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10CBD472-44B5-5CDB-B0A6-8736312077FE}"/>
    <pc:docChg chg="modSld">
      <pc:chgData name="Luís Paulo Peixoto Santos" userId="1bcb44e7-5d82-436c-b2eb-8036fed75eb8" providerId="ADAL" clId="{10CBD472-44B5-5CDB-B0A6-8736312077FE}" dt="2025-09-14T20:55:20.283" v="31" actId="20577"/>
      <pc:docMkLst>
        <pc:docMk/>
      </pc:docMkLst>
      <pc:sldChg chg="modSp mod">
        <pc:chgData name="Luís Paulo Peixoto Santos" userId="1bcb44e7-5d82-436c-b2eb-8036fed75eb8" providerId="ADAL" clId="{10CBD472-44B5-5CDB-B0A6-8736312077FE}" dt="2025-09-14T20:46:09.139" v="3" actId="20577"/>
        <pc:sldMkLst>
          <pc:docMk/>
          <pc:sldMk cId="0" sldId="256"/>
        </pc:sldMkLst>
        <pc:spChg chg="mod">
          <ac:chgData name="Luís Paulo Peixoto Santos" userId="1bcb44e7-5d82-436c-b2eb-8036fed75eb8" providerId="ADAL" clId="{10CBD472-44B5-5CDB-B0A6-8736312077FE}" dt="2025-09-14T20:46:09.139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Luís Paulo Peixoto Santos" userId="1bcb44e7-5d82-436c-b2eb-8036fed75eb8" providerId="ADAL" clId="{10CBD472-44B5-5CDB-B0A6-8736312077FE}" dt="2025-09-14T20:55:20.283" v="31" actId="20577"/>
        <pc:sldMkLst>
          <pc:docMk/>
          <pc:sldMk cId="0" sldId="259"/>
        </pc:sldMkLst>
        <pc:spChg chg="mod">
          <ac:chgData name="Luís Paulo Peixoto Santos" userId="1bcb44e7-5d82-436c-b2eb-8036fed75eb8" providerId="ADAL" clId="{10CBD472-44B5-5CDB-B0A6-8736312077FE}" dt="2025-09-14T20:55:20.283" v="31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ís Paulo Peixoto Santos" userId="1bcb44e7-5d82-436c-b2eb-8036fed75eb8" providerId="ADAL" clId="{10CBD472-44B5-5CDB-B0A6-8736312077FE}" dt="2025-09-14T20:46:54.303" v="7" actId="20577"/>
        <pc:sldMkLst>
          <pc:docMk/>
          <pc:sldMk cId="0" sldId="260"/>
        </pc:sldMkLst>
        <pc:spChg chg="mod">
          <ac:chgData name="Luís Paulo Peixoto Santos" userId="1bcb44e7-5d82-436c-b2eb-8036fed75eb8" providerId="ADAL" clId="{10CBD472-44B5-5CDB-B0A6-8736312077FE}" dt="2025-09-14T20:46:54.303" v="7" actId="20577"/>
          <ac:spMkLst>
            <pc:docMk/>
            <pc:sldMk cId="0" sldId="260"/>
            <ac:spMk id="18434" creationId="{00000000-0000-0000-0000-000000000000}"/>
          </ac:spMkLst>
        </pc:spChg>
      </pc:sldChg>
      <pc:sldChg chg="modSp mod">
        <pc:chgData name="Luís Paulo Peixoto Santos" userId="1bcb44e7-5d82-436c-b2eb-8036fed75eb8" providerId="ADAL" clId="{10CBD472-44B5-5CDB-B0A6-8736312077FE}" dt="2025-09-14T20:52:46.503" v="27" actId="20577"/>
        <pc:sldMkLst>
          <pc:docMk/>
          <pc:sldMk cId="0" sldId="262"/>
        </pc:sldMkLst>
        <pc:spChg chg="mod">
          <ac:chgData name="Luís Paulo Peixoto Santos" userId="1bcb44e7-5d82-436c-b2eb-8036fed75eb8" providerId="ADAL" clId="{10CBD472-44B5-5CDB-B0A6-8736312077FE}" dt="2025-09-14T20:52:46.503" v="27" actId="20577"/>
          <ac:spMkLst>
            <pc:docMk/>
            <pc:sldMk cId="0" sldId="262"/>
            <ac:spMk id="6147" creationId="{00000000-0000-0000-0000-000000000000}"/>
          </ac:spMkLst>
        </pc:spChg>
      </pc:sldChg>
    </pc:docChg>
  </pc:docChgLst>
  <pc:docChgLst>
    <pc:chgData name="Luís Paulo Peixoto Santos" userId="S::d1063@uminho.pt::1bcb44e7-5d82-436c-b2eb-8036fed75eb8" providerId="AD" clId="Web-{886F3780-4A30-4AE0-3993-982B51534F9A}"/>
    <pc:docChg chg="modSld">
      <pc:chgData name="Luís Paulo Peixoto Santos" userId="S::d1063@uminho.pt::1bcb44e7-5d82-436c-b2eb-8036fed75eb8" providerId="AD" clId="Web-{886F3780-4A30-4AE0-3993-982B51534F9A}" dt="2024-09-08T10:33:58.567" v="33" actId="20577"/>
      <pc:docMkLst>
        <pc:docMk/>
      </pc:docMkLst>
      <pc:sldChg chg="modSp">
        <pc:chgData name="Luís Paulo Peixoto Santos" userId="S::d1063@uminho.pt::1bcb44e7-5d82-436c-b2eb-8036fed75eb8" providerId="AD" clId="Web-{886F3780-4A30-4AE0-3993-982B51534F9A}" dt="2024-09-08T10:29:35.029" v="1" actId="20577"/>
        <pc:sldMkLst>
          <pc:docMk/>
          <pc:sldMk cId="0" sldId="256"/>
        </pc:sldMkLst>
      </pc:sldChg>
      <pc:sldChg chg="modSp">
        <pc:chgData name="Luís Paulo Peixoto Santos" userId="S::d1063@uminho.pt::1bcb44e7-5d82-436c-b2eb-8036fed75eb8" providerId="AD" clId="Web-{886F3780-4A30-4AE0-3993-982B51534F9A}" dt="2024-09-08T10:33:46.160" v="30" actId="20577"/>
        <pc:sldMkLst>
          <pc:docMk/>
          <pc:sldMk cId="0" sldId="257"/>
        </pc:sldMkLst>
      </pc:sldChg>
      <pc:sldChg chg="modSp">
        <pc:chgData name="Luís Paulo Peixoto Santos" userId="S::d1063@uminho.pt::1bcb44e7-5d82-436c-b2eb-8036fed75eb8" providerId="AD" clId="Web-{886F3780-4A30-4AE0-3993-982B51534F9A}" dt="2024-09-08T10:30:45.819" v="9" actId="20577"/>
        <pc:sldMkLst>
          <pc:docMk/>
          <pc:sldMk cId="0" sldId="258"/>
        </pc:sldMkLst>
      </pc:sldChg>
      <pc:sldChg chg="modSp">
        <pc:chgData name="Luís Paulo Peixoto Santos" userId="S::d1063@uminho.pt::1bcb44e7-5d82-436c-b2eb-8036fed75eb8" providerId="AD" clId="Web-{886F3780-4A30-4AE0-3993-982B51534F9A}" dt="2024-09-08T10:33:58.567" v="33" actId="20577"/>
        <pc:sldMkLst>
          <pc:docMk/>
          <pc:sldMk cId="0" sldId="259"/>
        </pc:sldMkLst>
      </pc:sldChg>
      <pc:sldChg chg="modSp">
        <pc:chgData name="Luís Paulo Peixoto Santos" userId="S::d1063@uminho.pt::1bcb44e7-5d82-436c-b2eb-8036fed75eb8" providerId="AD" clId="Web-{886F3780-4A30-4AE0-3993-982B51534F9A}" dt="2024-09-08T10:32:38.842" v="24" actId="20577"/>
        <pc:sldMkLst>
          <pc:docMk/>
          <pc:sldMk cId="0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B03A8-DA46-384F-A643-BAD673013220}" type="datetimeFigureOut">
              <a:rPr lang="pt-PT" smtClean="0"/>
              <a:pPr/>
              <a:t>14/09/25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667BE-BAF9-B849-8B4E-4152160D13A5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67473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B8496-2F6B-9B44-95DE-AB590BD86921}" type="datetimeFigureOut">
              <a:rPr lang="pt-PT" smtClean="0"/>
              <a:pPr/>
              <a:t>14/09/25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FF3F1-5861-F84A-B6DA-FB53F9C825F0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3516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A117-EA1C-0241-99D6-28E80D375B8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793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02557-F7BD-694D-B8B4-23939332CE9C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741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FF61-9269-114F-BFA8-A5545A530180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389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CB5-4E8F-C74C-BEE1-64702E756DC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039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2C-EECF-1E40-A5CF-24616D334BB7}" type="datetime1">
              <a:rPr lang="pt-PT" smtClean="0"/>
              <a:t>14/09/25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519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8AB2F-9A26-DA41-862B-14CA37C99ACF}" type="datetime1">
              <a:rPr lang="pt-PT" smtClean="0"/>
              <a:t>14/09/25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690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D106-5EE3-9146-B333-660904B055F3}" type="datetime1">
              <a:rPr lang="pt-PT" smtClean="0"/>
              <a:t>14/09/25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819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3A005-28DF-B042-B142-50E273050027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603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CDA7-8AA2-0E44-9040-B560E3BE4E0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335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190B0-8C41-CA43-A1A3-B9C60B392DCE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80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04474-609A-044F-B736-CC07943D43C8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750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7D47F704-880D-324A-8DA2-7B1A1F95B6D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D10215A9-BDBF-1541-9F88-F33CDF36F835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rot="16200000">
            <a:off x="5769819" y="3208338"/>
            <a:ext cx="5105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AC - Apresentação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313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40899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50417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FF61-9269-114F-BFA8-A5545A530180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8781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CB5-4E8F-C74C-BEE1-64702E756DC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507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2C-EECF-1E40-A5CF-24616D334BB7}" type="datetime1">
              <a:rPr lang="pt-PT" smtClean="0"/>
              <a:t>14/09/25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8520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038945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D106-5EE3-9146-B333-660904B055F3}" type="datetime1">
              <a:rPr lang="pt-PT" smtClean="0"/>
              <a:t>14/09/25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612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3A005-28DF-B042-B142-50E273050027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60272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CDA7-8AA2-0E44-9040-B560E3BE4E0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18372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177030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310652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46" y="258159"/>
            <a:ext cx="7511473" cy="1312480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Master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6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2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7D47F704-880D-324A-8DA2-7B1A1F95B6DA}" type="datetime1">
              <a:rPr lang="pt-PT" smtClean="0"/>
              <a:t>14/09/25</a:t>
            </a:fld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D10215A9-BDBF-1541-9F88-F33CDF36F835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8348" y="6234716"/>
            <a:ext cx="51054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AC - Apresentação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706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AC - Apresentação</a:t>
            </a:r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5536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B5DDC-E100-054D-926D-391B0241F63A}" type="datetime1">
              <a:rPr lang="pt-PT" smtClean="0"/>
              <a:t>14/09/25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AC - Apresentação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7AF5-10F9-49D7-866D-891E3ACA37D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1208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uisilva@di.uminho.pt" TargetMode="External"/><Relationship Id="rId2" Type="http://schemas.openxmlformats.org/officeDocument/2006/relationships/hyperlink" Target="mailto:psantos@di.uminho.pt" TargetMode="External"/><Relationship Id="rId1" Type="http://schemas.openxmlformats.org/officeDocument/2006/relationships/slideLayout" Target="../slideLayouts/slideLayout24.xml"/><Relationship Id="rId4" Type="http://schemas.openxmlformats.org/officeDocument/2006/relationships/hyperlink" Target="mailto:d7157@di.uminho.p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ooksite.elsevier.com/9780123838728/" TargetMode="External"/><Relationship Id="rId2" Type="http://schemas.openxmlformats.org/officeDocument/2006/relationships/hyperlink" Target="http://csapp.cs.cmu.edu/2e/home.html" TargetMode="Externa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.voxvote.com/?pin=181685&amp;autosubmit=true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00 - Apresentação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136" y="3776119"/>
            <a:ext cx="7839727" cy="19595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Luís Paulo Santos</a:t>
            </a:r>
          </a:p>
          <a:p>
            <a:r>
              <a:rPr lang="pt-PT" dirty="0" err="1"/>
              <a:t>Arquitectura</a:t>
            </a:r>
            <a:r>
              <a:rPr lang="pt-PT" dirty="0"/>
              <a:t> de Computadores 2025/26</a:t>
            </a:r>
            <a:endParaRPr lang="pt-PT" dirty="0">
              <a:ea typeface="Calibri"/>
              <a:cs typeface="Calibri"/>
            </a:endParaRPr>
          </a:p>
          <a:p>
            <a:r>
              <a:rPr lang="pt-PT" dirty="0"/>
              <a:t>Licenciatura em Engenharia Informática</a:t>
            </a:r>
          </a:p>
          <a:p>
            <a:r>
              <a:rPr lang="pt-PT" dirty="0"/>
              <a:t>Universidade do Minho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Equipa Docente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382" y="1676320"/>
            <a:ext cx="7886700" cy="33077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/>
              <a:t>Luís Paulo Peixoto dos Santos</a:t>
            </a:r>
            <a:br>
              <a:rPr lang="pt-PT" dirty="0"/>
            </a:br>
            <a:r>
              <a:rPr lang="pt-PT" dirty="0"/>
              <a:t>(</a:t>
            </a:r>
            <a:r>
              <a:rPr lang="pt-PT" dirty="0">
                <a:hlinkClick r:id="rId2"/>
              </a:rPr>
              <a:t>psantos@di.uminho.pt</a:t>
            </a:r>
            <a:r>
              <a:rPr lang="pt-PT" dirty="0"/>
              <a:t>)</a:t>
            </a:r>
          </a:p>
          <a:p>
            <a:r>
              <a:rPr lang="pt-PT" dirty="0"/>
              <a:t>António Esteves</a:t>
            </a:r>
            <a:br>
              <a:rPr lang="pt-PT" dirty="0"/>
            </a:br>
            <a:r>
              <a:rPr lang="pt-PT" dirty="0"/>
              <a:t>(</a:t>
            </a:r>
            <a:r>
              <a:rPr lang="pt-PT" dirty="0">
                <a:hlinkClick r:id="rId3"/>
              </a:rPr>
              <a:t>esteves@di.uminho.pt</a:t>
            </a:r>
            <a:r>
              <a:rPr lang="pt-PT" dirty="0"/>
              <a:t> ) </a:t>
            </a:r>
          </a:p>
          <a:p>
            <a:r>
              <a:rPr lang="pt-PT" dirty="0"/>
              <a:t>Paulo Sousa</a:t>
            </a:r>
            <a:br>
              <a:rPr lang="pt-PT" dirty="0"/>
            </a:br>
            <a:r>
              <a:rPr lang="pt-PT" dirty="0"/>
              <a:t>(</a:t>
            </a:r>
            <a:r>
              <a:rPr lang="pt-PT" dirty="0">
                <a:hlinkClick r:id="rId4"/>
              </a:rPr>
              <a:t>d7157@di.uminho.pt</a:t>
            </a:r>
            <a:r>
              <a:rPr lang="pt-PT" dirty="0"/>
              <a:t> 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15A9-BDBF-1541-9F88-F33CDF36F835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6" name="CaixaDeTexto 5"/>
          <p:cNvSpPr txBox="1"/>
          <p:nvPr/>
        </p:nvSpPr>
        <p:spPr>
          <a:xfrm>
            <a:off x="558062" y="5396827"/>
            <a:ext cx="764221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PT" dirty="0"/>
              <a:t>O atendimento aos alunos, para esclarecimento de dúvidas, deverá ser agendado através de envio de mensagem  de correio electrónico ao docente em causa.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Distribuição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pelos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turnos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PL</a:t>
            </a:r>
          </a:p>
        </p:txBody>
      </p:sp>
      <p:sp>
        <p:nvSpPr>
          <p:cNvPr id="18434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523999"/>
            <a:ext cx="7682756" cy="4733581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Feita pela Direcção de Curso (DC)</a:t>
            </a: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A DC atribui horários (e não turnos).</a:t>
            </a:r>
            <a:br>
              <a:rPr lang="pt-PT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A DC estabelece o regime de troca de turnos durante a 1ª/2ª semana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Não serão admitidos em cada turno alunos que não estejam alocados aquele turno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As aulas PL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iniciam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na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3a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feira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, 23 de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setembro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18436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3E98F8B-C3AE-BC45-9B17-54808DACBB03}" type="slidenum">
              <a:rPr lang="en-US">
                <a:ea typeface="ＭＳ Ｐゴシック" pitchFamily="-109" charset="-128"/>
                <a:cs typeface="ＭＳ Ｐゴシック" pitchFamily="-109" charset="-128"/>
              </a:rPr>
              <a:pPr/>
              <a:t>3</a:t>
            </a:fld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Sessões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PL</a:t>
            </a:r>
          </a:p>
        </p:txBody>
      </p:sp>
      <p:sp>
        <p:nvSpPr>
          <p:cNvPr id="20482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frequência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destas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sessões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não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é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obrigatória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, mas é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recomendada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marL="0" indent="0" eaLnBrk="1" hangingPunct="1">
              <a:buNone/>
            </a:pP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eaLnBrk="1" hangingPunct="1"/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Os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guiões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respeitantes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cada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sessão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são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publicados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na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página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web (e-learning) na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semana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anterior.</a:t>
            </a:r>
          </a:p>
          <a:p>
            <a:pPr lvl="1" eaLnBrk="1" hangingPunct="1"/>
            <a:r>
              <a:rPr lang="en-US" dirty="0"/>
              <a:t>Estes </a:t>
            </a:r>
            <a:r>
              <a:rPr lang="en-US" dirty="0" err="1"/>
              <a:t>guiões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essenciais</a:t>
            </a:r>
            <a:r>
              <a:rPr lang="en-US" dirty="0"/>
              <a:t> para o </a:t>
            </a:r>
            <a:r>
              <a:rPr lang="en-US" dirty="0" err="1"/>
              <a:t>bom</a:t>
            </a:r>
            <a:r>
              <a:rPr lang="en-US" dirty="0"/>
              <a:t> </a:t>
            </a:r>
            <a:r>
              <a:rPr lang="en-US" dirty="0" err="1"/>
              <a:t>funcionamento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</a:t>
            </a:r>
            <a:r>
              <a:rPr lang="en-US" dirty="0" err="1"/>
              <a:t>sessões</a:t>
            </a:r>
            <a:r>
              <a:rPr lang="en-US" dirty="0"/>
              <a:t>. </a:t>
            </a:r>
            <a:br>
              <a:rPr lang="en-US" dirty="0"/>
            </a:br>
            <a:endParaRPr lang="en-US" b="1" dirty="0"/>
          </a:p>
        </p:txBody>
      </p:sp>
      <p:sp>
        <p:nvSpPr>
          <p:cNvPr id="20484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AE413C7-427C-A540-9B11-E9DF6886F36C}" type="slidenum">
              <a:rPr lang="en-US">
                <a:ea typeface="ＭＳ Ｐゴシック" pitchFamily="-109" charset="-128"/>
                <a:cs typeface="ＭＳ Ｐゴシック" pitchFamily="-109" charset="-128"/>
              </a:rPr>
              <a:pPr/>
              <a:t>4</a:t>
            </a:fld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Sessões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PL – </a:t>
            </a:r>
            <a:r>
              <a:rPr lang="en-US" sz="3600" dirty="0" err="1">
                <a:ea typeface="ＭＳ Ｐゴシック" pitchFamily="-109" charset="-128"/>
                <a:cs typeface="ＭＳ Ｐゴシック" pitchFamily="-109" charset="-128"/>
              </a:rPr>
              <a:t>recursos</a:t>
            </a:r>
            <a:r>
              <a:rPr lang="en-US" sz="36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sz="3600" dirty="0" err="1">
                <a:ea typeface="ＭＳ Ｐゴシック" pitchFamily="-109" charset="-128"/>
                <a:cs typeface="ＭＳ Ｐゴシック" pitchFamily="-109" charset="-128"/>
              </a:rPr>
              <a:t>computacionais</a:t>
            </a:r>
            <a:r>
              <a:rPr lang="en-US" sz="36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20482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nós de computação do cluster </a:t>
            </a:r>
            <a:r>
              <a:rPr lang="pt-PT" dirty="0" err="1">
                <a:ea typeface="ＭＳ Ｐゴシック" pitchFamily="-109" charset="-128"/>
                <a:cs typeface="ＭＳ Ｐゴシック" pitchFamily="-109" charset="-128"/>
              </a:rPr>
              <a:t>SeARCH</a:t>
            </a: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 com 24 </a:t>
            </a:r>
            <a:r>
              <a:rPr lang="pt-PT" i="1" dirty="0">
                <a:ea typeface="ＭＳ Ｐゴシック" pitchFamily="-109" charset="-128"/>
                <a:cs typeface="ＭＳ Ｐゴシック" pitchFamily="-109" charset="-128"/>
              </a:rPr>
              <a:t>cores</a:t>
            </a:r>
          </a:p>
          <a:p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r>
              <a:rPr lang="en-US" sz="2400" dirty="0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search.di.uminho.pt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e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acessível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por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i="1" dirty="0" err="1">
                <a:ea typeface="ＭＳ Ｐゴシック" pitchFamily="-109" charset="-128"/>
                <a:cs typeface="ＭＳ Ｐゴシック" pitchFamily="-109" charset="-128"/>
              </a:rPr>
              <a:t>ssh</a:t>
            </a:r>
            <a:r>
              <a:rPr lang="en-US" i="1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br>
              <a:rPr lang="en-US" i="1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sz="1600" dirty="0">
                <a:ea typeface="ＭＳ Ｐゴシック" pitchFamily="-109" charset="-128"/>
                <a:cs typeface="ＭＳ Ｐゴシック" pitchFamily="-109" charset="-128"/>
              </a:rPr>
              <a:t>(Sistemas Linux/</a:t>
            </a:r>
            <a:r>
              <a:rPr lang="pt-PT" sz="1600" dirty="0" err="1">
                <a:ea typeface="ＭＳ Ｐゴシック" pitchFamily="-109" charset="-128"/>
                <a:cs typeface="ＭＳ Ｐゴシック" pitchFamily="-109" charset="-128"/>
              </a:rPr>
              <a:t>MacOS</a:t>
            </a:r>
            <a:r>
              <a:rPr lang="pt-PT" sz="1600" dirty="0">
                <a:ea typeface="ＭＳ Ｐゴシック" pitchFamily="-109" charset="-128"/>
                <a:cs typeface="ＭＳ Ｐゴシック" pitchFamily="-109" charset="-128"/>
              </a:rPr>
              <a:t>: comando de linha </a:t>
            </a:r>
            <a:r>
              <a:rPr lang="pt-PT" sz="1400" dirty="0" err="1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ssh</a:t>
            </a:r>
            <a:r>
              <a:rPr lang="pt-PT" sz="1400" dirty="0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 </a:t>
            </a:r>
            <a:r>
              <a:rPr lang="pt-PT" sz="1600" dirty="0">
                <a:ea typeface="ＭＳ Ｐゴシック" pitchFamily="-109" charset="-128"/>
                <a:cs typeface="ＭＳ Ｐゴシック" pitchFamily="-109" charset="-128"/>
              </a:rPr>
              <a:t>; Windows </a:t>
            </a:r>
            <a:r>
              <a:rPr lang="pt-PT" sz="1400" dirty="0" err="1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putty</a:t>
            </a:r>
            <a:r>
              <a:rPr lang="pt-PT" sz="1400" dirty="0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/</a:t>
            </a:r>
            <a:r>
              <a:rPr lang="pt-PT" sz="1400" dirty="0" err="1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OpenSSh</a:t>
            </a:r>
            <a:r>
              <a:rPr lang="pt-PT" sz="1600" dirty="0">
                <a:ea typeface="ＭＳ Ｐゴシック" pitchFamily="-109" charset="-128"/>
                <a:cs typeface="ＭＳ Ｐゴシック" pitchFamily="-109" charset="-128"/>
              </a:rPr>
              <a:t>)</a:t>
            </a:r>
            <a:endParaRPr lang="en-US" sz="1600" dirty="0">
              <a:ea typeface="ＭＳ Ｐゴシック" pitchFamily="-109" charset="-128"/>
              <a:cs typeface="ＭＳ Ｐゴシック" pitchFamily="-109" charset="-128"/>
            </a:endParaRPr>
          </a:p>
          <a:p>
            <a:pPr eaLnBrk="1" hangingPunct="1"/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eaLnBrk="1" hangingPunct="1"/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Na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plataforma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de </a:t>
            </a:r>
            <a:r>
              <a:rPr lang="en-US" i="1" dirty="0" err="1">
                <a:ea typeface="ＭＳ Ｐゴシック" pitchFamily="-109" charset="-128"/>
                <a:cs typeface="ＭＳ Ｐゴシック" pitchFamily="-109" charset="-128"/>
              </a:rPr>
              <a:t>elearning</a:t>
            </a:r>
            <a:r>
              <a:rPr lang="en-US" i="1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encontra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-se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disponível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:</a:t>
            </a:r>
          </a:p>
          <a:p>
            <a:pPr marL="0" indent="0" algn="ctr">
              <a:buNone/>
            </a:pP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“Guia de Utilização do </a:t>
            </a:r>
            <a:r>
              <a:rPr lang="pt-PT" dirty="0" err="1">
                <a:ea typeface="ＭＳ Ｐゴシック" pitchFamily="-109" charset="-128"/>
                <a:cs typeface="ＭＳ Ｐゴシック" pitchFamily="-109" charset="-128"/>
              </a:rPr>
              <a:t>SeARCH</a:t>
            </a: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”</a:t>
            </a:r>
            <a:br>
              <a:rPr lang="en-US" dirty="0">
                <a:ea typeface="ＭＳ Ｐゴシック" pitchFamily="-109" charset="-128"/>
                <a:cs typeface="ＭＳ Ｐゴシック" pitchFamily="-109" charset="-128"/>
              </a:rPr>
            </a:b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  <a:p>
            <a:pPr algn="just"/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As contas dos alunos para acesso ao </a:t>
            </a:r>
            <a:r>
              <a:rPr lang="pt-PT" sz="2400" dirty="0" err="1">
                <a:latin typeface="Courier New" panose="02070309020205020404" pitchFamily="49" charset="0"/>
                <a:ea typeface="ＭＳ Ｐゴシック" pitchFamily="-109" charset="-128"/>
                <a:cs typeface="Courier New" panose="02070309020205020404" pitchFamily="49" charset="0"/>
              </a:rPr>
              <a:t>search</a:t>
            </a: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 serão criadas na próxima semana. Estejam </a:t>
            </a:r>
            <a:r>
              <a:rPr lang="pt-PT" b="1" dirty="0">
                <a:ea typeface="ＭＳ Ｐゴシック" pitchFamily="-109" charset="-128"/>
                <a:cs typeface="ＭＳ Ｐゴシック" pitchFamily="-109" charset="-128"/>
              </a:rPr>
              <a:t>atentos</a:t>
            </a:r>
            <a:r>
              <a:rPr lang="pt-PT" dirty="0">
                <a:ea typeface="ＭＳ Ｐゴシック" pitchFamily="-109" charset="-128"/>
                <a:cs typeface="ＭＳ Ｐゴシック" pitchFamily="-109" charset="-128"/>
              </a:rPr>
              <a:t> ao vosso </a:t>
            </a:r>
            <a:r>
              <a:rPr lang="pt-PT" b="1" dirty="0">
                <a:ea typeface="ＭＳ Ｐゴシック" pitchFamily="-109" charset="-128"/>
                <a:cs typeface="ＭＳ Ｐゴシック" pitchFamily="-109" charset="-128"/>
              </a:rPr>
              <a:t>email institucional</a:t>
            </a:r>
            <a:endParaRPr lang="en-US" b="1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20484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AE413C7-427C-A540-9B11-E9DF6886F36C}" type="slidenum">
              <a:rPr lang="en-US">
                <a:ea typeface="ＭＳ Ｐゴシック" pitchFamily="-109" charset="-128"/>
                <a:cs typeface="ＭＳ Ｐゴシック" pitchFamily="-109" charset="-128"/>
              </a:rPr>
              <a:pPr/>
              <a:t>5</a:t>
            </a:fld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489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Metodologia</a:t>
            </a:r>
            <a:r>
              <a:rPr lang="en-US" dirty="0">
                <a:ea typeface="ＭＳ Ｐゴシック" pitchFamily="-109" charset="-128"/>
                <a:cs typeface="ＭＳ Ｐゴシック" pitchFamily="-109" charset="-128"/>
              </a:rPr>
              <a:t> de </a:t>
            </a:r>
            <a:r>
              <a:rPr lang="en-US" dirty="0" err="1">
                <a:ea typeface="ＭＳ Ｐゴシック" pitchFamily="-109" charset="-128"/>
                <a:cs typeface="ＭＳ Ｐゴシック" pitchFamily="-109" charset="-128"/>
              </a:rPr>
              <a:t>Avaliação</a:t>
            </a:r>
            <a:endParaRPr lang="en-US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6147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436279" cy="4676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None/>
            </a:pPr>
            <a:r>
              <a:rPr lang="pt-PT" sz="2400" b="1" dirty="0">
                <a:ea typeface="ＭＳ Ｐゴシック" pitchFamily="-109" charset="-128"/>
                <a:cs typeface="ＭＳ Ｐゴシック" pitchFamily="-109" charset="-128"/>
              </a:rPr>
              <a:t>dois testes escritos </a:t>
            </a:r>
            <a:endParaRPr lang="pt-PT" sz="1900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cada teste cobrirá apenas um subconjunto dos tópicos leccionados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duração de 90 minutos e classificação máxima de 10 valores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/>
                <a:cs typeface="ＭＳ Ｐゴシック" pitchFamily="-109" charset="-128"/>
              </a:rPr>
              <a:t>realizam-se a 29 de Outubro, 2025 e 8 de Janeiro, 2026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classificação final = soma das classificações dos testes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aprovação nos testes implica: T1 &gt;= 3.5 e T2 &gt;= 3.5 e (T1+T2) &gt;= 9.5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A aprovação resulta na </a:t>
            </a:r>
            <a:r>
              <a:rPr lang="pt-PT" sz="2000" b="1" dirty="0">
                <a:ea typeface="ＭＳ Ｐゴシック" pitchFamily="-109" charset="-128"/>
                <a:cs typeface="ＭＳ Ｐゴシック" pitchFamily="-109" charset="-128"/>
              </a:rPr>
              <a:t>dispensa de exame</a:t>
            </a: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/>
                <a:cs typeface="ＭＳ Ｐゴシック" pitchFamily="-109" charset="-128"/>
              </a:rPr>
              <a:t> Os alunos não aprovados nestes testes realizam o exame escrito:</a:t>
            </a:r>
            <a:br>
              <a:rPr lang="pt-PT" sz="1900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sz="1900" dirty="0">
                <a:ea typeface="ＭＳ Ｐゴシック"/>
                <a:cs typeface="ＭＳ Ｐゴシック" pitchFamily="-109" charset="-128"/>
              </a:rPr>
              <a:t>30 de Janeiro, 2026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O exame escrito final cobrirá a </a:t>
            </a:r>
            <a:r>
              <a:rPr lang="pt-PT" sz="1900" b="1" dirty="0">
                <a:ea typeface="ＭＳ Ｐゴシック" pitchFamily="-109" charset="-128"/>
                <a:cs typeface="ＭＳ Ｐゴシック" pitchFamily="-109" charset="-128"/>
              </a:rPr>
              <a:t>totalidade dos tópicos leccionados</a:t>
            </a:r>
            <a:r>
              <a:rPr lang="pt-PT" sz="1900" dirty="0">
                <a:ea typeface="ＭＳ Ｐゴシック" pitchFamily="-109" charset="-128"/>
                <a:cs typeface="ＭＳ Ｐゴシック" pitchFamily="-109" charset="-128"/>
              </a:rPr>
              <a:t>, terá a duração de 2 horas e vale um máximo de 20 valores.</a:t>
            </a:r>
          </a:p>
        </p:txBody>
      </p:sp>
      <p:sp>
        <p:nvSpPr>
          <p:cNvPr id="17412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E417814-9213-6E48-AC2D-841F7995F53E}" type="slidenum">
              <a:rPr lang="en-US">
                <a:ea typeface="ＭＳ Ｐゴシック" pitchFamily="-109" charset="-128"/>
                <a:cs typeface="ＭＳ Ｐゴシック" pitchFamily="-109" charset="-128"/>
              </a:rPr>
              <a:pPr/>
              <a:t>6</a:t>
            </a:fld>
            <a:endParaRPr lang="en-US">
              <a:ea typeface="ＭＳ Ｐゴシック" pitchFamily="-109" charset="-128"/>
              <a:cs typeface="ＭＳ Ｐゴシック" pitchFamily="-109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Programa Resumido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PT" dirty="0"/>
              <a:t>Avaliação do desempenho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/>
              <a:t>Hierarquia de Memória </a:t>
            </a:r>
          </a:p>
          <a:p>
            <a:pPr marL="514350" indent="-514350">
              <a:buAutoNum type="arabicPeriod"/>
            </a:pPr>
            <a:r>
              <a:rPr lang="pt-PT" dirty="0" err="1"/>
              <a:t>Pipelining</a:t>
            </a:r>
            <a:r>
              <a:rPr lang="pt-PT" dirty="0"/>
              <a:t> </a:t>
            </a:r>
            <a:endParaRPr lang="pt-PT"/>
          </a:p>
          <a:p>
            <a:pPr marL="514350" indent="-514350">
              <a:buAutoNum type="arabicPeriod"/>
            </a:pPr>
            <a:r>
              <a:rPr lang="pt-PT" dirty="0" err="1"/>
              <a:t>Super</a:t>
            </a:r>
            <a:r>
              <a:rPr lang="pt-PT" dirty="0"/>
              <a:t> </a:t>
            </a:r>
            <a:r>
              <a:rPr lang="pt-PT" dirty="0" err="1"/>
              <a:t>Escalaridade</a:t>
            </a:r>
            <a:endParaRPr lang="pt-PT" dirty="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pt-PT" dirty="0"/>
              <a:t>Processamento Vectorial</a:t>
            </a:r>
          </a:p>
          <a:p>
            <a:pPr marL="514350" indent="-514350">
              <a:buFont typeface="+mj-lt"/>
              <a:buAutoNum type="arabicPeriod"/>
            </a:pPr>
            <a:r>
              <a:rPr lang="pt-PT" dirty="0"/>
              <a:t>Paralelismo ao nível das </a:t>
            </a:r>
            <a:r>
              <a:rPr lang="pt-PT" i="1" dirty="0" err="1"/>
              <a:t>threads</a:t>
            </a:r>
            <a:endParaRPr lang="pt-PT" dirty="0"/>
          </a:p>
          <a:p>
            <a:pPr marL="514350" indent="-514350">
              <a:buFont typeface="+mj-lt"/>
              <a:buAutoNum type="arabicPeriod"/>
            </a:pPr>
            <a:r>
              <a:rPr lang="pt-PT" dirty="0" err="1"/>
              <a:t>Arquitecturas</a:t>
            </a:r>
            <a:r>
              <a:rPr lang="pt-PT" dirty="0"/>
              <a:t> Alternativas: processadores gráficos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15A9-BDBF-1541-9F88-F33CDF36F835}" type="slidenum">
              <a:rPr lang="pt-PT" smtClean="0"/>
              <a:pPr/>
              <a:t>7</a:t>
            </a:fld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Material de Apoio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814" y="1529219"/>
            <a:ext cx="7903935" cy="464904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ts val="2100"/>
              </a:lnSpc>
              <a:spcBef>
                <a:spcPts val="1500"/>
              </a:spcBef>
              <a:buNone/>
            </a:pPr>
            <a:r>
              <a:rPr lang="pt-PT" sz="1800" b="1" dirty="0">
                <a:ea typeface="ＭＳ Ｐゴシック" pitchFamily="-109" charset="-128"/>
                <a:cs typeface="ＭＳ Ｐゴシック" pitchFamily="-109" charset="-128"/>
              </a:rPr>
              <a:t>Página web: </a:t>
            </a: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plataforma de </a:t>
            </a:r>
            <a:r>
              <a:rPr lang="pt-PT" sz="1800" dirty="0" err="1">
                <a:ea typeface="ＭＳ Ｐゴシック" pitchFamily="-109" charset="-128"/>
                <a:cs typeface="ＭＳ Ｐゴシック" pitchFamily="-109" charset="-128"/>
              </a:rPr>
              <a:t>elearning</a:t>
            </a:r>
            <a:endParaRPr lang="en-US" sz="1800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lnSpc>
                <a:spcPts val="2100"/>
              </a:lnSpc>
              <a:spcBef>
                <a:spcPts val="1500"/>
              </a:spcBef>
              <a:buNone/>
            </a:pPr>
            <a:r>
              <a:rPr lang="en-US" sz="1800" b="1" dirty="0">
                <a:ea typeface="ＭＳ Ｐゴシック"/>
                <a:cs typeface="ＭＳ Ｐゴシック" pitchFamily="-109" charset="-128"/>
              </a:rPr>
              <a:t>Chave</a:t>
            </a:r>
            <a:r>
              <a:rPr lang="en-US" sz="1800" dirty="0">
                <a:ea typeface="ＭＳ Ｐゴシック"/>
                <a:cs typeface="ＭＳ Ｐゴシック" pitchFamily="-109" charset="-128"/>
              </a:rPr>
              <a:t> para </a:t>
            </a:r>
            <a:r>
              <a:rPr lang="en-US" sz="1800" dirty="0" err="1">
                <a:ea typeface="ＭＳ Ｐゴシック"/>
                <a:cs typeface="ＭＳ Ｐゴシック" pitchFamily="-109" charset="-128"/>
              </a:rPr>
              <a:t>registo</a:t>
            </a:r>
            <a:r>
              <a:rPr lang="en-US" sz="1800" dirty="0">
                <a:ea typeface="ＭＳ Ｐゴシック"/>
                <a:cs typeface="ＭＳ Ｐゴシック" pitchFamily="-109" charset="-128"/>
              </a:rPr>
              <a:t> </a:t>
            </a:r>
            <a:r>
              <a:rPr lang="en-US" sz="1800" dirty="0" err="1">
                <a:ea typeface="ＭＳ Ｐゴシック"/>
                <a:cs typeface="ＭＳ Ｐゴシック" pitchFamily="-109" charset="-128"/>
              </a:rPr>
              <a:t>provisório</a:t>
            </a:r>
            <a:r>
              <a:rPr lang="en-US" sz="1800" dirty="0">
                <a:ea typeface="ＭＳ Ｐゴシック"/>
                <a:cs typeface="ＭＳ Ｐゴシック" pitchFamily="-109" charset="-128"/>
              </a:rPr>
              <a:t> no </a:t>
            </a:r>
            <a:r>
              <a:rPr lang="en-US" sz="1800" dirty="0" err="1">
                <a:ea typeface="ＭＳ Ｐゴシック"/>
                <a:cs typeface="ＭＳ Ｐゴシック" pitchFamily="-109" charset="-128"/>
              </a:rPr>
              <a:t>elearning</a:t>
            </a:r>
            <a:r>
              <a:rPr lang="en-US" sz="1800" dirty="0">
                <a:ea typeface="ＭＳ Ｐゴシック"/>
                <a:cs typeface="ＭＳ Ｐゴシック" pitchFamily="-109" charset="-128"/>
              </a:rPr>
              <a:t>: </a:t>
            </a:r>
            <a:r>
              <a:rPr lang="en-US" sz="2400" b="1" dirty="0">
                <a:ea typeface="ＭＳ Ｐゴシック"/>
                <a:cs typeface="ＭＳ Ｐゴシック" pitchFamily="-109" charset="-128"/>
              </a:rPr>
              <a:t>ac2526</a:t>
            </a:r>
            <a:endParaRPr lang="pt-PT" sz="1800" b="1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lnSpc>
                <a:spcPts val="2100"/>
              </a:lnSpc>
              <a:spcBef>
                <a:spcPts val="1500"/>
              </a:spcBef>
              <a:buNone/>
            </a:pPr>
            <a:r>
              <a:rPr lang="pt-PT" sz="1800" b="1" dirty="0">
                <a:ea typeface="ＭＳ Ｐゴシック" pitchFamily="-109" charset="-128"/>
                <a:cs typeface="ＭＳ Ｐゴシック" pitchFamily="-109" charset="-128"/>
              </a:rPr>
              <a:t>Bibliografia:</a:t>
            </a:r>
            <a:endParaRPr lang="pt-PT" sz="1800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lnSpc>
                <a:spcPts val="2100"/>
              </a:lnSpc>
              <a:spcBef>
                <a:spcPts val="1500"/>
              </a:spcBef>
            </a:pP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“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Computer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Systems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: A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Programmer's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Perspective</a:t>
            </a: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”;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Randal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E.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Bryant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, David R.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O'Hallaron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;</a:t>
            </a:r>
            <a:b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2nd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Edition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; 2011    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http://csapp.cs.cmu.edu/2e/home.html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</a:t>
            </a:r>
          </a:p>
          <a:p>
            <a:pPr>
              <a:lnSpc>
                <a:spcPts val="2100"/>
              </a:lnSpc>
              <a:spcBef>
                <a:spcPts val="1500"/>
              </a:spcBef>
            </a:pP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“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Computer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Organization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and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Design</a:t>
            </a: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”</a:t>
            </a:r>
            <a:b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David Patterson, John </a:t>
            </a:r>
            <a:r>
              <a:rPr lang="pt-PT" altLang="ja-JP" sz="1800" dirty="0" err="1">
                <a:ea typeface="ＭＳ Ｐゴシック" pitchFamily="-109" charset="-128"/>
                <a:cs typeface="ＭＳ Ｐゴシック" pitchFamily="-109" charset="-128"/>
              </a:rPr>
              <a:t>Hennessy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;</a:t>
            </a:r>
            <a:b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Elsevier; ISBN 978-0-12-370606-5; 2013</a:t>
            </a:r>
            <a:b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</a:b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http://booksite.elsevier.com/9780123838728/</a:t>
            </a:r>
            <a:r>
              <a:rPr lang="pt-PT" altLang="ja-JP" sz="1800" dirty="0">
                <a:ea typeface="ＭＳ Ｐゴシック" pitchFamily="-109" charset="-128"/>
                <a:cs typeface="ＭＳ Ｐゴシック" pitchFamily="-109" charset="-128"/>
              </a:rPr>
              <a:t> </a:t>
            </a:r>
            <a:endParaRPr lang="pt-PT" sz="1800" b="1" dirty="0">
              <a:ea typeface="ＭＳ Ｐゴシック" pitchFamily="-109" charset="-128"/>
              <a:cs typeface="ＭＳ Ｐゴシック" pitchFamily="-109" charset="-128"/>
            </a:endParaRPr>
          </a:p>
          <a:p>
            <a:pPr>
              <a:lnSpc>
                <a:spcPts val="2100"/>
              </a:lnSpc>
              <a:spcBef>
                <a:spcPts val="1500"/>
              </a:spcBef>
              <a:buNone/>
            </a:pPr>
            <a:r>
              <a:rPr lang="pt-PT" sz="1800" b="1" dirty="0">
                <a:ea typeface="ＭＳ Ｐゴシック" pitchFamily="-109" charset="-128"/>
                <a:cs typeface="ＭＳ Ｐゴシック" pitchFamily="-109" charset="-128"/>
              </a:rPr>
              <a:t>Acetatos e Módulos PL: </a:t>
            </a:r>
            <a:r>
              <a:rPr lang="pt-PT" sz="1800" dirty="0">
                <a:ea typeface="ＭＳ Ｐゴシック" pitchFamily="-109" charset="-128"/>
                <a:cs typeface="ＭＳ Ｐゴシック" pitchFamily="-109" charset="-128"/>
              </a:rPr>
              <a:t>na página web</a:t>
            </a:r>
            <a:endParaRPr lang="en-US" sz="1800" dirty="0">
              <a:ea typeface="ＭＳ Ｐゴシック" pitchFamily="-109" charset="-128"/>
              <a:cs typeface="ＭＳ Ｐゴシック" pitchFamily="-109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15A9-BDBF-1541-9F88-F33CDF36F835}" type="slidenum">
              <a:rPr lang="pt-PT" smtClean="0"/>
              <a:pPr/>
              <a:t>8</a:t>
            </a:fld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3D916-92D6-944E-881B-0E39C028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Vox</a:t>
            </a:r>
            <a:r>
              <a:rPr lang="pt-PT" dirty="0"/>
              <a:t> Vote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BE09A5B-64F0-A34A-9512-026230B0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Vá para:</a:t>
            </a:r>
          </a:p>
          <a:p>
            <a:pPr marL="0" indent="0">
              <a:buNone/>
            </a:pPr>
            <a:r>
              <a:rPr lang="pt-PT" dirty="0"/>
              <a:t>	 </a:t>
            </a:r>
            <a:r>
              <a:rPr lang="pt-PT" dirty="0">
                <a:hlinkClick r:id="rId2"/>
              </a:rPr>
              <a:t>live.voxvote.com</a:t>
            </a:r>
            <a:r>
              <a:rPr lang="pt-PT" dirty="0"/>
              <a:t> </a:t>
            </a:r>
          </a:p>
          <a:p>
            <a:pPr marL="0" indent="0">
              <a:buNone/>
            </a:pPr>
            <a:endParaRPr lang="pt-PT" dirty="0"/>
          </a:p>
          <a:p>
            <a:r>
              <a:rPr lang="pt-PT" dirty="0"/>
              <a:t>Introduza o </a:t>
            </a:r>
            <a:r>
              <a:rPr lang="pt-PT" b="1" dirty="0"/>
              <a:t>PIN: 127845</a:t>
            </a:r>
            <a:endParaRPr lang="pt-PT" dirty="0"/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4128786-F722-294E-B025-4EAA834A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15A9-BDBF-1541-9F88-F33CDF36F835}" type="slidenum">
              <a:rPr lang="pt-PT" smtClean="0"/>
              <a:pPr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9191148"/>
      </p:ext>
    </p:extLst>
  </p:cSld>
  <p:clrMapOvr>
    <a:masterClrMapping/>
  </p:clrMapOvr>
</p:sld>
</file>

<file path=ppt/theme/theme1.xml><?xml version="1.0" encoding="utf-8"?>
<a:theme xmlns:a="http://schemas.openxmlformats.org/drawingml/2006/main" name="Modelo de apresentaçã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</TotalTime>
  <Words>525</Words>
  <Application>Microsoft Macintosh PowerPoint</Application>
  <PresentationFormat>Apresentação no Ecrã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Courier New</vt:lpstr>
      <vt:lpstr>Modelo de apresentação personalizado</vt:lpstr>
      <vt:lpstr>Tema do Office</vt:lpstr>
      <vt:lpstr>00 - Apresentação</vt:lpstr>
      <vt:lpstr>Equipa Docente</vt:lpstr>
      <vt:lpstr>Distribuição pelos turnos PL</vt:lpstr>
      <vt:lpstr>Sessões PL</vt:lpstr>
      <vt:lpstr>Sessões PL – recursos computacionais </vt:lpstr>
      <vt:lpstr>Metodologia de Avaliação</vt:lpstr>
      <vt:lpstr>Programa Resumido</vt:lpstr>
      <vt:lpstr>Material de Apoio</vt:lpstr>
      <vt:lpstr>Vox Vote</vt:lpstr>
    </vt:vector>
  </TitlesOfParts>
  <Company>Universidade do Minho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01 - Arquitectura Von Newmann</dc:title>
  <dc:creator>Luis Paulo Santos</dc:creator>
  <cp:lastModifiedBy>Luís Paulo Peixoto Santos</cp:lastModifiedBy>
  <cp:revision>96</cp:revision>
  <dcterms:created xsi:type="dcterms:W3CDTF">2015-09-14T13:10:22Z</dcterms:created>
  <dcterms:modified xsi:type="dcterms:W3CDTF">2025-09-14T20:55:27Z</dcterms:modified>
</cp:coreProperties>
</file>