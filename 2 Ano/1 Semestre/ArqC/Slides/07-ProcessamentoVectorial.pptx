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90" r:id="rId2"/>
    <p:sldId id="341" r:id="rId3"/>
    <p:sldId id="292" r:id="rId4"/>
    <p:sldId id="293" r:id="rId5"/>
    <p:sldId id="294" r:id="rId6"/>
    <p:sldId id="297" r:id="rId7"/>
    <p:sldId id="296" r:id="rId8"/>
    <p:sldId id="298" r:id="rId9"/>
    <p:sldId id="337" r:id="rId10"/>
    <p:sldId id="339" r:id="rId11"/>
    <p:sldId id="340" r:id="rId12"/>
    <p:sldId id="301" r:id="rId13"/>
    <p:sldId id="302" r:id="rId14"/>
    <p:sldId id="306" r:id="rId15"/>
    <p:sldId id="307" r:id="rId16"/>
    <p:sldId id="308" r:id="rId17"/>
    <p:sldId id="309" r:id="rId18"/>
    <p:sldId id="310" r:id="rId19"/>
    <p:sldId id="313" r:id="rId20"/>
    <p:sldId id="336" r:id="rId21"/>
    <p:sldId id="315" r:id="rId22"/>
    <p:sldId id="316" r:id="rId23"/>
    <p:sldId id="317" r:id="rId24"/>
    <p:sldId id="318" r:id="rId25"/>
    <p:sldId id="319" r:id="rId26"/>
    <p:sldId id="321" r:id="rId27"/>
    <p:sldId id="322" r:id="rId28"/>
    <p:sldId id="323" r:id="rId29"/>
    <p:sldId id="343" r:id="rId30"/>
    <p:sldId id="335" r:id="rId31"/>
    <p:sldId id="324" r:id="rId32"/>
    <p:sldId id="325" r:id="rId33"/>
    <p:sldId id="326" r:id="rId34"/>
    <p:sldId id="327" r:id="rId35"/>
    <p:sldId id="329" r:id="rId36"/>
    <p:sldId id="332" r:id="rId37"/>
    <p:sldId id="330" r:id="rId38"/>
    <p:sldId id="334" r:id="rId39"/>
    <p:sldId id="333" r:id="rId40"/>
    <p:sldId id="342" r:id="rId41"/>
    <p:sldId id="331" r:id="rId42"/>
  </p:sldIdLst>
  <p:sldSz cx="9144000" cy="6858000" type="screen4x3"/>
  <p:notesSz cx="7099300" cy="10223500"/>
  <p:defaultTextStyle>
    <a:defPPr>
      <a:defRPr lang="pt-PT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799779"/>
    <a:srgbClr val="0000FF"/>
    <a:srgbClr val="FFFF66"/>
    <a:srgbClr val="000000"/>
    <a:srgbClr val="00990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Estilo Claro 1 - Destaqu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Destaqu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Destaqu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em Estilo, Tabela com Grelh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Estilo E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0" autoAdjust="0"/>
    <p:restoredTop sz="94658"/>
  </p:normalViewPr>
  <p:slideViewPr>
    <p:cSldViewPr>
      <p:cViewPr varScale="1">
        <p:scale>
          <a:sx n="120" d="100"/>
          <a:sy n="120" d="100"/>
        </p:scale>
        <p:origin x="162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ís Paulo Peixoto Santos" userId="1bcb44e7-5d82-436c-b2eb-8036fed75eb8" providerId="ADAL" clId="{10CBD472-44B5-5CDB-B0A6-8736312077FE}"/>
    <pc:docChg chg="delSld">
      <pc:chgData name="Luís Paulo Peixoto Santos" userId="1bcb44e7-5d82-436c-b2eb-8036fed75eb8" providerId="ADAL" clId="{10CBD472-44B5-5CDB-B0A6-8736312077FE}" dt="2025-11-10T17:08:12.832" v="0" actId="2696"/>
      <pc:docMkLst>
        <pc:docMk/>
      </pc:docMkLst>
      <pc:sldChg chg="del">
        <pc:chgData name="Luís Paulo Peixoto Santos" userId="1bcb44e7-5d82-436c-b2eb-8036fed75eb8" providerId="ADAL" clId="{10CBD472-44B5-5CDB-B0A6-8736312077FE}" dt="2025-11-10T17:08:12.832" v="0" actId="2696"/>
        <pc:sldMkLst>
          <pc:docMk/>
          <pc:sldMk cId="0" sldId="29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D784C-1C97-6248-AC87-52442BD6A0A5}" type="datetimeFigureOut">
              <a:rPr lang="pt-PT" smtClean="0"/>
              <a:pPr/>
              <a:t>10/11/25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10738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10738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CD0BA5-60E0-3F4A-9D23-33438BF4D323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635719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69" tIns="49484" rIns="98969" bIns="49484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69" tIns="49484" rIns="98969" bIns="49484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8350"/>
            <a:ext cx="5108575" cy="38322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56163"/>
            <a:ext cx="5207000" cy="4598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69" tIns="49484" rIns="98969" bIns="4948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pt-PT"/>
              <a:t>Faça clique para editar os estilos de texto do modelo global</a:t>
            </a:r>
          </a:p>
          <a:p>
            <a:pPr lvl="1"/>
            <a:r>
              <a:rPr lang="pt-PT" altLang="pt-PT"/>
              <a:t>Segundo nível</a:t>
            </a:r>
          </a:p>
          <a:p>
            <a:pPr lvl="2"/>
            <a:r>
              <a:rPr lang="pt-PT" altLang="pt-PT"/>
              <a:t>Terceiro nível</a:t>
            </a:r>
          </a:p>
          <a:p>
            <a:pPr lvl="3"/>
            <a:r>
              <a:rPr lang="pt-PT" altLang="pt-PT"/>
              <a:t>Quarto nível</a:t>
            </a:r>
          </a:p>
          <a:p>
            <a:pPr lvl="4"/>
            <a:r>
              <a:rPr lang="pt-PT" altLang="pt-PT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2325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69" tIns="49484" rIns="98969" bIns="49484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12325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69" tIns="49484" rIns="98969" bIns="49484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Times New Roman" pitchFamily="-109" charset="0"/>
              </a:defRPr>
            </a:lvl1pPr>
          </a:lstStyle>
          <a:p>
            <a:fld id="{F23BD27D-1DB8-40D3-970C-F47930822EBD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34526636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PT"/>
              <a:t>Faça clique para editar o estilo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fld id="{97FF8ED5-D7AB-4824-B5A2-1212CA823E7F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1179322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pt-PT" altLang="pt-PT"/>
              <a:t>AC – Processamento Vectorial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4BC470-4EDA-489F-9F7C-6705FE1D702D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3486216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pt-PT" altLang="pt-PT"/>
              <a:t>AC – Processamento Vectorial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555B11-AFC6-4EE2-99F9-7A17F33C7D9A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051527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304800" y="1219200"/>
            <a:ext cx="4191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191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pt-PT" altLang="pt-PT"/>
              <a:t>AC – Processamento Vectorial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D66EFF-5454-4DD1-84CB-C3C34D8FF3AF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1500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pt-PT" altLang="pt-PT"/>
              <a:t>AC – Processamento Vectorial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2DF266-1E15-4CE1-9EA2-45F07BA43F80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964265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pt-PT" altLang="pt-PT"/>
              <a:t>AC – Processamento Vectorial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8209F2-CD37-4F03-9115-FDCB9B6699C4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677399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pt-PT" altLang="pt-PT"/>
              <a:t>AC – Processamento Vectorial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8142D9-A6F5-4FE3-85F3-A33BD087CB66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134845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pt-PT" altLang="pt-PT"/>
              <a:t>AC – Processamento Vectorial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654803-398E-440A-8FE0-9867EED50FB8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4070520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pt-PT" altLang="pt-PT"/>
              <a:t>AC – Processamento Vectorial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A2CC20-7C40-45C8-BE58-F46EC088C556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327244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pt-PT" altLang="pt-PT"/>
              <a:t>AC – Processamento Vectorial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F62ABC-4405-434B-974E-01C7EFBBD085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788692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05600" y="228600"/>
            <a:ext cx="2133600" cy="5867400"/>
          </a:xfrm>
        </p:spPr>
        <p:txBody>
          <a:bodyPr vert="eaVert"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304800" y="228600"/>
            <a:ext cx="6248400" cy="5867400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pt-PT" altLang="pt-PT"/>
              <a:t>AC – Processamento Vectorial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CA2980-2232-4684-A49B-E8A77528C5C6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1317156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838200"/>
          </a:xfrm>
        </p:spPr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a Tabela 2"/>
          <p:cNvSpPr>
            <a:spLocks noGrp="1"/>
          </p:cNvSpPr>
          <p:nvPr>
            <p:ph type="tbl" idx="1"/>
          </p:nvPr>
        </p:nvSpPr>
        <p:spPr>
          <a:xfrm>
            <a:off x="304800" y="1219200"/>
            <a:ext cx="85344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pt-PT" altLang="pt-PT"/>
              <a:t>AC – Processamento Vectorial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EEB0A8-1773-4792-9F85-E0D7CB36ED68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4121990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228600"/>
            <a:ext cx="8534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pt-PT"/>
              <a:t>Faça clique para editar o estilo do título do modelo global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19200"/>
            <a:ext cx="85344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pt-PT"/>
              <a:t>Faça clique para editar os estilos de texto do modelo global</a:t>
            </a:r>
          </a:p>
          <a:p>
            <a:pPr lvl="1"/>
            <a:r>
              <a:rPr lang="pt-PT" altLang="pt-PT"/>
              <a:t>Segundo nível</a:t>
            </a:r>
          </a:p>
          <a:p>
            <a:pPr lvl="2"/>
            <a:r>
              <a:rPr lang="pt-PT" altLang="pt-PT"/>
              <a:t>Terceiro nível</a:t>
            </a:r>
          </a:p>
          <a:p>
            <a:pPr lvl="3"/>
            <a:r>
              <a:rPr lang="pt-PT" altLang="pt-PT"/>
              <a:t>Quarto nível</a:t>
            </a:r>
          </a:p>
          <a:p>
            <a:pPr lvl="4"/>
            <a:r>
              <a:rPr lang="pt-PT" altLang="pt-PT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248400"/>
            <a:ext cx="640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09" charset="0"/>
              </a:defRPr>
            </a:lvl1pPr>
          </a:lstStyle>
          <a:p>
            <a:r>
              <a:rPr lang="pt-PT" altLang="pt-PT"/>
              <a:t>AC – Processamento Vectorial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248400"/>
            <a:ext cx="121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9" charset="0"/>
              </a:defRPr>
            </a:lvl1pPr>
          </a:lstStyle>
          <a:p>
            <a:fld id="{7ABDF759-1527-429E-B022-C6FAE1CE2AD6}" type="slidenum">
              <a:rPr lang="pt-PT" altLang="pt-PT"/>
              <a:pPr/>
              <a:t>‹nº›</a:t>
            </a:fld>
            <a:endParaRPr lang="pt-PT" alt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26" r:id="rId2"/>
    <p:sldLayoutId id="2147484027" r:id="rId3"/>
    <p:sldLayoutId id="2147484028" r:id="rId4"/>
    <p:sldLayoutId id="2147484029" r:id="rId5"/>
    <p:sldLayoutId id="2147484030" r:id="rId6"/>
    <p:sldLayoutId id="2147484031" r:id="rId7"/>
    <p:sldLayoutId id="2147484032" r:id="rId8"/>
    <p:sldLayoutId id="2147484033" r:id="rId9"/>
    <p:sldLayoutId id="2147484034" r:id="rId10"/>
    <p:sldLayoutId id="2147484035" r:id="rId11"/>
    <p:sldLayoutId id="2147484036" r:id="rId12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Calibri" pitchFamily="34" charset="0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Calibri" pitchFamily="3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Calibri" pitchFamily="3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Calibri" pitchFamily="3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Calibri" pitchFamily="3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Calibri" pitchFamily="34" charset="0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alibri" pitchFamily="34" charset="0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csapp.cs.cmu.edu/3e/waside/waside-simd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ware.intel.com/sites/landingpage/IntrinsicsGuide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odin-lang.org/docs/overview/#soa-data-types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pt-PT" altLang="pt-PT" i="1" dirty="0">
                <a:latin typeface="Calibri" pitchFamily="-109" charset="0"/>
                <a:ea typeface="ＭＳ Ｐゴシック" pitchFamily="-109" charset="-128"/>
              </a:rPr>
              <a:t>Processamento Vectorial</a:t>
            </a:r>
            <a:endParaRPr lang="pt-PT" altLang="pt-PT" dirty="0">
              <a:latin typeface="Calibri" pitchFamily="-109" charset="0"/>
              <a:ea typeface="ＭＳ Ｐゴシック" pitchFamily="-109" charset="-128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pt-PT" dirty="0" err="1">
                <a:latin typeface="Calibri" pitchFamily="-109" charset="0"/>
                <a:ea typeface="ＭＳ Ｐゴシック" pitchFamily="-109" charset="-128"/>
              </a:rPr>
              <a:t>Arquitetura</a:t>
            </a:r>
            <a:r>
              <a:rPr lang="en-US" altLang="pt-PT" dirty="0">
                <a:latin typeface="Calibri" pitchFamily="-109" charset="0"/>
                <a:ea typeface="ＭＳ Ｐゴシック" pitchFamily="-109" charset="-128"/>
              </a:rPr>
              <a:t> de </a:t>
            </a:r>
            <a:r>
              <a:rPr lang="en-US" altLang="pt-PT" dirty="0" err="1">
                <a:latin typeface="Calibri" pitchFamily="-109" charset="0"/>
                <a:ea typeface="ＭＳ Ｐゴシック" pitchFamily="-109" charset="-128"/>
              </a:rPr>
              <a:t>Computadores</a:t>
            </a:r>
            <a:endParaRPr lang="en-US" altLang="pt-PT" dirty="0">
              <a:latin typeface="Calibri" pitchFamily="-109" charset="0"/>
              <a:ea typeface="ＭＳ Ｐゴシック" pitchFamily="-109" charset="-128"/>
            </a:endParaRPr>
          </a:p>
          <a:p>
            <a:pPr eaLnBrk="1" hangingPunct="1"/>
            <a:r>
              <a:rPr lang="en-US" altLang="pt-PT" dirty="0" err="1">
                <a:latin typeface="Calibri" pitchFamily="-109" charset="0"/>
                <a:ea typeface="ＭＳ Ｐゴシック" pitchFamily="-109" charset="-128"/>
              </a:rPr>
              <a:t>Licenciatura</a:t>
            </a:r>
            <a:r>
              <a:rPr lang="en-US" altLang="pt-PT" dirty="0">
                <a:latin typeface="Calibri" pitchFamily="-109" charset="0"/>
                <a:ea typeface="ＭＳ Ｐゴシック" pitchFamily="-109" charset="-128"/>
              </a:rPr>
              <a:t> </a:t>
            </a:r>
            <a:r>
              <a:rPr lang="en-US" altLang="pt-PT" dirty="0" err="1">
                <a:latin typeface="Calibri" pitchFamily="-109" charset="0"/>
                <a:ea typeface="ＭＳ Ｐゴシック" pitchFamily="-109" charset="-128"/>
              </a:rPr>
              <a:t>em</a:t>
            </a:r>
            <a:r>
              <a:rPr lang="en-US" altLang="pt-PT" dirty="0">
                <a:latin typeface="Calibri" pitchFamily="-109" charset="0"/>
                <a:ea typeface="ＭＳ Ｐゴシック" pitchFamily="-109" charset="-128"/>
              </a:rPr>
              <a:t> </a:t>
            </a:r>
            <a:r>
              <a:rPr lang="en-US" altLang="pt-PT" dirty="0" err="1">
                <a:latin typeface="Calibri" pitchFamily="-109" charset="0"/>
                <a:ea typeface="ＭＳ Ｐゴシック" pitchFamily="-109" charset="-128"/>
              </a:rPr>
              <a:t>Engenharia</a:t>
            </a:r>
            <a:r>
              <a:rPr lang="en-US" altLang="pt-PT" dirty="0">
                <a:latin typeface="Calibri" pitchFamily="-109" charset="0"/>
                <a:ea typeface="ＭＳ Ｐゴシック" pitchFamily="-109" charset="-128"/>
              </a:rPr>
              <a:t> </a:t>
            </a:r>
            <a:r>
              <a:rPr lang="en-US" altLang="pt-PT" dirty="0" err="1">
                <a:latin typeface="Calibri" pitchFamily="-109" charset="0"/>
                <a:ea typeface="ＭＳ Ｐゴシック" pitchFamily="-109" charset="-128"/>
              </a:rPr>
              <a:t>Informática</a:t>
            </a:r>
            <a:endParaRPr lang="en-US" altLang="pt-PT" dirty="0">
              <a:latin typeface="Calibri" pitchFamily="-109" charset="0"/>
              <a:ea typeface="ＭＳ Ｐゴシック" pitchFamily="-109" charset="-128"/>
            </a:endParaRPr>
          </a:p>
          <a:p>
            <a:pPr eaLnBrk="1" hangingPunct="1"/>
            <a:r>
              <a:rPr lang="pt-PT" altLang="pt-PT" dirty="0">
                <a:latin typeface="Calibri" pitchFamily="-109" charset="0"/>
                <a:ea typeface="ＭＳ Ｐゴシック" pitchFamily="-109" charset="-128"/>
              </a:rPr>
              <a:t>Luís Paulo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Material de Apoio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pt-PT" sz="2000" dirty="0"/>
              <a:t>“</a:t>
            </a:r>
            <a:r>
              <a:rPr lang="pt-PT" sz="2000" i="1" dirty="0" err="1"/>
              <a:t>Computer</a:t>
            </a:r>
            <a:r>
              <a:rPr lang="pt-PT" sz="2000" i="1" dirty="0"/>
              <a:t> </a:t>
            </a:r>
            <a:r>
              <a:rPr lang="pt-PT" sz="2000" i="1" dirty="0" err="1"/>
              <a:t>Systems</a:t>
            </a:r>
            <a:r>
              <a:rPr lang="pt-PT" sz="2000" i="1" dirty="0"/>
              <a:t>: a </a:t>
            </a:r>
            <a:r>
              <a:rPr lang="pt-PT" sz="2000" i="1" dirty="0" err="1"/>
              <a:t>Programmer's</a:t>
            </a:r>
            <a:r>
              <a:rPr lang="pt-PT" sz="2000" i="1" dirty="0"/>
              <a:t> </a:t>
            </a:r>
            <a:r>
              <a:rPr lang="pt-PT" sz="2000" i="1" dirty="0" err="1"/>
              <a:t>Perspective</a:t>
            </a:r>
            <a:r>
              <a:rPr lang="pt-PT" sz="2000" dirty="0"/>
              <a:t>”; </a:t>
            </a:r>
            <a:r>
              <a:rPr lang="pt-PT" sz="2000" dirty="0" err="1"/>
              <a:t>Randal</a:t>
            </a:r>
            <a:r>
              <a:rPr lang="pt-PT" sz="2000" dirty="0"/>
              <a:t> E. </a:t>
            </a:r>
            <a:r>
              <a:rPr lang="pt-PT" sz="2000" dirty="0" err="1"/>
              <a:t>Bryant</a:t>
            </a:r>
            <a:r>
              <a:rPr lang="pt-PT" sz="2000" dirty="0"/>
              <a:t>, David R. </a:t>
            </a:r>
            <a:r>
              <a:rPr lang="pt-PT" sz="2000" dirty="0" err="1"/>
              <a:t>O'Hallaron</a:t>
            </a:r>
            <a:r>
              <a:rPr lang="pt-PT" sz="2000" dirty="0"/>
              <a:t>--</a:t>
            </a:r>
            <a:r>
              <a:rPr lang="pt-PT" sz="2000" dirty="0" err="1"/>
              <a:t>Pearson</a:t>
            </a:r>
            <a:r>
              <a:rPr lang="pt-PT" sz="2000" dirty="0"/>
              <a:t> (3rd ed., 2016)</a:t>
            </a:r>
            <a:br>
              <a:rPr lang="pt-PT" sz="2000" dirty="0"/>
            </a:br>
            <a:r>
              <a:rPr lang="pt-PT" sz="2000" dirty="0"/>
              <a:t>Web </a:t>
            </a:r>
            <a:r>
              <a:rPr lang="pt-PT" sz="2000" dirty="0" err="1"/>
              <a:t>aside</a:t>
            </a:r>
            <a:r>
              <a:rPr lang="pt-PT" sz="2000" dirty="0"/>
              <a:t>: </a:t>
            </a:r>
            <a:r>
              <a:rPr lang="pt-PT" sz="2000" dirty="0">
                <a:hlinkClick r:id="rId2"/>
              </a:rPr>
              <a:t>http://csapp.cs.cmu.edu/3e/waside/waside-simd.pdf</a:t>
            </a:r>
            <a:endParaRPr lang="pt-PT" sz="2000" dirty="0"/>
          </a:p>
          <a:p>
            <a:pPr>
              <a:defRPr/>
            </a:pPr>
            <a:endParaRPr lang="pt-PT" sz="2000" dirty="0"/>
          </a:p>
          <a:p>
            <a:pPr>
              <a:defRPr/>
            </a:pPr>
            <a:r>
              <a:rPr lang="pt-PT" sz="2000" dirty="0"/>
              <a:t>“</a:t>
            </a:r>
            <a:r>
              <a:rPr lang="en-US" sz="2000" i="1" dirty="0"/>
              <a:t>Computer Organization and Design: The Hardware / Software Interface</a:t>
            </a:r>
            <a:r>
              <a:rPr lang="en-US" sz="2000" dirty="0"/>
              <a:t>”</a:t>
            </a:r>
            <a:br>
              <a:rPr lang="en-US" sz="2000" dirty="0"/>
            </a:br>
            <a:r>
              <a:rPr lang="sv-SE" sz="2000" dirty="0"/>
              <a:t>David A. Patterson, John L. Hennessy; </a:t>
            </a:r>
            <a:r>
              <a:rPr lang="en-US" sz="2000" dirty="0"/>
              <a:t>5th Edition, 2013</a:t>
            </a:r>
          </a:p>
          <a:p>
            <a:pPr marL="685800" lvl="1">
              <a:defRPr/>
            </a:pPr>
            <a:r>
              <a:rPr lang="en-US" sz="1800" dirty="0" err="1"/>
              <a:t>Secções</a:t>
            </a:r>
            <a:r>
              <a:rPr lang="en-US" sz="1800" dirty="0"/>
              <a:t> 3.7 e 3.8 (</a:t>
            </a:r>
            <a:r>
              <a:rPr lang="en-US" sz="1800" dirty="0" err="1"/>
              <a:t>págs</a:t>
            </a:r>
            <a:r>
              <a:rPr lang="en-US" sz="1800" dirty="0"/>
              <a:t>. 224 a 228)</a:t>
            </a:r>
          </a:p>
          <a:p>
            <a:pPr marL="685800" lvl="1">
              <a:defRPr/>
            </a:pPr>
            <a:r>
              <a:rPr lang="en-US" sz="1800" dirty="0" err="1"/>
              <a:t>Secção</a:t>
            </a:r>
            <a:r>
              <a:rPr lang="en-US" sz="1800" dirty="0"/>
              <a:t> 6.3 (</a:t>
            </a:r>
            <a:r>
              <a:rPr lang="en-US" sz="1800" dirty="0" err="1"/>
              <a:t>págs</a:t>
            </a:r>
            <a:r>
              <a:rPr lang="en-US" sz="1800" dirty="0"/>
              <a:t>. 509 a 515) – SISD, MIMD, SIMD, SPMD and Vector</a:t>
            </a:r>
          </a:p>
          <a:p>
            <a:pPr marL="685800" lvl="1">
              <a:defRPr/>
            </a:pPr>
            <a:endParaRPr lang="en-US" sz="1800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2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821343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pt-PT" dirty="0" err="1">
                <a:latin typeface="Calibri" pitchFamily="-109" charset="0"/>
                <a:ea typeface="ＭＳ Ｐゴシック" pitchFamily="-109" charset="-128"/>
              </a:rPr>
              <a:t>Processamento</a:t>
            </a:r>
            <a:r>
              <a:rPr lang="en-US" altLang="pt-PT" dirty="0">
                <a:latin typeface="Calibri" pitchFamily="-109" charset="0"/>
                <a:ea typeface="ＭＳ Ｐゴシック" pitchFamily="-109" charset="-128"/>
              </a:rPr>
              <a:t> </a:t>
            </a:r>
            <a:r>
              <a:rPr lang="en-US" altLang="pt-PT" dirty="0" err="1">
                <a:latin typeface="Calibri" pitchFamily="-109" charset="0"/>
                <a:ea typeface="ＭＳ Ｐゴシック" pitchFamily="-109" charset="-128"/>
              </a:rPr>
              <a:t>Escalar</a:t>
            </a:r>
            <a:endParaRPr lang="en-US" altLang="pt-PT" dirty="0">
              <a:latin typeface="Calibri" pitchFamily="-109" charset="0"/>
              <a:ea typeface="ＭＳ Ｐゴシック" pitchFamily="-109" charset="-128"/>
            </a:endParaRPr>
          </a:p>
        </p:txBody>
      </p:sp>
      <p:sp>
        <p:nvSpPr>
          <p:cNvPr id="17414" name="Marcador de Posição de Conteúdo 2"/>
          <p:cNvSpPr>
            <a:spLocks noGrp="1"/>
          </p:cNvSpPr>
          <p:nvPr>
            <p:ph idx="1"/>
          </p:nvPr>
        </p:nvSpPr>
        <p:spPr>
          <a:xfrm>
            <a:off x="304800" y="1143001"/>
            <a:ext cx="8534400" cy="533400"/>
          </a:xfrm>
        </p:spPr>
        <p:txBody>
          <a:bodyPr/>
          <a:lstStyle/>
          <a:p>
            <a:pPr algn="ctr">
              <a:buNone/>
            </a:pPr>
            <a:r>
              <a:rPr lang="en-US" altLang="pt-PT" sz="2000" dirty="0" err="1">
                <a:latin typeface="Calibri" pitchFamily="-109" charset="0"/>
                <a:ea typeface="ＭＳ Ｐゴシック" pitchFamily="-109" charset="-128"/>
              </a:rPr>
              <a:t>Cada</a:t>
            </a:r>
            <a:r>
              <a:rPr lang="en-US" altLang="pt-PT" sz="2000" dirty="0">
                <a:latin typeface="Calibri" pitchFamily="-109" charset="0"/>
                <a:ea typeface="ＭＳ Ｐゴシック" pitchFamily="-109" charset="-128"/>
              </a:rPr>
              <a:t> </a:t>
            </a:r>
            <a:r>
              <a:rPr lang="en-US" altLang="pt-PT" sz="2000" dirty="0" err="1">
                <a:latin typeface="Calibri" pitchFamily="-109" charset="0"/>
                <a:ea typeface="ＭＳ Ｐゴシック" pitchFamily="-109" charset="-128"/>
              </a:rPr>
              <a:t>instrução</a:t>
            </a:r>
            <a:r>
              <a:rPr lang="en-US" altLang="pt-PT" sz="2000" dirty="0">
                <a:latin typeface="Calibri" pitchFamily="-109" charset="0"/>
                <a:ea typeface="ＭＳ Ｐゴシック" pitchFamily="-109" charset="-128"/>
              </a:rPr>
              <a:t> </a:t>
            </a:r>
            <a:r>
              <a:rPr lang="en-US" altLang="pt-PT" sz="2000" dirty="0" err="1">
                <a:latin typeface="Calibri" pitchFamily="-109" charset="0"/>
                <a:ea typeface="ＭＳ Ｐゴシック" pitchFamily="-109" charset="-128"/>
              </a:rPr>
              <a:t>processa</a:t>
            </a:r>
            <a:r>
              <a:rPr lang="en-US" altLang="pt-PT" sz="2000" dirty="0">
                <a:latin typeface="Calibri" pitchFamily="-109" charset="0"/>
                <a:ea typeface="ＭＳ Ｐゴシック" pitchFamily="-109" charset="-128"/>
              </a:rPr>
              <a:t> </a:t>
            </a:r>
            <a:r>
              <a:rPr lang="en-US" altLang="pt-PT" sz="2000" dirty="0" err="1">
                <a:latin typeface="Calibri" pitchFamily="-109" charset="0"/>
                <a:ea typeface="ＭＳ Ｐゴシック" pitchFamily="-109" charset="-128"/>
              </a:rPr>
              <a:t>apenas</a:t>
            </a:r>
            <a:r>
              <a:rPr lang="en-US" altLang="pt-PT" sz="2000" dirty="0">
                <a:latin typeface="Calibri" pitchFamily="-109" charset="0"/>
                <a:ea typeface="ＭＳ Ｐゴシック" pitchFamily="-109" charset="-128"/>
              </a:rPr>
              <a:t> </a:t>
            </a:r>
            <a:r>
              <a:rPr lang="en-US" altLang="pt-PT" sz="2000" b="1" dirty="0">
                <a:latin typeface="Calibri" pitchFamily="-109" charset="0"/>
                <a:ea typeface="ＭＳ Ｐゴシック" pitchFamily="-109" charset="-128"/>
              </a:rPr>
              <a:t>um </a:t>
            </a:r>
            <a:r>
              <a:rPr lang="en-US" altLang="pt-PT" sz="2000" dirty="0" err="1">
                <a:latin typeface="Calibri" pitchFamily="-109" charset="0"/>
                <a:ea typeface="ＭＳ Ｐゴシック" pitchFamily="-109" charset="-128"/>
              </a:rPr>
              <a:t>elemento</a:t>
            </a:r>
            <a:r>
              <a:rPr lang="en-US" altLang="pt-PT" sz="2000" dirty="0">
                <a:latin typeface="Calibri" pitchFamily="-109" charset="0"/>
                <a:ea typeface="ＭＳ Ｐゴシック" pitchFamily="-109" charset="-128"/>
              </a:rPr>
              <a:t> do </a:t>
            </a:r>
            <a:r>
              <a:rPr lang="en-US" altLang="pt-PT" sz="2000" dirty="0" err="1">
                <a:latin typeface="Calibri" pitchFamily="-109" charset="0"/>
                <a:ea typeface="ＭＳ Ｐゴシック" pitchFamily="-109" charset="-128"/>
              </a:rPr>
              <a:t>conjunto</a:t>
            </a:r>
            <a:r>
              <a:rPr lang="en-US" altLang="pt-PT" sz="2000" dirty="0">
                <a:latin typeface="Calibri" pitchFamily="-109" charset="0"/>
                <a:ea typeface="ＭＳ Ｐゴシック" pitchFamily="-109" charset="-128"/>
              </a:rPr>
              <a:t> de dados </a:t>
            </a:r>
          </a:p>
        </p:txBody>
      </p:sp>
      <p:sp>
        <p:nvSpPr>
          <p:cNvPr id="17415" name="Marcador de Posição da Data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9pPr>
          </a:lstStyle>
          <a:p>
            <a:pPr eaLnBrk="1" hangingPunct="1"/>
            <a:r>
              <a:rPr lang="pt-PT" altLang="pt-PT" sz="1200">
                <a:latin typeface="Calibri" pitchFamily="-109" charset="0"/>
              </a:rPr>
              <a:t>AC – Processamento Vectorial</a:t>
            </a:r>
          </a:p>
        </p:txBody>
      </p:sp>
      <p:sp>
        <p:nvSpPr>
          <p:cNvPr id="17416" name="Marcador de Posição do Número do Diapositivo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9pPr>
          </a:lstStyle>
          <a:p>
            <a:pPr eaLnBrk="1" hangingPunct="1"/>
            <a:fld id="{72B12A03-2C03-4B8A-AA8F-B40C865C323B}" type="slidenum">
              <a:rPr lang="pt-PT" altLang="pt-PT" sz="1200">
                <a:latin typeface="Calibri" pitchFamily="-109" charset="0"/>
              </a:rPr>
              <a:pPr eaLnBrk="1" hangingPunct="1"/>
              <a:t>3</a:t>
            </a:fld>
            <a:endParaRPr lang="pt-PT" altLang="pt-PT" sz="1200">
              <a:latin typeface="Calibri" pitchFamily="-109" charset="0"/>
            </a:endParaRPr>
          </a:p>
        </p:txBody>
      </p:sp>
      <p:cxnSp>
        <p:nvCxnSpPr>
          <p:cNvPr id="17417" name="Conexão recta 26"/>
          <p:cNvCxnSpPr>
            <a:cxnSpLocks noChangeShapeType="1"/>
          </p:cNvCxnSpPr>
          <p:nvPr/>
        </p:nvCxnSpPr>
        <p:spPr bwMode="auto">
          <a:xfrm>
            <a:off x="-1285875" y="500063"/>
            <a:ext cx="914400" cy="914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sp>
        <p:nvSpPr>
          <p:cNvPr id="34" name="TextBox 33"/>
          <p:cNvSpPr txBox="1"/>
          <p:nvPr/>
        </p:nvSpPr>
        <p:spPr>
          <a:xfrm>
            <a:off x="381000" y="1981200"/>
            <a:ext cx="4044697" cy="9233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pt-PT" sz="1800" b="1" dirty="0">
                <a:latin typeface="Courier New"/>
                <a:cs typeface="Courier New"/>
              </a:rPr>
              <a:t>for (i=0 ; i &lt; SIZE ; i++) {</a:t>
            </a:r>
          </a:p>
          <a:p>
            <a:r>
              <a:rPr lang="pt-PT" sz="1800" b="1" dirty="0">
                <a:latin typeface="Courier New"/>
                <a:cs typeface="Courier New"/>
              </a:rPr>
              <a:t>  </a:t>
            </a:r>
            <a:r>
              <a:rPr lang="pt-PT" sz="1800" b="1" dirty="0" err="1">
                <a:latin typeface="Courier New"/>
                <a:cs typeface="Courier New"/>
              </a:rPr>
              <a:t>c[i</a:t>
            </a:r>
            <a:r>
              <a:rPr lang="pt-PT" sz="1800" b="1" dirty="0">
                <a:latin typeface="Courier New"/>
                <a:cs typeface="Courier New"/>
              </a:rPr>
              <a:t>] = </a:t>
            </a:r>
            <a:r>
              <a:rPr lang="pt-PT" sz="1800" b="1" dirty="0" err="1">
                <a:latin typeface="Courier New"/>
                <a:cs typeface="Courier New"/>
              </a:rPr>
              <a:t>a[i</a:t>
            </a:r>
            <a:r>
              <a:rPr lang="pt-PT" sz="1800" b="1" dirty="0">
                <a:latin typeface="Courier New"/>
                <a:cs typeface="Courier New"/>
              </a:rPr>
              <a:t>] + </a:t>
            </a:r>
            <a:r>
              <a:rPr lang="pt-PT" sz="1800" b="1" dirty="0" err="1">
                <a:latin typeface="Courier New"/>
                <a:cs typeface="Courier New"/>
              </a:rPr>
              <a:t>b[i</a:t>
            </a:r>
            <a:r>
              <a:rPr lang="pt-PT" sz="1800" b="1" dirty="0">
                <a:latin typeface="Courier New"/>
                <a:cs typeface="Courier New"/>
              </a:rPr>
              <a:t>];</a:t>
            </a:r>
          </a:p>
          <a:p>
            <a:r>
              <a:rPr lang="pt-PT" sz="1800" b="1" dirty="0">
                <a:latin typeface="Courier New"/>
                <a:cs typeface="Courier New"/>
              </a:rPr>
              <a:t>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1000" y="3276600"/>
            <a:ext cx="4063282" cy="230832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pt-PT" sz="1800" b="1" dirty="0" err="1">
                <a:latin typeface="Courier New"/>
                <a:cs typeface="Courier New"/>
              </a:rPr>
              <a:t>loop</a:t>
            </a:r>
            <a:r>
              <a:rPr lang="pt-PT" sz="1800" b="1" dirty="0">
                <a:latin typeface="Courier New"/>
                <a:cs typeface="Courier New"/>
              </a:rPr>
              <a:t>:</a:t>
            </a:r>
          </a:p>
          <a:p>
            <a:r>
              <a:rPr lang="pt-PT" sz="1800" b="1" dirty="0">
                <a:latin typeface="Courier New"/>
                <a:cs typeface="Courier New"/>
              </a:rPr>
              <a:t>  </a:t>
            </a:r>
            <a:r>
              <a:rPr lang="pt-PT" sz="1800" b="1" dirty="0" err="1">
                <a:latin typeface="Courier New"/>
                <a:cs typeface="Courier New"/>
              </a:rPr>
              <a:t>movl</a:t>
            </a:r>
            <a:r>
              <a:rPr lang="pt-PT" sz="1800" b="1" dirty="0">
                <a:latin typeface="Courier New"/>
                <a:cs typeface="Courier New"/>
              </a:rPr>
              <a:t> (%</a:t>
            </a:r>
            <a:r>
              <a:rPr lang="pt-PT" sz="1800" b="1" dirty="0" err="1">
                <a:latin typeface="Courier New"/>
                <a:cs typeface="Courier New"/>
              </a:rPr>
              <a:t>esi</a:t>
            </a:r>
            <a:r>
              <a:rPr lang="pt-PT" sz="1800" b="1" dirty="0">
                <a:latin typeface="Courier New"/>
                <a:cs typeface="Courier New"/>
              </a:rPr>
              <a:t>, %</a:t>
            </a:r>
            <a:r>
              <a:rPr lang="pt-PT" sz="1800" b="1" dirty="0" err="1">
                <a:latin typeface="Courier New"/>
                <a:cs typeface="Courier New"/>
              </a:rPr>
              <a:t>ecx</a:t>
            </a:r>
            <a:r>
              <a:rPr lang="pt-PT" sz="1800" b="1" dirty="0">
                <a:latin typeface="Courier New"/>
                <a:cs typeface="Courier New"/>
              </a:rPr>
              <a:t>, 4), %</a:t>
            </a:r>
            <a:r>
              <a:rPr lang="pt-PT" sz="1800" b="1" dirty="0" err="1">
                <a:latin typeface="Courier New"/>
                <a:cs typeface="Courier New"/>
              </a:rPr>
              <a:t>eax</a:t>
            </a:r>
            <a:endParaRPr lang="pt-PT" sz="1800" b="1" dirty="0">
              <a:latin typeface="Courier New"/>
              <a:cs typeface="Courier New"/>
            </a:endParaRPr>
          </a:p>
          <a:p>
            <a:r>
              <a:rPr lang="pt-PT" sz="1800" b="1" dirty="0">
                <a:latin typeface="Courier New"/>
                <a:cs typeface="Courier New"/>
              </a:rPr>
              <a:t>  </a:t>
            </a:r>
            <a:r>
              <a:rPr lang="pt-PT" sz="1800" b="1" dirty="0" err="1">
                <a:latin typeface="Courier New"/>
                <a:cs typeface="Courier New"/>
              </a:rPr>
              <a:t>movl</a:t>
            </a:r>
            <a:r>
              <a:rPr lang="pt-PT" sz="1800" b="1" dirty="0">
                <a:latin typeface="Courier New"/>
                <a:cs typeface="Courier New"/>
              </a:rPr>
              <a:t> (%</a:t>
            </a:r>
            <a:r>
              <a:rPr lang="pt-PT" sz="1800" b="1" dirty="0" err="1">
                <a:latin typeface="Courier New"/>
                <a:cs typeface="Courier New"/>
              </a:rPr>
              <a:t>edi</a:t>
            </a:r>
            <a:r>
              <a:rPr lang="pt-PT" sz="1800" b="1" dirty="0">
                <a:latin typeface="Courier New"/>
                <a:cs typeface="Courier New"/>
              </a:rPr>
              <a:t>, %</a:t>
            </a:r>
            <a:r>
              <a:rPr lang="pt-PT" sz="1800" b="1" dirty="0" err="1">
                <a:latin typeface="Courier New"/>
                <a:cs typeface="Courier New"/>
              </a:rPr>
              <a:t>ecx</a:t>
            </a:r>
            <a:r>
              <a:rPr lang="pt-PT" sz="1800" b="1" dirty="0">
                <a:latin typeface="Courier New"/>
                <a:cs typeface="Courier New"/>
              </a:rPr>
              <a:t>, 4), %</a:t>
            </a:r>
            <a:r>
              <a:rPr lang="pt-PT" sz="1800" b="1" dirty="0" err="1">
                <a:latin typeface="Courier New"/>
                <a:cs typeface="Courier New"/>
              </a:rPr>
              <a:t>edx</a:t>
            </a:r>
            <a:endParaRPr lang="pt-PT" sz="1800" b="1" dirty="0">
              <a:latin typeface="Courier New"/>
              <a:cs typeface="Courier New"/>
            </a:endParaRPr>
          </a:p>
          <a:p>
            <a:r>
              <a:rPr lang="pt-PT" sz="1800" b="1" dirty="0">
                <a:latin typeface="Courier New"/>
                <a:cs typeface="Courier New"/>
              </a:rPr>
              <a:t>  </a:t>
            </a:r>
            <a:r>
              <a:rPr lang="pt-PT" sz="1800" b="1" dirty="0" err="1">
                <a:latin typeface="Courier New"/>
                <a:cs typeface="Courier New"/>
              </a:rPr>
              <a:t>addl</a:t>
            </a:r>
            <a:r>
              <a:rPr lang="pt-PT" sz="1800" b="1" dirty="0">
                <a:latin typeface="Courier New"/>
                <a:cs typeface="Courier New"/>
              </a:rPr>
              <a:t> %</a:t>
            </a:r>
            <a:r>
              <a:rPr lang="pt-PT" sz="1800" b="1" dirty="0" err="1">
                <a:latin typeface="Courier New"/>
                <a:cs typeface="Courier New"/>
              </a:rPr>
              <a:t>eax</a:t>
            </a:r>
            <a:r>
              <a:rPr lang="pt-PT" sz="1800" b="1" dirty="0">
                <a:latin typeface="Courier New"/>
                <a:cs typeface="Courier New"/>
              </a:rPr>
              <a:t>, %</a:t>
            </a:r>
            <a:r>
              <a:rPr lang="pt-PT" sz="1800" b="1" dirty="0" err="1">
                <a:latin typeface="Courier New"/>
                <a:cs typeface="Courier New"/>
              </a:rPr>
              <a:t>edx</a:t>
            </a:r>
            <a:endParaRPr lang="pt-PT" sz="1800" b="1" dirty="0">
              <a:latin typeface="Courier New"/>
              <a:cs typeface="Courier New"/>
            </a:endParaRPr>
          </a:p>
          <a:p>
            <a:r>
              <a:rPr lang="pt-PT" sz="1800" b="1" dirty="0">
                <a:latin typeface="Courier New"/>
                <a:cs typeface="Courier New"/>
              </a:rPr>
              <a:t>  </a:t>
            </a:r>
            <a:r>
              <a:rPr lang="pt-PT" sz="1800" b="1" dirty="0" err="1">
                <a:latin typeface="Courier New"/>
                <a:cs typeface="Courier New"/>
              </a:rPr>
              <a:t>movl</a:t>
            </a:r>
            <a:r>
              <a:rPr lang="pt-PT" sz="1800" b="1" dirty="0">
                <a:latin typeface="Courier New"/>
                <a:cs typeface="Courier New"/>
              </a:rPr>
              <a:t> %</a:t>
            </a:r>
            <a:r>
              <a:rPr lang="pt-PT" sz="1800" b="1" dirty="0" err="1">
                <a:latin typeface="Courier New"/>
                <a:cs typeface="Courier New"/>
              </a:rPr>
              <a:t>edx</a:t>
            </a:r>
            <a:r>
              <a:rPr lang="pt-PT" sz="1800" b="1" dirty="0">
                <a:latin typeface="Courier New"/>
                <a:cs typeface="Courier New"/>
              </a:rPr>
              <a:t>, (%</a:t>
            </a:r>
            <a:r>
              <a:rPr lang="pt-PT" sz="1800" b="1" dirty="0" err="1">
                <a:latin typeface="Courier New"/>
                <a:cs typeface="Courier New"/>
              </a:rPr>
              <a:t>ebx</a:t>
            </a:r>
            <a:r>
              <a:rPr lang="pt-PT" sz="1800" b="1" dirty="0">
                <a:latin typeface="Courier New"/>
                <a:cs typeface="Courier New"/>
              </a:rPr>
              <a:t>, %</a:t>
            </a:r>
            <a:r>
              <a:rPr lang="pt-PT" sz="1800" b="1" dirty="0" err="1">
                <a:latin typeface="Courier New"/>
                <a:cs typeface="Courier New"/>
              </a:rPr>
              <a:t>ecx</a:t>
            </a:r>
            <a:r>
              <a:rPr lang="pt-PT" sz="1800" b="1" dirty="0">
                <a:latin typeface="Courier New"/>
                <a:cs typeface="Courier New"/>
              </a:rPr>
              <a:t>, 4)</a:t>
            </a:r>
          </a:p>
          <a:p>
            <a:r>
              <a:rPr lang="pt-PT" sz="1800" b="1" dirty="0">
                <a:latin typeface="Courier New"/>
                <a:cs typeface="Courier New"/>
              </a:rPr>
              <a:t>  </a:t>
            </a:r>
            <a:r>
              <a:rPr lang="pt-PT" sz="1800" b="1" dirty="0" err="1">
                <a:latin typeface="Courier New"/>
                <a:cs typeface="Courier New"/>
              </a:rPr>
              <a:t>incl</a:t>
            </a:r>
            <a:r>
              <a:rPr lang="pt-PT" sz="1800" b="1" dirty="0">
                <a:latin typeface="Courier New"/>
                <a:cs typeface="Courier New"/>
              </a:rPr>
              <a:t> %</a:t>
            </a:r>
            <a:r>
              <a:rPr lang="pt-PT" sz="1800" b="1" dirty="0" err="1">
                <a:latin typeface="Courier New"/>
                <a:cs typeface="Courier New"/>
              </a:rPr>
              <a:t>ecx</a:t>
            </a:r>
            <a:endParaRPr lang="pt-PT" sz="1800" b="1" dirty="0">
              <a:latin typeface="Courier New"/>
              <a:cs typeface="Courier New"/>
            </a:endParaRPr>
          </a:p>
          <a:p>
            <a:r>
              <a:rPr lang="pt-PT" sz="1800" b="1" dirty="0">
                <a:latin typeface="Courier New"/>
                <a:cs typeface="Courier New"/>
              </a:rPr>
              <a:t>  </a:t>
            </a:r>
            <a:r>
              <a:rPr lang="pt-PT" sz="1800" b="1" dirty="0" err="1">
                <a:latin typeface="Courier New"/>
                <a:cs typeface="Courier New"/>
              </a:rPr>
              <a:t>cmpl</a:t>
            </a:r>
            <a:r>
              <a:rPr lang="pt-PT" sz="1800" b="1">
                <a:latin typeface="Courier New"/>
                <a:cs typeface="Courier New"/>
              </a:rPr>
              <a:t> SIZE, </a:t>
            </a:r>
            <a:r>
              <a:rPr lang="pt-PT" sz="1800" b="1" dirty="0">
                <a:latin typeface="Courier New"/>
                <a:cs typeface="Courier New"/>
              </a:rPr>
              <a:t>%</a:t>
            </a:r>
            <a:r>
              <a:rPr lang="pt-PT" sz="1800" b="1" dirty="0" err="1">
                <a:latin typeface="Courier New"/>
                <a:cs typeface="Courier New"/>
              </a:rPr>
              <a:t>ecx</a:t>
            </a:r>
            <a:endParaRPr lang="pt-PT" sz="1800" b="1" dirty="0">
              <a:latin typeface="Courier New"/>
              <a:cs typeface="Courier New"/>
            </a:endParaRPr>
          </a:p>
          <a:p>
            <a:r>
              <a:rPr lang="pt-PT" sz="1800" b="1" dirty="0">
                <a:latin typeface="Courier New"/>
                <a:cs typeface="Courier New"/>
              </a:rPr>
              <a:t>  </a:t>
            </a:r>
            <a:r>
              <a:rPr lang="pt-PT" sz="1800" b="1" dirty="0" err="1">
                <a:latin typeface="Courier New"/>
                <a:cs typeface="Courier New"/>
              </a:rPr>
              <a:t>jl</a:t>
            </a:r>
            <a:r>
              <a:rPr lang="pt-PT" sz="1800" b="1" dirty="0">
                <a:latin typeface="Courier New"/>
                <a:cs typeface="Courier New"/>
              </a:rPr>
              <a:t> </a:t>
            </a:r>
            <a:r>
              <a:rPr lang="pt-PT" sz="1800" b="1" dirty="0" err="1">
                <a:latin typeface="Courier New"/>
                <a:cs typeface="Courier New"/>
              </a:rPr>
              <a:t>loop</a:t>
            </a:r>
            <a:endParaRPr lang="pt-PT" sz="1800" b="1" dirty="0">
              <a:latin typeface="Courier New"/>
              <a:cs typeface="Courier New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105400" y="2895600"/>
            <a:ext cx="609600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b="1" dirty="0"/>
              <a:t>r1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05400" y="3638490"/>
            <a:ext cx="609600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b="1" dirty="0"/>
              <a:t>r2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5400" y="4495800"/>
            <a:ext cx="609600" cy="400110"/>
          </a:xfrm>
          <a:prstGeom prst="rect">
            <a:avLst/>
          </a:prstGeom>
          <a:solidFill>
            <a:srgbClr val="79977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b="1" dirty="0" err="1"/>
              <a:t>Op</a:t>
            </a:r>
            <a:endParaRPr lang="pt-PT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5105400" y="5334000"/>
            <a:ext cx="609600" cy="4001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b="1" dirty="0"/>
              <a:t>r3</a:t>
            </a:r>
          </a:p>
        </p:txBody>
      </p:sp>
      <p:cxnSp>
        <p:nvCxnSpPr>
          <p:cNvPr id="45" name="Straight Connector 44"/>
          <p:cNvCxnSpPr/>
          <p:nvPr/>
        </p:nvCxnSpPr>
        <p:spPr bwMode="auto">
          <a:xfrm rot="16200000" flipH="1">
            <a:off x="5219700" y="4076700"/>
            <a:ext cx="4191000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46" name="Straight Connector 45"/>
          <p:cNvCxnSpPr/>
          <p:nvPr/>
        </p:nvCxnSpPr>
        <p:spPr bwMode="auto">
          <a:xfrm rot="16200000" flipH="1">
            <a:off x="6210300" y="4076700"/>
            <a:ext cx="4191000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47" name="Straight Connector 46"/>
          <p:cNvCxnSpPr/>
          <p:nvPr/>
        </p:nvCxnSpPr>
        <p:spPr bwMode="auto">
          <a:xfrm>
            <a:off x="7315200" y="21336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50" name="Straight Connector 49"/>
          <p:cNvCxnSpPr/>
          <p:nvPr/>
        </p:nvCxnSpPr>
        <p:spPr bwMode="auto">
          <a:xfrm>
            <a:off x="7315200" y="22860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51" name="Straight Connector 50"/>
          <p:cNvCxnSpPr/>
          <p:nvPr/>
        </p:nvCxnSpPr>
        <p:spPr bwMode="auto">
          <a:xfrm>
            <a:off x="7315200" y="24384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52" name="Straight Connector 51"/>
          <p:cNvCxnSpPr/>
          <p:nvPr/>
        </p:nvCxnSpPr>
        <p:spPr bwMode="auto">
          <a:xfrm>
            <a:off x="7315200" y="25908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53" name="Straight Connector 52"/>
          <p:cNvCxnSpPr/>
          <p:nvPr/>
        </p:nvCxnSpPr>
        <p:spPr bwMode="auto">
          <a:xfrm>
            <a:off x="7315200" y="27432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54" name="Straight Connector 53"/>
          <p:cNvCxnSpPr/>
          <p:nvPr/>
        </p:nvCxnSpPr>
        <p:spPr bwMode="auto">
          <a:xfrm>
            <a:off x="7315200" y="28956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55" name="Straight Connector 54"/>
          <p:cNvCxnSpPr/>
          <p:nvPr/>
        </p:nvCxnSpPr>
        <p:spPr bwMode="auto">
          <a:xfrm>
            <a:off x="7315200" y="30480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56" name="Straight Connector 55"/>
          <p:cNvCxnSpPr/>
          <p:nvPr/>
        </p:nvCxnSpPr>
        <p:spPr bwMode="auto">
          <a:xfrm>
            <a:off x="7315200" y="32004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57" name="Straight Connector 56"/>
          <p:cNvCxnSpPr/>
          <p:nvPr/>
        </p:nvCxnSpPr>
        <p:spPr bwMode="auto">
          <a:xfrm>
            <a:off x="7315200" y="33528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58" name="Straight Connector 57"/>
          <p:cNvCxnSpPr/>
          <p:nvPr/>
        </p:nvCxnSpPr>
        <p:spPr bwMode="auto">
          <a:xfrm>
            <a:off x="7315200" y="35052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59" name="Straight Connector 58"/>
          <p:cNvCxnSpPr/>
          <p:nvPr/>
        </p:nvCxnSpPr>
        <p:spPr bwMode="auto">
          <a:xfrm>
            <a:off x="7315200" y="36576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60" name="Straight Connector 59"/>
          <p:cNvCxnSpPr/>
          <p:nvPr/>
        </p:nvCxnSpPr>
        <p:spPr bwMode="auto">
          <a:xfrm>
            <a:off x="7315200" y="38100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61" name="Straight Connector 60"/>
          <p:cNvCxnSpPr/>
          <p:nvPr/>
        </p:nvCxnSpPr>
        <p:spPr bwMode="auto">
          <a:xfrm>
            <a:off x="7315200" y="39624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62" name="Straight Connector 61"/>
          <p:cNvCxnSpPr/>
          <p:nvPr/>
        </p:nvCxnSpPr>
        <p:spPr bwMode="auto">
          <a:xfrm>
            <a:off x="7315200" y="41148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63" name="Straight Connector 62"/>
          <p:cNvCxnSpPr/>
          <p:nvPr/>
        </p:nvCxnSpPr>
        <p:spPr bwMode="auto">
          <a:xfrm>
            <a:off x="7315200" y="42672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64" name="Straight Connector 63"/>
          <p:cNvCxnSpPr/>
          <p:nvPr/>
        </p:nvCxnSpPr>
        <p:spPr bwMode="auto">
          <a:xfrm>
            <a:off x="7315200" y="44196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65" name="Straight Connector 64"/>
          <p:cNvCxnSpPr/>
          <p:nvPr/>
        </p:nvCxnSpPr>
        <p:spPr bwMode="auto">
          <a:xfrm>
            <a:off x="7315200" y="45720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66" name="Straight Connector 65"/>
          <p:cNvCxnSpPr/>
          <p:nvPr/>
        </p:nvCxnSpPr>
        <p:spPr bwMode="auto">
          <a:xfrm>
            <a:off x="7315200" y="47244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67" name="Straight Connector 66"/>
          <p:cNvCxnSpPr/>
          <p:nvPr/>
        </p:nvCxnSpPr>
        <p:spPr bwMode="auto">
          <a:xfrm>
            <a:off x="7315200" y="48768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68" name="Straight Connector 67"/>
          <p:cNvCxnSpPr/>
          <p:nvPr/>
        </p:nvCxnSpPr>
        <p:spPr bwMode="auto">
          <a:xfrm>
            <a:off x="7315200" y="50292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69" name="Straight Connector 68"/>
          <p:cNvCxnSpPr/>
          <p:nvPr/>
        </p:nvCxnSpPr>
        <p:spPr bwMode="auto">
          <a:xfrm>
            <a:off x="7315200" y="51816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0" name="Straight Connector 69"/>
          <p:cNvCxnSpPr/>
          <p:nvPr/>
        </p:nvCxnSpPr>
        <p:spPr bwMode="auto">
          <a:xfrm>
            <a:off x="7315200" y="53340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1" name="Straight Connector 70"/>
          <p:cNvCxnSpPr/>
          <p:nvPr/>
        </p:nvCxnSpPr>
        <p:spPr bwMode="auto">
          <a:xfrm>
            <a:off x="7315200" y="54864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2" name="Straight Connector 71"/>
          <p:cNvCxnSpPr/>
          <p:nvPr/>
        </p:nvCxnSpPr>
        <p:spPr bwMode="auto">
          <a:xfrm>
            <a:off x="7315200" y="56388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3" name="Straight Connector 72"/>
          <p:cNvCxnSpPr/>
          <p:nvPr/>
        </p:nvCxnSpPr>
        <p:spPr bwMode="auto">
          <a:xfrm>
            <a:off x="7315200" y="57912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4" name="Straight Connector 73"/>
          <p:cNvCxnSpPr/>
          <p:nvPr/>
        </p:nvCxnSpPr>
        <p:spPr bwMode="auto">
          <a:xfrm>
            <a:off x="7315200" y="59436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6" name="Shape 75"/>
          <p:cNvCxnSpPr>
            <a:endCxn id="39" idx="0"/>
          </p:cNvCxnSpPr>
          <p:nvPr/>
        </p:nvCxnSpPr>
        <p:spPr bwMode="auto">
          <a:xfrm rot="10800000" flipV="1">
            <a:off x="5410200" y="2209800"/>
            <a:ext cx="1905000" cy="685800"/>
          </a:xfrm>
          <a:prstGeom prst="bentConnector2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8" name="Shape 77"/>
          <p:cNvCxnSpPr>
            <a:endCxn id="40" idx="0"/>
          </p:cNvCxnSpPr>
          <p:nvPr/>
        </p:nvCxnSpPr>
        <p:spPr bwMode="auto">
          <a:xfrm rot="10800000" flipV="1">
            <a:off x="5410200" y="3429000"/>
            <a:ext cx="1905000" cy="209490"/>
          </a:xfrm>
          <a:prstGeom prst="bentConnector2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1" name="Shape 80"/>
          <p:cNvCxnSpPr>
            <a:stCxn id="43" idx="2"/>
          </p:cNvCxnSpPr>
          <p:nvPr/>
        </p:nvCxnSpPr>
        <p:spPr bwMode="auto">
          <a:xfrm rot="5400000" flipH="1" flipV="1">
            <a:off x="6048345" y="4467255"/>
            <a:ext cx="628710" cy="1905000"/>
          </a:xfrm>
          <a:prstGeom prst="bentConnector4">
            <a:avLst>
              <a:gd name="adj1" fmla="val -36360"/>
              <a:gd name="adj2" fmla="val 58000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3" name="Elbow Connector 82"/>
          <p:cNvCxnSpPr>
            <a:stCxn id="39" idx="1"/>
            <a:endCxn id="42" idx="1"/>
          </p:cNvCxnSpPr>
          <p:nvPr/>
        </p:nvCxnSpPr>
        <p:spPr bwMode="auto">
          <a:xfrm rot="10800000" flipV="1">
            <a:off x="5105400" y="3095655"/>
            <a:ext cx="1588" cy="1600200"/>
          </a:xfrm>
          <a:prstGeom prst="bentConnector3">
            <a:avLst>
              <a:gd name="adj1" fmla="val 14395466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5" name="Elbow Connector 84"/>
          <p:cNvCxnSpPr>
            <a:stCxn id="40" idx="2"/>
            <a:endCxn id="42" idx="0"/>
          </p:cNvCxnSpPr>
          <p:nvPr/>
        </p:nvCxnSpPr>
        <p:spPr bwMode="auto">
          <a:xfrm rot="5400000">
            <a:off x="5181600" y="4267200"/>
            <a:ext cx="457200" cy="1588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7" name="Elbow Connector 86"/>
          <p:cNvCxnSpPr>
            <a:stCxn id="42" idx="2"/>
            <a:endCxn id="43" idx="0"/>
          </p:cNvCxnSpPr>
          <p:nvPr/>
        </p:nvCxnSpPr>
        <p:spPr bwMode="auto">
          <a:xfrm rot="5400000">
            <a:off x="5191155" y="5114955"/>
            <a:ext cx="438090" cy="1588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8" name="Rectangle 87"/>
          <p:cNvSpPr/>
          <p:nvPr/>
        </p:nvSpPr>
        <p:spPr bwMode="auto">
          <a:xfrm>
            <a:off x="7315200" y="2133600"/>
            <a:ext cx="990600" cy="152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Rectangle 88"/>
          <p:cNvSpPr/>
          <p:nvPr/>
        </p:nvSpPr>
        <p:spPr bwMode="auto">
          <a:xfrm>
            <a:off x="7315200" y="3352800"/>
            <a:ext cx="990600" cy="152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0" name="Rectangle 89"/>
          <p:cNvSpPr/>
          <p:nvPr/>
        </p:nvSpPr>
        <p:spPr bwMode="auto">
          <a:xfrm>
            <a:off x="7315200" y="5029200"/>
            <a:ext cx="990600" cy="152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1" name="Rectangle 90"/>
          <p:cNvSpPr/>
          <p:nvPr/>
        </p:nvSpPr>
        <p:spPr bwMode="auto">
          <a:xfrm>
            <a:off x="533400" y="3657600"/>
            <a:ext cx="3886200" cy="228600"/>
          </a:xfrm>
          <a:prstGeom prst="rect">
            <a:avLst/>
          </a:prstGeom>
          <a:solidFill>
            <a:srgbClr val="FFFFFF">
              <a:alpha val="35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2" name="Rectangle 91"/>
          <p:cNvSpPr/>
          <p:nvPr/>
        </p:nvSpPr>
        <p:spPr bwMode="auto">
          <a:xfrm>
            <a:off x="533400" y="3886200"/>
            <a:ext cx="3886200" cy="228600"/>
          </a:xfrm>
          <a:prstGeom prst="rect">
            <a:avLst/>
          </a:prstGeom>
          <a:solidFill>
            <a:srgbClr val="FFFFFF">
              <a:alpha val="35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3" name="Rectangle 92"/>
          <p:cNvSpPr/>
          <p:nvPr/>
        </p:nvSpPr>
        <p:spPr bwMode="auto">
          <a:xfrm>
            <a:off x="533400" y="4191000"/>
            <a:ext cx="3886200" cy="228600"/>
          </a:xfrm>
          <a:prstGeom prst="rect">
            <a:avLst/>
          </a:prstGeom>
          <a:solidFill>
            <a:srgbClr val="FFFFFF">
              <a:alpha val="35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4" name="Rectangle 93"/>
          <p:cNvSpPr/>
          <p:nvPr/>
        </p:nvSpPr>
        <p:spPr bwMode="auto">
          <a:xfrm>
            <a:off x="533400" y="4495800"/>
            <a:ext cx="3886200" cy="228600"/>
          </a:xfrm>
          <a:prstGeom prst="rect">
            <a:avLst/>
          </a:prstGeom>
          <a:solidFill>
            <a:srgbClr val="FFFFFF">
              <a:alpha val="35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392757" y="1783849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4 bytes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9" grpId="0" animBg="1"/>
      <p:bldP spid="90" grpId="0" animBg="1"/>
      <p:bldP spid="91" grpId="0" animBg="1"/>
      <p:bldP spid="91" grpId="1" animBg="1"/>
      <p:bldP spid="92" grpId="0" animBg="1"/>
      <p:bldP spid="92" grpId="1" animBg="1"/>
      <p:bldP spid="93" grpId="0" animBg="1"/>
      <p:bldP spid="93" grpId="1" animBg="1"/>
      <p:bldP spid="94" grpId="0" animBg="1"/>
      <p:bldP spid="94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381000" y="3276600"/>
            <a:ext cx="4340326" cy="230832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pt-PT" sz="1800" b="1" dirty="0" err="1">
                <a:latin typeface="Courier New"/>
                <a:cs typeface="Courier New"/>
              </a:rPr>
              <a:t>loop</a:t>
            </a:r>
            <a:r>
              <a:rPr lang="pt-PT" sz="1800" b="1" dirty="0">
                <a:latin typeface="Courier New"/>
                <a:cs typeface="Courier New"/>
              </a:rPr>
              <a:t>:</a:t>
            </a:r>
          </a:p>
          <a:p>
            <a:r>
              <a:rPr lang="pt-PT" sz="1800" b="1" dirty="0">
                <a:latin typeface="Courier New"/>
                <a:cs typeface="Courier New"/>
              </a:rPr>
              <a:t>  </a:t>
            </a:r>
            <a:r>
              <a:rPr lang="pt-PT" sz="1800" b="1" dirty="0" err="1">
                <a:latin typeface="Courier New"/>
                <a:cs typeface="Courier New"/>
              </a:rPr>
              <a:t>mov.v</a:t>
            </a:r>
            <a:r>
              <a:rPr lang="pt-PT" sz="1800" b="1" dirty="0">
                <a:latin typeface="Courier New"/>
                <a:cs typeface="Courier New"/>
              </a:rPr>
              <a:t> (%</a:t>
            </a:r>
            <a:r>
              <a:rPr lang="pt-PT" sz="1800" b="1" dirty="0" err="1">
                <a:latin typeface="Courier New"/>
                <a:cs typeface="Courier New"/>
              </a:rPr>
              <a:t>esi</a:t>
            </a:r>
            <a:r>
              <a:rPr lang="pt-PT" sz="1800" b="1" dirty="0">
                <a:latin typeface="Courier New"/>
                <a:cs typeface="Courier New"/>
              </a:rPr>
              <a:t>, %</a:t>
            </a:r>
            <a:r>
              <a:rPr lang="pt-PT" sz="1800" b="1" dirty="0" err="1">
                <a:latin typeface="Courier New"/>
                <a:cs typeface="Courier New"/>
              </a:rPr>
              <a:t>ecx</a:t>
            </a:r>
            <a:r>
              <a:rPr lang="pt-PT" sz="1800" b="1" dirty="0">
                <a:latin typeface="Courier New"/>
                <a:cs typeface="Courier New"/>
              </a:rPr>
              <a:t>, 4), %vec0</a:t>
            </a:r>
          </a:p>
          <a:p>
            <a:r>
              <a:rPr lang="pt-PT" sz="1800" b="1" dirty="0">
                <a:latin typeface="Courier New"/>
                <a:cs typeface="Courier New"/>
              </a:rPr>
              <a:t>  </a:t>
            </a:r>
            <a:r>
              <a:rPr lang="pt-PT" sz="1800" b="1" dirty="0" err="1">
                <a:latin typeface="Courier New"/>
                <a:cs typeface="Courier New"/>
              </a:rPr>
              <a:t>mov.v</a:t>
            </a:r>
            <a:r>
              <a:rPr lang="pt-PT" sz="1800" b="1" dirty="0">
                <a:latin typeface="Courier New"/>
                <a:cs typeface="Courier New"/>
              </a:rPr>
              <a:t> (%</a:t>
            </a:r>
            <a:r>
              <a:rPr lang="pt-PT" sz="1800" b="1" dirty="0" err="1">
                <a:latin typeface="Courier New"/>
                <a:cs typeface="Courier New"/>
              </a:rPr>
              <a:t>edi</a:t>
            </a:r>
            <a:r>
              <a:rPr lang="pt-PT" sz="1800" b="1" dirty="0">
                <a:latin typeface="Courier New"/>
                <a:cs typeface="Courier New"/>
              </a:rPr>
              <a:t>, %</a:t>
            </a:r>
            <a:r>
              <a:rPr lang="pt-PT" sz="1800" b="1" dirty="0" err="1">
                <a:latin typeface="Courier New"/>
                <a:cs typeface="Courier New"/>
              </a:rPr>
              <a:t>ecx</a:t>
            </a:r>
            <a:r>
              <a:rPr lang="pt-PT" sz="1800" b="1" dirty="0">
                <a:latin typeface="Courier New"/>
                <a:cs typeface="Courier New"/>
              </a:rPr>
              <a:t>, 4), %vec1</a:t>
            </a:r>
          </a:p>
          <a:p>
            <a:r>
              <a:rPr lang="pt-PT" sz="1800" b="1" dirty="0">
                <a:latin typeface="Courier New"/>
                <a:cs typeface="Courier New"/>
              </a:rPr>
              <a:t>  </a:t>
            </a:r>
            <a:r>
              <a:rPr lang="pt-PT" sz="1800" b="1" dirty="0" err="1">
                <a:latin typeface="Courier New"/>
                <a:cs typeface="Courier New"/>
              </a:rPr>
              <a:t>add.v</a:t>
            </a:r>
            <a:r>
              <a:rPr lang="pt-PT" sz="1800" b="1" dirty="0">
                <a:latin typeface="Courier New"/>
                <a:cs typeface="Courier New"/>
              </a:rPr>
              <a:t> %vec0, %vec1</a:t>
            </a:r>
          </a:p>
          <a:p>
            <a:r>
              <a:rPr lang="pt-PT" sz="1800" b="1" dirty="0">
                <a:latin typeface="Courier New"/>
                <a:cs typeface="Courier New"/>
              </a:rPr>
              <a:t>  </a:t>
            </a:r>
            <a:r>
              <a:rPr lang="pt-PT" sz="1800" b="1" dirty="0" err="1">
                <a:latin typeface="Courier New"/>
                <a:cs typeface="Courier New"/>
              </a:rPr>
              <a:t>mov.v</a:t>
            </a:r>
            <a:r>
              <a:rPr lang="pt-PT" sz="1800" b="1" dirty="0">
                <a:latin typeface="Courier New"/>
                <a:cs typeface="Courier New"/>
              </a:rPr>
              <a:t> %vec1, (%</a:t>
            </a:r>
            <a:r>
              <a:rPr lang="pt-PT" sz="1800" b="1" dirty="0" err="1">
                <a:latin typeface="Courier New"/>
                <a:cs typeface="Courier New"/>
              </a:rPr>
              <a:t>ebx</a:t>
            </a:r>
            <a:r>
              <a:rPr lang="pt-PT" sz="1800" b="1" dirty="0">
                <a:latin typeface="Courier New"/>
                <a:cs typeface="Courier New"/>
              </a:rPr>
              <a:t>, %</a:t>
            </a:r>
            <a:r>
              <a:rPr lang="pt-PT" sz="1800" b="1" dirty="0" err="1">
                <a:latin typeface="Courier New"/>
                <a:cs typeface="Courier New"/>
              </a:rPr>
              <a:t>ecx</a:t>
            </a:r>
            <a:r>
              <a:rPr lang="pt-PT" sz="1800" b="1" dirty="0">
                <a:latin typeface="Courier New"/>
                <a:cs typeface="Courier New"/>
              </a:rPr>
              <a:t>, 4)</a:t>
            </a:r>
          </a:p>
          <a:p>
            <a:r>
              <a:rPr lang="pt-PT" sz="1800" b="1" dirty="0">
                <a:latin typeface="Courier New"/>
                <a:cs typeface="Courier New"/>
              </a:rPr>
              <a:t>  </a:t>
            </a:r>
            <a:r>
              <a:rPr lang="pt-PT" sz="1800" b="1" dirty="0" err="1">
                <a:latin typeface="Courier New"/>
                <a:cs typeface="Courier New"/>
              </a:rPr>
              <a:t>addl</a:t>
            </a:r>
            <a:r>
              <a:rPr lang="pt-PT" sz="1800" b="1" dirty="0">
                <a:latin typeface="Courier New"/>
                <a:cs typeface="Courier New"/>
              </a:rPr>
              <a:t> $N, %</a:t>
            </a:r>
            <a:r>
              <a:rPr lang="pt-PT" sz="1800" b="1" dirty="0" err="1">
                <a:latin typeface="Courier New"/>
                <a:cs typeface="Courier New"/>
              </a:rPr>
              <a:t>ecx</a:t>
            </a:r>
            <a:endParaRPr lang="pt-PT" sz="1800" b="1" dirty="0">
              <a:latin typeface="Courier New"/>
              <a:cs typeface="Courier New"/>
            </a:endParaRPr>
          </a:p>
          <a:p>
            <a:r>
              <a:rPr lang="pt-PT" sz="1800" b="1" dirty="0">
                <a:latin typeface="Courier New"/>
                <a:cs typeface="Courier New"/>
              </a:rPr>
              <a:t>  </a:t>
            </a:r>
            <a:r>
              <a:rPr lang="pt-PT" sz="1800" b="1" dirty="0" err="1">
                <a:latin typeface="Courier New"/>
                <a:cs typeface="Courier New"/>
              </a:rPr>
              <a:t>cmpl</a:t>
            </a:r>
            <a:r>
              <a:rPr lang="pt-PT" sz="1800" b="1" dirty="0">
                <a:latin typeface="Courier New"/>
                <a:cs typeface="Courier New"/>
              </a:rPr>
              <a:t> SIZE, %</a:t>
            </a:r>
            <a:r>
              <a:rPr lang="pt-PT" sz="1800" b="1" dirty="0" err="1">
                <a:latin typeface="Courier New"/>
                <a:cs typeface="Courier New"/>
              </a:rPr>
              <a:t>ecx</a:t>
            </a:r>
            <a:endParaRPr lang="pt-PT" sz="1800" b="1" dirty="0">
              <a:latin typeface="Courier New"/>
              <a:cs typeface="Courier New"/>
            </a:endParaRPr>
          </a:p>
          <a:p>
            <a:r>
              <a:rPr lang="pt-PT" sz="1800" b="1" dirty="0">
                <a:latin typeface="Courier New"/>
                <a:cs typeface="Courier New"/>
              </a:rPr>
              <a:t>  </a:t>
            </a:r>
            <a:r>
              <a:rPr lang="pt-PT" sz="1800" b="1" dirty="0" err="1">
                <a:latin typeface="Courier New"/>
                <a:cs typeface="Courier New"/>
              </a:rPr>
              <a:t>jl</a:t>
            </a:r>
            <a:r>
              <a:rPr lang="pt-PT" sz="1800" b="1" dirty="0">
                <a:latin typeface="Courier New"/>
                <a:cs typeface="Courier New"/>
              </a:rPr>
              <a:t> </a:t>
            </a:r>
            <a:r>
              <a:rPr lang="pt-PT" sz="1800" b="1" dirty="0" err="1">
                <a:latin typeface="Courier New"/>
                <a:cs typeface="Courier New"/>
              </a:rPr>
              <a:t>loop</a:t>
            </a:r>
            <a:endParaRPr lang="pt-PT" sz="1800" b="1" dirty="0">
              <a:latin typeface="Courier New"/>
              <a:cs typeface="Courier New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5143500" y="4343400"/>
            <a:ext cx="1296516" cy="552510"/>
            <a:chOff x="5181600" y="4343400"/>
            <a:chExt cx="1296516" cy="552510"/>
          </a:xfrm>
        </p:grpSpPr>
        <p:sp>
          <p:nvSpPr>
            <p:cNvPr id="115" name="TextBox 114"/>
            <p:cNvSpPr txBox="1"/>
            <p:nvPr/>
          </p:nvSpPr>
          <p:spPr>
            <a:xfrm>
              <a:off x="5486400" y="4343400"/>
              <a:ext cx="979536" cy="400110"/>
            </a:xfrm>
            <a:prstGeom prst="rect">
              <a:avLst/>
            </a:prstGeom>
            <a:solidFill>
              <a:srgbClr val="79977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pt-PT" b="1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86535" y="4495800"/>
              <a:ext cx="1022751" cy="400110"/>
            </a:xfrm>
            <a:prstGeom prst="rect">
              <a:avLst/>
            </a:prstGeom>
            <a:solidFill>
              <a:srgbClr val="79977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PT" b="1" dirty="0" err="1"/>
                <a:t>Op</a:t>
              </a:r>
              <a:r>
                <a:rPr lang="pt-PT" b="1" dirty="0"/>
                <a:t> x N</a:t>
              </a:r>
            </a:p>
          </p:txBody>
        </p:sp>
        <p:cxnSp>
          <p:nvCxnSpPr>
            <p:cNvPr id="116" name="Straight Connector 115"/>
            <p:cNvCxnSpPr/>
            <p:nvPr/>
          </p:nvCxnSpPr>
          <p:spPr bwMode="auto">
            <a:xfrm flipV="1">
              <a:off x="6173316" y="4361121"/>
              <a:ext cx="304800" cy="1524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7" name="Straight Connector 116"/>
            <p:cNvCxnSpPr/>
            <p:nvPr/>
          </p:nvCxnSpPr>
          <p:spPr bwMode="auto">
            <a:xfrm flipV="1">
              <a:off x="5181600" y="4343400"/>
              <a:ext cx="304800" cy="1524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8" name="Straight Connector 117"/>
            <p:cNvCxnSpPr/>
            <p:nvPr/>
          </p:nvCxnSpPr>
          <p:spPr bwMode="auto">
            <a:xfrm flipV="1">
              <a:off x="6173316" y="4724400"/>
              <a:ext cx="304800" cy="1524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17413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pt-PT" dirty="0" err="1">
                <a:latin typeface="Calibri" pitchFamily="-109" charset="0"/>
                <a:ea typeface="ＭＳ Ｐゴシック" pitchFamily="-109" charset="-128"/>
              </a:rPr>
              <a:t>Processamento</a:t>
            </a:r>
            <a:r>
              <a:rPr lang="en-US" altLang="pt-PT" dirty="0">
                <a:latin typeface="Calibri" pitchFamily="-109" charset="0"/>
                <a:ea typeface="ＭＳ Ｐゴシック" pitchFamily="-109" charset="-128"/>
              </a:rPr>
              <a:t> </a:t>
            </a:r>
            <a:r>
              <a:rPr lang="en-US" altLang="pt-PT" dirty="0" err="1">
                <a:latin typeface="Calibri" pitchFamily="-109" charset="0"/>
                <a:ea typeface="ＭＳ Ｐゴシック" pitchFamily="-109" charset="-128"/>
              </a:rPr>
              <a:t>Vectorial</a:t>
            </a:r>
            <a:endParaRPr lang="en-US" altLang="pt-PT" dirty="0">
              <a:latin typeface="Calibri" pitchFamily="-109" charset="0"/>
              <a:ea typeface="ＭＳ Ｐゴシック" pitchFamily="-109" charset="-128"/>
            </a:endParaRPr>
          </a:p>
        </p:txBody>
      </p:sp>
      <p:sp>
        <p:nvSpPr>
          <p:cNvPr id="17414" name="Marcador de Posição de Conteúdo 2"/>
          <p:cNvSpPr>
            <a:spLocks noGrp="1"/>
          </p:cNvSpPr>
          <p:nvPr>
            <p:ph idx="1"/>
          </p:nvPr>
        </p:nvSpPr>
        <p:spPr>
          <a:xfrm>
            <a:off x="312827" y="956693"/>
            <a:ext cx="8534400" cy="533400"/>
          </a:xfrm>
        </p:spPr>
        <p:txBody>
          <a:bodyPr/>
          <a:lstStyle/>
          <a:p>
            <a:pPr algn="ctr">
              <a:buNone/>
            </a:pPr>
            <a:r>
              <a:rPr lang="en-US" altLang="pt-PT" sz="2400" b="1" cap="small" dirty="0">
                <a:latin typeface="Calibri" pitchFamily="-109" charset="0"/>
                <a:ea typeface="ＭＳ Ｐゴシック" pitchFamily="-109" charset="-128"/>
              </a:rPr>
              <a:t>Data Level Parallelism</a:t>
            </a:r>
            <a:endParaRPr lang="en-US" altLang="pt-PT" sz="2000" dirty="0">
              <a:latin typeface="Calibri" pitchFamily="-109" charset="0"/>
              <a:ea typeface="ＭＳ Ｐゴシック" pitchFamily="-109" charset="-128"/>
            </a:endParaRPr>
          </a:p>
          <a:p>
            <a:pPr algn="ctr">
              <a:buNone/>
            </a:pPr>
            <a:r>
              <a:rPr lang="en-US" altLang="pt-PT" sz="1800" dirty="0" err="1">
                <a:latin typeface="Calibri" pitchFamily="-109" charset="0"/>
                <a:ea typeface="ＭＳ Ｐゴシック" pitchFamily="-109" charset="-128"/>
              </a:rPr>
              <a:t>Cada</a:t>
            </a:r>
            <a:r>
              <a:rPr lang="en-US" altLang="pt-PT" sz="1800" dirty="0">
                <a:latin typeface="Calibri" pitchFamily="-109" charset="0"/>
                <a:ea typeface="ＭＳ Ｐゴシック" pitchFamily="-109" charset="-128"/>
              </a:rPr>
              <a:t> </a:t>
            </a:r>
            <a:r>
              <a:rPr lang="en-US" altLang="pt-PT" sz="1800" dirty="0" err="1">
                <a:latin typeface="Calibri" pitchFamily="-109" charset="0"/>
                <a:ea typeface="ＭＳ Ｐゴシック" pitchFamily="-109" charset="-128"/>
              </a:rPr>
              <a:t>instrução</a:t>
            </a:r>
            <a:r>
              <a:rPr lang="en-US" altLang="pt-PT" sz="1800" dirty="0">
                <a:latin typeface="Calibri" pitchFamily="-109" charset="0"/>
                <a:ea typeface="ＭＳ Ｐゴシック" pitchFamily="-109" charset="-128"/>
              </a:rPr>
              <a:t> </a:t>
            </a:r>
            <a:r>
              <a:rPr lang="en-US" altLang="pt-PT" sz="1800" dirty="0" err="1">
                <a:latin typeface="Calibri" pitchFamily="-109" charset="0"/>
                <a:ea typeface="ＭＳ Ｐゴシック" pitchFamily="-109" charset="-128"/>
              </a:rPr>
              <a:t>processa</a:t>
            </a:r>
            <a:r>
              <a:rPr lang="en-US" altLang="pt-PT" sz="1800" dirty="0">
                <a:latin typeface="Calibri" pitchFamily="-109" charset="0"/>
                <a:ea typeface="ＭＳ Ｐゴシック" pitchFamily="-109" charset="-128"/>
              </a:rPr>
              <a:t> </a:t>
            </a:r>
            <a:r>
              <a:rPr lang="en-US" altLang="pt-PT" sz="1800" b="1" dirty="0">
                <a:latin typeface="Calibri" pitchFamily="-109" charset="0"/>
                <a:ea typeface="ＭＳ Ｐゴシック" pitchFamily="-109" charset="-128"/>
              </a:rPr>
              <a:t>N</a:t>
            </a:r>
            <a:r>
              <a:rPr lang="en-US" altLang="pt-PT" sz="1800" dirty="0">
                <a:latin typeface="Calibri" pitchFamily="-109" charset="0"/>
                <a:ea typeface="ＭＳ Ｐゴシック" pitchFamily="-109" charset="-128"/>
              </a:rPr>
              <a:t> </a:t>
            </a:r>
            <a:r>
              <a:rPr lang="en-US" altLang="pt-PT" sz="1800" dirty="0" err="1">
                <a:latin typeface="Calibri" pitchFamily="-109" charset="0"/>
                <a:ea typeface="ＭＳ Ｐゴシック" pitchFamily="-109" charset="-128"/>
              </a:rPr>
              <a:t>elementos</a:t>
            </a:r>
            <a:r>
              <a:rPr lang="en-US" altLang="pt-PT" sz="1800" dirty="0">
                <a:latin typeface="Calibri" pitchFamily="-109" charset="0"/>
                <a:ea typeface="ＭＳ Ｐゴシック" pitchFamily="-109" charset="-128"/>
              </a:rPr>
              <a:t> do </a:t>
            </a:r>
            <a:r>
              <a:rPr lang="en-US" altLang="pt-PT" sz="1800" dirty="0" err="1">
                <a:latin typeface="Calibri" pitchFamily="-109" charset="0"/>
                <a:ea typeface="ＭＳ Ｐゴシック" pitchFamily="-109" charset="-128"/>
              </a:rPr>
              <a:t>conjunto</a:t>
            </a:r>
            <a:r>
              <a:rPr lang="en-US" altLang="pt-PT" sz="1800" dirty="0">
                <a:latin typeface="Calibri" pitchFamily="-109" charset="0"/>
                <a:ea typeface="ＭＳ Ｐゴシック" pitchFamily="-109" charset="-128"/>
              </a:rPr>
              <a:t> de dados</a:t>
            </a:r>
          </a:p>
        </p:txBody>
      </p:sp>
      <p:sp>
        <p:nvSpPr>
          <p:cNvPr id="17415" name="Marcador de Posição da Data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9pPr>
          </a:lstStyle>
          <a:p>
            <a:pPr eaLnBrk="1" hangingPunct="1"/>
            <a:r>
              <a:rPr lang="pt-PT" altLang="pt-PT" sz="1200">
                <a:latin typeface="Calibri" pitchFamily="-109" charset="0"/>
              </a:rPr>
              <a:t>AC – Processamento Vectorial</a:t>
            </a:r>
          </a:p>
        </p:txBody>
      </p:sp>
      <p:sp>
        <p:nvSpPr>
          <p:cNvPr id="17416" name="Marcador de Posição do Número do Diapositivo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9pPr>
          </a:lstStyle>
          <a:p>
            <a:pPr eaLnBrk="1" hangingPunct="1"/>
            <a:fld id="{72B12A03-2C03-4B8A-AA8F-B40C865C323B}" type="slidenum">
              <a:rPr lang="pt-PT" altLang="pt-PT" sz="1200">
                <a:latin typeface="Calibri" pitchFamily="-109" charset="0"/>
              </a:rPr>
              <a:pPr eaLnBrk="1" hangingPunct="1"/>
              <a:t>4</a:t>
            </a:fld>
            <a:endParaRPr lang="pt-PT" altLang="pt-PT" sz="1200">
              <a:latin typeface="Calibri" pitchFamily="-109" charset="0"/>
            </a:endParaRPr>
          </a:p>
        </p:txBody>
      </p:sp>
      <p:cxnSp>
        <p:nvCxnSpPr>
          <p:cNvPr id="17417" name="Conexão recta 26"/>
          <p:cNvCxnSpPr>
            <a:cxnSpLocks noChangeShapeType="1"/>
          </p:cNvCxnSpPr>
          <p:nvPr/>
        </p:nvCxnSpPr>
        <p:spPr bwMode="auto">
          <a:xfrm>
            <a:off x="-1285875" y="500063"/>
            <a:ext cx="914400" cy="914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sp>
        <p:nvSpPr>
          <p:cNvPr id="34" name="TextBox 33"/>
          <p:cNvSpPr txBox="1"/>
          <p:nvPr/>
        </p:nvSpPr>
        <p:spPr>
          <a:xfrm>
            <a:off x="381000" y="1981200"/>
            <a:ext cx="4044697" cy="9233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pt-PT" sz="1800" b="1" dirty="0">
                <a:latin typeface="Courier New"/>
                <a:cs typeface="Courier New"/>
              </a:rPr>
              <a:t>for (i=0 ; i &lt; SIZE ; i++) {</a:t>
            </a:r>
          </a:p>
          <a:p>
            <a:r>
              <a:rPr lang="pt-PT" sz="1800" b="1" dirty="0">
                <a:latin typeface="Courier New"/>
                <a:cs typeface="Courier New"/>
              </a:rPr>
              <a:t>  </a:t>
            </a:r>
            <a:r>
              <a:rPr lang="pt-PT" sz="1800" b="1" dirty="0" err="1">
                <a:latin typeface="Courier New"/>
                <a:cs typeface="Courier New"/>
              </a:rPr>
              <a:t>c[i</a:t>
            </a:r>
            <a:r>
              <a:rPr lang="pt-PT" sz="1800" b="1" dirty="0">
                <a:latin typeface="Courier New"/>
                <a:cs typeface="Courier New"/>
              </a:rPr>
              <a:t>] = </a:t>
            </a:r>
            <a:r>
              <a:rPr lang="pt-PT" sz="1800" b="1" dirty="0" err="1">
                <a:latin typeface="Courier New"/>
                <a:cs typeface="Courier New"/>
              </a:rPr>
              <a:t>a[i</a:t>
            </a:r>
            <a:r>
              <a:rPr lang="pt-PT" sz="1800" b="1" dirty="0">
                <a:latin typeface="Courier New"/>
                <a:cs typeface="Courier New"/>
              </a:rPr>
              <a:t>] + </a:t>
            </a:r>
            <a:r>
              <a:rPr lang="pt-PT" sz="1800" b="1" dirty="0" err="1">
                <a:latin typeface="Courier New"/>
                <a:cs typeface="Courier New"/>
              </a:rPr>
              <a:t>b[i</a:t>
            </a:r>
            <a:r>
              <a:rPr lang="pt-PT" sz="1800" b="1" dirty="0">
                <a:latin typeface="Courier New"/>
                <a:cs typeface="Courier New"/>
              </a:rPr>
              <a:t>];</a:t>
            </a:r>
          </a:p>
          <a:p>
            <a:r>
              <a:rPr lang="pt-PT" sz="1800" b="1" dirty="0">
                <a:latin typeface="Courier New"/>
                <a:cs typeface="Courier New"/>
              </a:rPr>
              <a:t>}</a:t>
            </a:r>
          </a:p>
        </p:txBody>
      </p:sp>
      <p:cxnSp>
        <p:nvCxnSpPr>
          <p:cNvPr id="45" name="Straight Connector 44"/>
          <p:cNvCxnSpPr/>
          <p:nvPr/>
        </p:nvCxnSpPr>
        <p:spPr bwMode="auto">
          <a:xfrm rot="16200000" flipH="1">
            <a:off x="5219700" y="4076700"/>
            <a:ext cx="4191000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46" name="Straight Connector 45"/>
          <p:cNvCxnSpPr/>
          <p:nvPr/>
        </p:nvCxnSpPr>
        <p:spPr bwMode="auto">
          <a:xfrm rot="16200000" flipH="1">
            <a:off x="6210300" y="4076700"/>
            <a:ext cx="4191000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47" name="Straight Connector 46"/>
          <p:cNvCxnSpPr/>
          <p:nvPr/>
        </p:nvCxnSpPr>
        <p:spPr bwMode="auto">
          <a:xfrm>
            <a:off x="7315200" y="21336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50" name="Straight Connector 49"/>
          <p:cNvCxnSpPr/>
          <p:nvPr/>
        </p:nvCxnSpPr>
        <p:spPr bwMode="auto">
          <a:xfrm>
            <a:off x="7315200" y="22860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51" name="Straight Connector 50"/>
          <p:cNvCxnSpPr/>
          <p:nvPr/>
        </p:nvCxnSpPr>
        <p:spPr bwMode="auto">
          <a:xfrm>
            <a:off x="7315200" y="24384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52" name="Straight Connector 51"/>
          <p:cNvCxnSpPr/>
          <p:nvPr/>
        </p:nvCxnSpPr>
        <p:spPr bwMode="auto">
          <a:xfrm>
            <a:off x="7315200" y="25908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53" name="Straight Connector 52"/>
          <p:cNvCxnSpPr/>
          <p:nvPr/>
        </p:nvCxnSpPr>
        <p:spPr bwMode="auto">
          <a:xfrm>
            <a:off x="7315200" y="27432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54" name="Straight Connector 53"/>
          <p:cNvCxnSpPr/>
          <p:nvPr/>
        </p:nvCxnSpPr>
        <p:spPr bwMode="auto">
          <a:xfrm>
            <a:off x="7315200" y="28956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55" name="Straight Connector 54"/>
          <p:cNvCxnSpPr/>
          <p:nvPr/>
        </p:nvCxnSpPr>
        <p:spPr bwMode="auto">
          <a:xfrm>
            <a:off x="7315200" y="30480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56" name="Straight Connector 55"/>
          <p:cNvCxnSpPr/>
          <p:nvPr/>
        </p:nvCxnSpPr>
        <p:spPr bwMode="auto">
          <a:xfrm>
            <a:off x="7315200" y="32004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57" name="Straight Connector 56"/>
          <p:cNvCxnSpPr/>
          <p:nvPr/>
        </p:nvCxnSpPr>
        <p:spPr bwMode="auto">
          <a:xfrm>
            <a:off x="7315200" y="33528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58" name="Straight Connector 57"/>
          <p:cNvCxnSpPr/>
          <p:nvPr/>
        </p:nvCxnSpPr>
        <p:spPr bwMode="auto">
          <a:xfrm>
            <a:off x="7315200" y="35052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59" name="Straight Connector 58"/>
          <p:cNvCxnSpPr/>
          <p:nvPr/>
        </p:nvCxnSpPr>
        <p:spPr bwMode="auto">
          <a:xfrm>
            <a:off x="7315200" y="36576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60" name="Straight Connector 59"/>
          <p:cNvCxnSpPr/>
          <p:nvPr/>
        </p:nvCxnSpPr>
        <p:spPr bwMode="auto">
          <a:xfrm>
            <a:off x="7315200" y="38100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61" name="Straight Connector 60"/>
          <p:cNvCxnSpPr/>
          <p:nvPr/>
        </p:nvCxnSpPr>
        <p:spPr bwMode="auto">
          <a:xfrm>
            <a:off x="7315200" y="39624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62" name="Straight Connector 61"/>
          <p:cNvCxnSpPr/>
          <p:nvPr/>
        </p:nvCxnSpPr>
        <p:spPr bwMode="auto">
          <a:xfrm>
            <a:off x="7315200" y="41148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63" name="Straight Connector 62"/>
          <p:cNvCxnSpPr/>
          <p:nvPr/>
        </p:nvCxnSpPr>
        <p:spPr bwMode="auto">
          <a:xfrm>
            <a:off x="7315200" y="42672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64" name="Straight Connector 63"/>
          <p:cNvCxnSpPr/>
          <p:nvPr/>
        </p:nvCxnSpPr>
        <p:spPr bwMode="auto">
          <a:xfrm>
            <a:off x="7315200" y="44196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65" name="Straight Connector 64"/>
          <p:cNvCxnSpPr/>
          <p:nvPr/>
        </p:nvCxnSpPr>
        <p:spPr bwMode="auto">
          <a:xfrm>
            <a:off x="7315200" y="45720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66" name="Straight Connector 65"/>
          <p:cNvCxnSpPr/>
          <p:nvPr/>
        </p:nvCxnSpPr>
        <p:spPr bwMode="auto">
          <a:xfrm>
            <a:off x="7315200" y="47244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67" name="Straight Connector 66"/>
          <p:cNvCxnSpPr/>
          <p:nvPr/>
        </p:nvCxnSpPr>
        <p:spPr bwMode="auto">
          <a:xfrm>
            <a:off x="7315200" y="48768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68" name="Straight Connector 67"/>
          <p:cNvCxnSpPr/>
          <p:nvPr/>
        </p:nvCxnSpPr>
        <p:spPr bwMode="auto">
          <a:xfrm>
            <a:off x="7315200" y="50292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69" name="Straight Connector 68"/>
          <p:cNvCxnSpPr/>
          <p:nvPr/>
        </p:nvCxnSpPr>
        <p:spPr bwMode="auto">
          <a:xfrm>
            <a:off x="7315200" y="51816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0" name="Straight Connector 69"/>
          <p:cNvCxnSpPr/>
          <p:nvPr/>
        </p:nvCxnSpPr>
        <p:spPr bwMode="auto">
          <a:xfrm>
            <a:off x="7315200" y="53340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1" name="Straight Connector 70"/>
          <p:cNvCxnSpPr/>
          <p:nvPr/>
        </p:nvCxnSpPr>
        <p:spPr bwMode="auto">
          <a:xfrm>
            <a:off x="7315200" y="54864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2" name="Straight Connector 71"/>
          <p:cNvCxnSpPr/>
          <p:nvPr/>
        </p:nvCxnSpPr>
        <p:spPr bwMode="auto">
          <a:xfrm>
            <a:off x="7315200" y="56388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3" name="Straight Connector 72"/>
          <p:cNvCxnSpPr/>
          <p:nvPr/>
        </p:nvCxnSpPr>
        <p:spPr bwMode="auto">
          <a:xfrm>
            <a:off x="7315200" y="57912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4" name="Straight Connector 73"/>
          <p:cNvCxnSpPr/>
          <p:nvPr/>
        </p:nvCxnSpPr>
        <p:spPr bwMode="auto">
          <a:xfrm>
            <a:off x="7315200" y="5943600"/>
            <a:ext cx="990600" cy="15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81" name="Shape 80"/>
          <p:cNvCxnSpPr>
            <a:stCxn id="121" idx="2"/>
            <a:endCxn id="126" idx="1"/>
          </p:cNvCxnSpPr>
          <p:nvPr/>
        </p:nvCxnSpPr>
        <p:spPr bwMode="auto">
          <a:xfrm rot="5400000" flipH="1" flipV="1">
            <a:off x="6264068" y="4633090"/>
            <a:ext cx="426422" cy="1675842"/>
          </a:xfrm>
          <a:prstGeom prst="bentConnector4">
            <a:avLst>
              <a:gd name="adj1" fmla="val -53609"/>
              <a:gd name="adj2" fmla="val 63641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3" name="Elbow Connector 82"/>
          <p:cNvCxnSpPr>
            <a:stCxn id="39" idx="1"/>
            <a:endCxn id="42" idx="1"/>
          </p:cNvCxnSpPr>
          <p:nvPr/>
        </p:nvCxnSpPr>
        <p:spPr bwMode="auto">
          <a:xfrm rot="10800000" flipV="1">
            <a:off x="5148436" y="3080265"/>
            <a:ext cx="33723" cy="1615589"/>
          </a:xfrm>
          <a:prstGeom prst="bentConnector3">
            <a:avLst>
              <a:gd name="adj1" fmla="val 777876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5" name="Elbow Connector 84"/>
          <p:cNvCxnSpPr>
            <a:stCxn id="105" idx="2"/>
            <a:endCxn id="42" idx="0"/>
          </p:cNvCxnSpPr>
          <p:nvPr/>
        </p:nvCxnSpPr>
        <p:spPr bwMode="auto">
          <a:xfrm rot="16200000" flipH="1">
            <a:off x="5415150" y="4251139"/>
            <a:ext cx="468868" cy="20453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8" name="Rectangle 87"/>
          <p:cNvSpPr/>
          <p:nvPr/>
        </p:nvSpPr>
        <p:spPr bwMode="auto">
          <a:xfrm>
            <a:off x="7315200" y="2133600"/>
            <a:ext cx="990600" cy="152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Rectangle 88"/>
          <p:cNvSpPr/>
          <p:nvPr/>
        </p:nvSpPr>
        <p:spPr bwMode="auto">
          <a:xfrm>
            <a:off x="7315200" y="3352800"/>
            <a:ext cx="990600" cy="152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0" name="Rectangle 89"/>
          <p:cNvSpPr/>
          <p:nvPr/>
        </p:nvSpPr>
        <p:spPr bwMode="auto">
          <a:xfrm>
            <a:off x="7315200" y="5029200"/>
            <a:ext cx="990600" cy="152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1" name="Rectangle 90"/>
          <p:cNvSpPr/>
          <p:nvPr/>
        </p:nvSpPr>
        <p:spPr bwMode="auto">
          <a:xfrm>
            <a:off x="533400" y="3657600"/>
            <a:ext cx="4114800" cy="228600"/>
          </a:xfrm>
          <a:prstGeom prst="rect">
            <a:avLst/>
          </a:prstGeom>
          <a:solidFill>
            <a:srgbClr val="FFFFFF">
              <a:alpha val="35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2" name="Rectangle 91"/>
          <p:cNvSpPr/>
          <p:nvPr/>
        </p:nvSpPr>
        <p:spPr bwMode="auto">
          <a:xfrm>
            <a:off x="533400" y="3962400"/>
            <a:ext cx="4114800" cy="228600"/>
          </a:xfrm>
          <a:prstGeom prst="rect">
            <a:avLst/>
          </a:prstGeom>
          <a:solidFill>
            <a:srgbClr val="FFFFFF">
              <a:alpha val="35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3" name="Rectangle 92"/>
          <p:cNvSpPr/>
          <p:nvPr/>
        </p:nvSpPr>
        <p:spPr bwMode="auto">
          <a:xfrm>
            <a:off x="533400" y="4191000"/>
            <a:ext cx="4114800" cy="228600"/>
          </a:xfrm>
          <a:prstGeom prst="rect">
            <a:avLst/>
          </a:prstGeom>
          <a:solidFill>
            <a:srgbClr val="FFFFFF">
              <a:alpha val="35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4" name="Rectangle 93"/>
          <p:cNvSpPr/>
          <p:nvPr/>
        </p:nvSpPr>
        <p:spPr bwMode="auto">
          <a:xfrm>
            <a:off x="533400" y="4419600"/>
            <a:ext cx="4114800" cy="381000"/>
          </a:xfrm>
          <a:prstGeom prst="rect">
            <a:avLst/>
          </a:prstGeom>
          <a:solidFill>
            <a:srgbClr val="FFFFFF">
              <a:alpha val="35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5" name="Rectangle 74"/>
          <p:cNvSpPr/>
          <p:nvPr/>
        </p:nvSpPr>
        <p:spPr bwMode="auto">
          <a:xfrm>
            <a:off x="7315200" y="2286000"/>
            <a:ext cx="990600" cy="152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7" name="Rectangle 76"/>
          <p:cNvSpPr/>
          <p:nvPr/>
        </p:nvSpPr>
        <p:spPr bwMode="auto">
          <a:xfrm>
            <a:off x="7315200" y="2438400"/>
            <a:ext cx="990600" cy="152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0" name="Rectangle 79"/>
          <p:cNvSpPr/>
          <p:nvPr/>
        </p:nvSpPr>
        <p:spPr bwMode="auto">
          <a:xfrm>
            <a:off x="7315200" y="2590800"/>
            <a:ext cx="990600" cy="152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02" name="Group 101"/>
          <p:cNvGrpSpPr/>
          <p:nvPr/>
        </p:nvGrpSpPr>
        <p:grpSpPr>
          <a:xfrm>
            <a:off x="5182158" y="2743200"/>
            <a:ext cx="1219200" cy="533400"/>
            <a:chOff x="5105400" y="2743200"/>
            <a:chExt cx="1219200" cy="533400"/>
          </a:xfrm>
        </p:grpSpPr>
        <p:sp>
          <p:nvSpPr>
            <p:cNvPr id="86" name="TextBox 85"/>
            <p:cNvSpPr txBox="1"/>
            <p:nvPr/>
          </p:nvSpPr>
          <p:spPr>
            <a:xfrm>
              <a:off x="5410200" y="2743200"/>
              <a:ext cx="914400" cy="40011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pt-PT" b="1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105400" y="2895600"/>
              <a:ext cx="914400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800" b="1" dirty="0"/>
                <a:t>vec0</a:t>
              </a:r>
            </a:p>
          </p:txBody>
        </p:sp>
        <p:cxnSp>
          <p:nvCxnSpPr>
            <p:cNvPr id="98" name="Straight Connector 97"/>
            <p:cNvCxnSpPr/>
            <p:nvPr/>
          </p:nvCxnSpPr>
          <p:spPr bwMode="auto">
            <a:xfrm flipV="1">
              <a:off x="5105400" y="2743200"/>
              <a:ext cx="304800" cy="1524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9" name="Straight Connector 98"/>
            <p:cNvCxnSpPr/>
            <p:nvPr/>
          </p:nvCxnSpPr>
          <p:spPr bwMode="auto">
            <a:xfrm flipV="1">
              <a:off x="6019800" y="2743200"/>
              <a:ext cx="304800" cy="1524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0" name="Straight Connector 99"/>
            <p:cNvCxnSpPr/>
            <p:nvPr/>
          </p:nvCxnSpPr>
          <p:spPr bwMode="auto">
            <a:xfrm flipV="1">
              <a:off x="6019800" y="3124200"/>
              <a:ext cx="304800" cy="1524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cxnSp>
        <p:nvCxnSpPr>
          <p:cNvPr id="76" name="Shape 75"/>
          <p:cNvCxnSpPr>
            <a:stCxn id="75" idx="1"/>
            <a:endCxn id="39" idx="0"/>
          </p:cNvCxnSpPr>
          <p:nvPr/>
        </p:nvCxnSpPr>
        <p:spPr bwMode="auto">
          <a:xfrm rot="10800000" flipV="1">
            <a:off x="5639358" y="2362200"/>
            <a:ext cx="1675842" cy="533400"/>
          </a:xfrm>
          <a:prstGeom prst="bentConnector2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103" name="Group 102"/>
          <p:cNvGrpSpPr/>
          <p:nvPr/>
        </p:nvGrpSpPr>
        <p:grpSpPr>
          <a:xfrm>
            <a:off x="5182158" y="3505200"/>
            <a:ext cx="1219200" cy="533400"/>
            <a:chOff x="5105400" y="2743200"/>
            <a:chExt cx="1219200" cy="533400"/>
          </a:xfrm>
        </p:grpSpPr>
        <p:sp>
          <p:nvSpPr>
            <p:cNvPr id="104" name="TextBox 103"/>
            <p:cNvSpPr txBox="1"/>
            <p:nvPr/>
          </p:nvSpPr>
          <p:spPr>
            <a:xfrm>
              <a:off x="5410200" y="2743200"/>
              <a:ext cx="914400" cy="40011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pt-PT" b="1" dirty="0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105400" y="2895600"/>
              <a:ext cx="914400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800" b="1" dirty="0"/>
                <a:t>vec1</a:t>
              </a:r>
            </a:p>
          </p:txBody>
        </p:sp>
        <p:cxnSp>
          <p:nvCxnSpPr>
            <p:cNvPr id="106" name="Straight Connector 105"/>
            <p:cNvCxnSpPr/>
            <p:nvPr/>
          </p:nvCxnSpPr>
          <p:spPr bwMode="auto">
            <a:xfrm flipV="1">
              <a:off x="5105400" y="2743200"/>
              <a:ext cx="304800" cy="1524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7" name="Straight Connector 106"/>
            <p:cNvCxnSpPr/>
            <p:nvPr/>
          </p:nvCxnSpPr>
          <p:spPr bwMode="auto">
            <a:xfrm flipV="1">
              <a:off x="6019800" y="2743200"/>
              <a:ext cx="304800" cy="1524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8" name="Straight Connector 107"/>
            <p:cNvCxnSpPr/>
            <p:nvPr/>
          </p:nvCxnSpPr>
          <p:spPr bwMode="auto">
            <a:xfrm flipV="1">
              <a:off x="6019800" y="3124200"/>
              <a:ext cx="304800" cy="1524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cxnSp>
        <p:nvCxnSpPr>
          <p:cNvPr id="78" name="Shape 77"/>
          <p:cNvCxnSpPr>
            <a:stCxn id="89" idx="1"/>
            <a:endCxn id="105" idx="0"/>
          </p:cNvCxnSpPr>
          <p:nvPr/>
        </p:nvCxnSpPr>
        <p:spPr bwMode="auto">
          <a:xfrm rot="10800000" flipV="1">
            <a:off x="5639358" y="3429000"/>
            <a:ext cx="1675842" cy="228600"/>
          </a:xfrm>
          <a:prstGeom prst="bentConnector2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2" name="Rectangle 111"/>
          <p:cNvSpPr/>
          <p:nvPr/>
        </p:nvSpPr>
        <p:spPr bwMode="auto">
          <a:xfrm>
            <a:off x="7315200" y="3200400"/>
            <a:ext cx="990600" cy="152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3" name="Rectangle 112"/>
          <p:cNvSpPr/>
          <p:nvPr/>
        </p:nvSpPr>
        <p:spPr bwMode="auto">
          <a:xfrm>
            <a:off x="7315200" y="3505200"/>
            <a:ext cx="990600" cy="152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4" name="Rectangle 113"/>
          <p:cNvSpPr/>
          <p:nvPr/>
        </p:nvSpPr>
        <p:spPr bwMode="auto">
          <a:xfrm>
            <a:off x="7315200" y="3657600"/>
            <a:ext cx="990600" cy="152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19" name="Group 118"/>
          <p:cNvGrpSpPr/>
          <p:nvPr/>
        </p:nvGrpSpPr>
        <p:grpSpPr>
          <a:xfrm>
            <a:off x="5182158" y="5162490"/>
            <a:ext cx="1219200" cy="533400"/>
            <a:chOff x="5105400" y="2743200"/>
            <a:chExt cx="1219200" cy="533400"/>
          </a:xfrm>
        </p:grpSpPr>
        <p:sp>
          <p:nvSpPr>
            <p:cNvPr id="120" name="TextBox 119"/>
            <p:cNvSpPr txBox="1"/>
            <p:nvPr/>
          </p:nvSpPr>
          <p:spPr>
            <a:xfrm>
              <a:off x="5410200" y="2743200"/>
              <a:ext cx="914400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pt-PT" sz="1800" b="1" dirty="0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5105400" y="2895600"/>
              <a:ext cx="914400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800" b="1" dirty="0"/>
                <a:t>vec1</a:t>
              </a:r>
            </a:p>
          </p:txBody>
        </p:sp>
        <p:cxnSp>
          <p:nvCxnSpPr>
            <p:cNvPr id="122" name="Straight Connector 121"/>
            <p:cNvCxnSpPr/>
            <p:nvPr/>
          </p:nvCxnSpPr>
          <p:spPr bwMode="auto">
            <a:xfrm flipV="1">
              <a:off x="5105400" y="2743200"/>
              <a:ext cx="304800" cy="1524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3" name="Straight Connector 122"/>
            <p:cNvCxnSpPr/>
            <p:nvPr/>
          </p:nvCxnSpPr>
          <p:spPr bwMode="auto">
            <a:xfrm flipV="1">
              <a:off x="6019800" y="2743200"/>
              <a:ext cx="304800" cy="1524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4" name="Straight Connector 123"/>
            <p:cNvCxnSpPr/>
            <p:nvPr/>
          </p:nvCxnSpPr>
          <p:spPr bwMode="auto">
            <a:xfrm flipV="1">
              <a:off x="6019800" y="3124200"/>
              <a:ext cx="304800" cy="1524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cxnSp>
        <p:nvCxnSpPr>
          <p:cNvPr id="87" name="Elbow Connector 86"/>
          <p:cNvCxnSpPr>
            <a:stCxn id="42" idx="2"/>
            <a:endCxn id="121" idx="0"/>
          </p:cNvCxnSpPr>
          <p:nvPr/>
        </p:nvCxnSpPr>
        <p:spPr bwMode="auto">
          <a:xfrm rot="5400000">
            <a:off x="5440095" y="5095174"/>
            <a:ext cx="418980" cy="20453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6" name="Rectangle 125"/>
          <p:cNvSpPr/>
          <p:nvPr/>
        </p:nvSpPr>
        <p:spPr bwMode="auto">
          <a:xfrm>
            <a:off x="7315200" y="5181600"/>
            <a:ext cx="990600" cy="152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7" name="Rectangle 126"/>
          <p:cNvSpPr/>
          <p:nvPr/>
        </p:nvSpPr>
        <p:spPr bwMode="auto">
          <a:xfrm>
            <a:off x="7315200" y="5334000"/>
            <a:ext cx="990600" cy="152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8" name="Rectangle 127"/>
          <p:cNvSpPr/>
          <p:nvPr/>
        </p:nvSpPr>
        <p:spPr bwMode="auto">
          <a:xfrm>
            <a:off x="7315200" y="5486400"/>
            <a:ext cx="990600" cy="152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5" name="CaixaDeTexto 94"/>
          <p:cNvSpPr txBox="1"/>
          <p:nvPr/>
        </p:nvSpPr>
        <p:spPr>
          <a:xfrm>
            <a:off x="7392757" y="1783849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4 bytes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6035799" y="2054422"/>
            <a:ext cx="936475" cy="388443"/>
            <a:chOff x="6035799" y="2054422"/>
            <a:chExt cx="936475" cy="388443"/>
          </a:xfrm>
        </p:grpSpPr>
        <p:cxnSp>
          <p:nvCxnSpPr>
            <p:cNvPr id="7" name="Conexão recta 6"/>
            <p:cNvCxnSpPr/>
            <p:nvPr/>
          </p:nvCxnSpPr>
          <p:spPr bwMode="auto">
            <a:xfrm flipH="1">
              <a:off x="6419850" y="2286000"/>
              <a:ext cx="168374" cy="156865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" name="CaixaDeTexto 7"/>
            <p:cNvSpPr txBox="1"/>
            <p:nvPr/>
          </p:nvSpPr>
          <p:spPr>
            <a:xfrm>
              <a:off x="6035799" y="2054422"/>
              <a:ext cx="9364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N </a:t>
              </a:r>
              <a:r>
                <a:rPr lang="pt-PT" sz="14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words</a:t>
              </a:r>
              <a:endParaRPr lang="pt-PT" sz="14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96" name="Grupo 95"/>
          <p:cNvGrpSpPr/>
          <p:nvPr/>
        </p:nvGrpSpPr>
        <p:grpSpPr>
          <a:xfrm>
            <a:off x="6188199" y="3112565"/>
            <a:ext cx="936475" cy="388443"/>
            <a:chOff x="6035799" y="2054422"/>
            <a:chExt cx="936475" cy="388443"/>
          </a:xfrm>
        </p:grpSpPr>
        <p:cxnSp>
          <p:nvCxnSpPr>
            <p:cNvPr id="97" name="Conexão recta 96"/>
            <p:cNvCxnSpPr/>
            <p:nvPr/>
          </p:nvCxnSpPr>
          <p:spPr bwMode="auto">
            <a:xfrm flipH="1">
              <a:off x="6419850" y="2286000"/>
              <a:ext cx="168374" cy="156865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01" name="CaixaDeTexto 100"/>
            <p:cNvSpPr txBox="1"/>
            <p:nvPr/>
          </p:nvSpPr>
          <p:spPr>
            <a:xfrm>
              <a:off x="6035799" y="2054422"/>
              <a:ext cx="9364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N </a:t>
              </a:r>
              <a:r>
                <a:rPr lang="pt-PT" sz="14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words</a:t>
              </a:r>
              <a:endParaRPr lang="pt-PT" sz="14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09" name="Grupo 108"/>
          <p:cNvGrpSpPr/>
          <p:nvPr/>
        </p:nvGrpSpPr>
        <p:grpSpPr>
          <a:xfrm>
            <a:off x="5635775" y="5820818"/>
            <a:ext cx="936475" cy="437153"/>
            <a:chOff x="6019454" y="2286000"/>
            <a:chExt cx="936475" cy="437153"/>
          </a:xfrm>
        </p:grpSpPr>
        <p:cxnSp>
          <p:nvCxnSpPr>
            <p:cNvPr id="110" name="Conexão recta 109"/>
            <p:cNvCxnSpPr/>
            <p:nvPr/>
          </p:nvCxnSpPr>
          <p:spPr bwMode="auto">
            <a:xfrm flipH="1">
              <a:off x="6419850" y="2286000"/>
              <a:ext cx="168374" cy="156865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1" name="CaixaDeTexto 110"/>
            <p:cNvSpPr txBox="1"/>
            <p:nvPr/>
          </p:nvSpPr>
          <p:spPr>
            <a:xfrm>
              <a:off x="6019454" y="2415376"/>
              <a:ext cx="9364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N </a:t>
              </a:r>
              <a:r>
                <a:rPr lang="pt-PT" sz="14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words</a:t>
              </a:r>
              <a:endParaRPr lang="pt-PT" sz="14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25" name="Grupo 108"/>
          <p:cNvGrpSpPr/>
          <p:nvPr/>
        </p:nvGrpSpPr>
        <p:grpSpPr>
          <a:xfrm>
            <a:off x="4819996" y="4111823"/>
            <a:ext cx="589190" cy="312242"/>
            <a:chOff x="6419850" y="2130623"/>
            <a:chExt cx="589190" cy="312242"/>
          </a:xfrm>
        </p:grpSpPr>
        <p:cxnSp>
          <p:nvCxnSpPr>
            <p:cNvPr id="129" name="Conexão recta 109"/>
            <p:cNvCxnSpPr/>
            <p:nvPr/>
          </p:nvCxnSpPr>
          <p:spPr bwMode="auto">
            <a:xfrm flipH="1">
              <a:off x="6419850" y="2286000"/>
              <a:ext cx="168374" cy="156865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30" name="CaixaDeTexto 110"/>
            <p:cNvSpPr txBox="1"/>
            <p:nvPr/>
          </p:nvSpPr>
          <p:spPr>
            <a:xfrm>
              <a:off x="6502170" y="2130623"/>
              <a:ext cx="506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N w</a:t>
              </a:r>
            </a:p>
          </p:txBody>
        </p:sp>
      </p:grpSp>
      <p:grpSp>
        <p:nvGrpSpPr>
          <p:cNvPr id="131" name="Grupo 108"/>
          <p:cNvGrpSpPr/>
          <p:nvPr/>
        </p:nvGrpSpPr>
        <p:grpSpPr>
          <a:xfrm>
            <a:off x="5581996" y="3962400"/>
            <a:ext cx="589190" cy="312242"/>
            <a:chOff x="6419850" y="2130623"/>
            <a:chExt cx="589190" cy="312242"/>
          </a:xfrm>
        </p:grpSpPr>
        <p:cxnSp>
          <p:nvCxnSpPr>
            <p:cNvPr id="132" name="Conexão recta 109"/>
            <p:cNvCxnSpPr/>
            <p:nvPr/>
          </p:nvCxnSpPr>
          <p:spPr bwMode="auto">
            <a:xfrm flipH="1">
              <a:off x="6419850" y="2286000"/>
              <a:ext cx="168374" cy="156865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33" name="CaixaDeTexto 110"/>
            <p:cNvSpPr txBox="1"/>
            <p:nvPr/>
          </p:nvSpPr>
          <p:spPr>
            <a:xfrm>
              <a:off x="6502170" y="2130623"/>
              <a:ext cx="506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N w</a:t>
              </a:r>
            </a:p>
          </p:txBody>
        </p:sp>
      </p:grpSp>
      <p:grpSp>
        <p:nvGrpSpPr>
          <p:cNvPr id="134" name="Grupo 108"/>
          <p:cNvGrpSpPr/>
          <p:nvPr/>
        </p:nvGrpSpPr>
        <p:grpSpPr>
          <a:xfrm>
            <a:off x="5562600" y="4800600"/>
            <a:ext cx="589190" cy="312242"/>
            <a:chOff x="6419850" y="2130623"/>
            <a:chExt cx="589190" cy="312242"/>
          </a:xfrm>
        </p:grpSpPr>
        <p:cxnSp>
          <p:nvCxnSpPr>
            <p:cNvPr id="135" name="Conexão recta 109"/>
            <p:cNvCxnSpPr/>
            <p:nvPr/>
          </p:nvCxnSpPr>
          <p:spPr bwMode="auto">
            <a:xfrm flipH="1">
              <a:off x="6419850" y="2286000"/>
              <a:ext cx="168374" cy="156865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36" name="CaixaDeTexto 110"/>
            <p:cNvSpPr txBox="1"/>
            <p:nvPr/>
          </p:nvSpPr>
          <p:spPr>
            <a:xfrm>
              <a:off x="6502170" y="2130623"/>
              <a:ext cx="506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N w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9" grpId="0" animBg="1"/>
      <p:bldP spid="90" grpId="0" animBg="1"/>
      <p:bldP spid="91" grpId="0" animBg="1"/>
      <p:bldP spid="91" grpId="1" animBg="1"/>
      <p:bldP spid="92" grpId="0" animBg="1"/>
      <p:bldP spid="92" grpId="1" animBg="1"/>
      <p:bldP spid="93" grpId="0" animBg="1"/>
      <p:bldP spid="93" grpId="1" animBg="1"/>
      <p:bldP spid="94" grpId="0" animBg="1"/>
      <p:bldP spid="94" grpId="1" animBg="1"/>
      <p:bldP spid="75" grpId="0" animBg="1"/>
      <p:bldP spid="75" grpId="1" animBg="1"/>
      <p:bldP spid="77" grpId="0" animBg="1"/>
      <p:bldP spid="77" grpId="1" animBg="1"/>
      <p:bldP spid="80" grpId="0" animBg="1"/>
      <p:bldP spid="80" grpId="1" animBg="1"/>
      <p:bldP spid="112" grpId="0" animBg="1"/>
      <p:bldP spid="113" grpId="0" animBg="1"/>
      <p:bldP spid="114" grpId="0" animBg="1"/>
      <p:bldP spid="126" grpId="0" animBg="1"/>
      <p:bldP spid="127" grpId="0" animBg="1"/>
      <p:bldP spid="1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Processamento Vectorial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060848"/>
            <a:ext cx="8534400" cy="4035152"/>
          </a:xfrm>
        </p:spPr>
        <p:txBody>
          <a:bodyPr/>
          <a:lstStyle/>
          <a:p>
            <a:r>
              <a:rPr lang="pt-PT" b="1" dirty="0"/>
              <a:t>#I</a:t>
            </a:r>
            <a:r>
              <a:rPr lang="pt-PT" dirty="0"/>
              <a:t> – reduz, cada instrução processa </a:t>
            </a:r>
            <a:r>
              <a:rPr lang="pt-PT" b="1" dirty="0"/>
              <a:t>N</a:t>
            </a:r>
            <a:r>
              <a:rPr lang="pt-PT" dirty="0"/>
              <a:t> elementos de dados</a:t>
            </a:r>
            <a:endParaRPr lang="pt-PT" b="1" dirty="0"/>
          </a:p>
          <a:p>
            <a:endParaRPr lang="pt-PT" dirty="0"/>
          </a:p>
          <a:p>
            <a:r>
              <a:rPr lang="pt-PT" b="1" dirty="0"/>
              <a:t>CPI </a:t>
            </a:r>
          </a:p>
          <a:p>
            <a:pPr lvl="1">
              <a:spcAft>
                <a:spcPts val="600"/>
              </a:spcAft>
            </a:pPr>
            <a:r>
              <a:rPr lang="pt-PT" dirty="0"/>
              <a:t>as unidades funcionais </a:t>
            </a:r>
            <a:r>
              <a:rPr lang="pt-PT" dirty="0" err="1"/>
              <a:t>vectoriais</a:t>
            </a:r>
            <a:r>
              <a:rPr lang="pt-PT" dirty="0"/>
              <a:t> realizam as </a:t>
            </a:r>
            <a:r>
              <a:rPr lang="pt-PT" b="1" dirty="0"/>
              <a:t>N</a:t>
            </a:r>
            <a:r>
              <a:rPr lang="pt-PT" dirty="0"/>
              <a:t> operações em paralelo, contribuindo para </a:t>
            </a:r>
            <a:r>
              <a:rPr lang="pt-PT" b="1" dirty="0"/>
              <a:t>manter o CPI</a:t>
            </a:r>
          </a:p>
          <a:p>
            <a:pPr lvl="1"/>
            <a:r>
              <a:rPr lang="pt-PT" b="1" dirty="0"/>
              <a:t>mas </a:t>
            </a:r>
            <a:r>
              <a:rPr lang="pt-PT" dirty="0"/>
              <a:t>a quantidade de dados a transferir de e para a memória por unidade de tempo (por instrução / ciclo do relógio) aumenta, contribuindo para </a:t>
            </a:r>
            <a:r>
              <a:rPr lang="pt-PT" b="1" dirty="0"/>
              <a:t>aumentar o CPI</a:t>
            </a:r>
          </a:p>
          <a:p>
            <a:pPr marL="457200" lvl="1" indent="0">
              <a:buNone/>
            </a:pPr>
            <a:endParaRPr lang="pt-PT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5</a:t>
            </a:fld>
            <a:endParaRPr lang="pt-PT" altLang="pt-PT"/>
          </a:p>
        </p:txBody>
      </p:sp>
      <p:graphicFrame>
        <p:nvGraphicFramePr>
          <p:cNvPr id="7" name="Objecto 6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654886574"/>
              </p:ext>
            </p:extLst>
          </p:nvPr>
        </p:nvGraphicFramePr>
        <p:xfrm>
          <a:off x="2411760" y="1196752"/>
          <a:ext cx="3802063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180800" imgH="228600" progId="Equation.3">
                  <p:embed/>
                </p:oleObj>
              </mc:Choice>
              <mc:Fallback>
                <p:oleObj name="Equação" r:id="rId2" imgW="1180800" imgH="228600" progId="Equation.3">
                  <p:embed/>
                  <p:pic>
                    <p:nvPicPr>
                      <p:cNvPr id="7" name="Objecto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1196752"/>
                        <a:ext cx="3802063" cy="738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i="1" dirty="0">
                <a:latin typeface="Calibri" pitchFamily="-103" charset="0"/>
              </a:rPr>
              <a:t>Intel SSE</a:t>
            </a:r>
          </a:p>
        </p:txBody>
      </p:sp>
      <p:sp>
        <p:nvSpPr>
          <p:cNvPr id="6147" name="Marcador de Posição do Número do Diapositivo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47F5E9-FBFE-CB49-A9DD-82FCF478830E}" type="slidenum">
              <a:rPr lang="pt-PT"/>
              <a:pPr/>
              <a:t>6</a:t>
            </a:fld>
            <a:endParaRPr lang="pt-PT"/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sz="2000" dirty="0">
              <a:latin typeface="Calibri" pitchFamily="-103" charset="0"/>
            </a:endParaRPr>
          </a:p>
          <a:p>
            <a:pPr eaLnBrk="1" hangingPunct="1">
              <a:buFontTx/>
              <a:buNone/>
            </a:pPr>
            <a:r>
              <a:rPr lang="en-US" sz="2000" dirty="0">
                <a:latin typeface="Calibri" pitchFamily="-103" charset="0"/>
              </a:rPr>
              <a:t>1994 – Pentium II e Pentium with MMX – </a:t>
            </a:r>
            <a:r>
              <a:rPr lang="en-US" sz="2000" dirty="0" err="1">
                <a:latin typeface="Calibri" pitchFamily="-103" charset="0"/>
              </a:rPr>
              <a:t>MultiMedia</a:t>
            </a:r>
            <a:r>
              <a:rPr lang="en-US" sz="2000" dirty="0">
                <a:latin typeface="Calibri" pitchFamily="-103" charset="0"/>
              </a:rPr>
              <a:t> </a:t>
            </a:r>
            <a:r>
              <a:rPr lang="en-US" sz="2000" dirty="0" err="1">
                <a:latin typeface="Calibri" pitchFamily="-103" charset="0"/>
              </a:rPr>
              <a:t>eXtensions</a:t>
            </a:r>
            <a:br>
              <a:rPr lang="en-US" sz="2000" dirty="0">
                <a:latin typeface="Calibri" pitchFamily="-103" charset="0"/>
              </a:rPr>
            </a:br>
            <a:r>
              <a:rPr lang="en-US" sz="2000" dirty="0">
                <a:latin typeface="Calibri" pitchFamily="-103" charset="0"/>
              </a:rPr>
              <a:t>8 </a:t>
            </a:r>
            <a:r>
              <a:rPr lang="en-US" sz="2000" dirty="0" err="1">
                <a:latin typeface="Calibri" pitchFamily="-103" charset="0"/>
              </a:rPr>
              <a:t>registos</a:t>
            </a:r>
            <a:r>
              <a:rPr lang="en-US" sz="2000" dirty="0">
                <a:latin typeface="Calibri" pitchFamily="-103" charset="0"/>
              </a:rPr>
              <a:t> de 64 bits (%mm0 .. %mm7) que </a:t>
            </a:r>
            <a:r>
              <a:rPr lang="en-US" sz="2000" dirty="0" err="1">
                <a:latin typeface="Calibri" pitchFamily="-103" charset="0"/>
              </a:rPr>
              <a:t>mapeiam</a:t>
            </a:r>
            <a:r>
              <a:rPr lang="en-US" sz="2000" dirty="0">
                <a:latin typeface="Calibri" pitchFamily="-103" charset="0"/>
              </a:rPr>
              <a:t> </a:t>
            </a:r>
            <a:r>
              <a:rPr lang="en-US" sz="2000" dirty="0" err="1">
                <a:latin typeface="Calibri" pitchFamily="-103" charset="0"/>
              </a:rPr>
              <a:t>nos</a:t>
            </a:r>
            <a:r>
              <a:rPr lang="en-US" sz="2000" dirty="0">
                <a:latin typeface="Calibri" pitchFamily="-103" charset="0"/>
              </a:rPr>
              <a:t> </a:t>
            </a:r>
            <a:r>
              <a:rPr lang="en-US" sz="2000" dirty="0" err="1">
                <a:latin typeface="Calibri" pitchFamily="-103" charset="0"/>
              </a:rPr>
              <a:t>registos</a:t>
            </a:r>
            <a:r>
              <a:rPr lang="en-US" sz="2000" dirty="0">
                <a:latin typeface="Calibri" pitchFamily="-103" charset="0"/>
              </a:rPr>
              <a:t> de </a:t>
            </a:r>
            <a:r>
              <a:rPr lang="en-US" sz="2000" dirty="0" err="1">
                <a:latin typeface="Calibri" pitchFamily="-103" charset="0"/>
              </a:rPr>
              <a:t>vírgula</a:t>
            </a:r>
            <a:r>
              <a:rPr lang="en-US" sz="2000" dirty="0">
                <a:latin typeface="Calibri" pitchFamily="-103" charset="0"/>
              </a:rPr>
              <a:t> </a:t>
            </a:r>
            <a:r>
              <a:rPr lang="en-US" sz="2000" dirty="0" err="1">
                <a:latin typeface="Calibri" pitchFamily="-103" charset="0"/>
              </a:rPr>
              <a:t>flutuante</a:t>
            </a:r>
            <a:r>
              <a:rPr lang="en-US" sz="2000" dirty="0">
                <a:latin typeface="Calibri" pitchFamily="-103" charset="0"/>
              </a:rPr>
              <a:t> (%st0 .. %st7)  ;  </a:t>
            </a:r>
            <a:r>
              <a:rPr lang="en-US" sz="2000" dirty="0" err="1">
                <a:latin typeface="Calibri" pitchFamily="-103" charset="0"/>
              </a:rPr>
              <a:t>apenas</a:t>
            </a:r>
            <a:r>
              <a:rPr lang="en-US" sz="2000" dirty="0">
                <a:latin typeface="Calibri" pitchFamily="-103" charset="0"/>
              </a:rPr>
              <a:t> </a:t>
            </a:r>
            <a:r>
              <a:rPr lang="en-US" sz="2000" dirty="0" err="1">
                <a:latin typeface="Calibri" pitchFamily="-103" charset="0"/>
              </a:rPr>
              <a:t>operações</a:t>
            </a:r>
            <a:r>
              <a:rPr lang="en-US" sz="2000" dirty="0">
                <a:latin typeface="Calibri" pitchFamily="-103" charset="0"/>
              </a:rPr>
              <a:t> </a:t>
            </a:r>
            <a:r>
              <a:rPr lang="en-US" sz="2000" dirty="0" err="1">
                <a:latin typeface="Calibri" pitchFamily="-103" charset="0"/>
              </a:rPr>
              <a:t>sobre</a:t>
            </a:r>
            <a:r>
              <a:rPr lang="en-US" sz="2000" dirty="0">
                <a:latin typeface="Calibri" pitchFamily="-103" charset="0"/>
              </a:rPr>
              <a:t> </a:t>
            </a:r>
            <a:r>
              <a:rPr lang="en-US" sz="2000" dirty="0" err="1">
                <a:latin typeface="Calibri" pitchFamily="-103" charset="0"/>
              </a:rPr>
              <a:t>inteiros</a:t>
            </a:r>
            <a:endParaRPr lang="en-US" sz="2000" dirty="0">
              <a:latin typeface="Calibri" pitchFamily="-103" charset="0"/>
            </a:endParaRPr>
          </a:p>
          <a:p>
            <a:pPr eaLnBrk="1" hangingPunct="1">
              <a:buFontTx/>
              <a:buNone/>
            </a:pPr>
            <a:endParaRPr lang="en-US" sz="2000" dirty="0">
              <a:latin typeface="Calibri" pitchFamily="-103" charset="0"/>
            </a:endParaRPr>
          </a:p>
          <a:p>
            <a:pPr eaLnBrk="1" hangingPunct="1">
              <a:buFontTx/>
              <a:buNone/>
            </a:pPr>
            <a:r>
              <a:rPr lang="en-US" sz="2000" dirty="0">
                <a:latin typeface="Calibri" pitchFamily="-103" charset="0"/>
              </a:rPr>
              <a:t>1995 – </a:t>
            </a:r>
            <a:r>
              <a:rPr lang="en-US" sz="2000" dirty="0" err="1">
                <a:latin typeface="Calibri" pitchFamily="-103" charset="0"/>
              </a:rPr>
              <a:t>Introdução</a:t>
            </a:r>
            <a:r>
              <a:rPr lang="en-US" sz="2000" dirty="0">
                <a:latin typeface="Calibri" pitchFamily="-103" charset="0"/>
              </a:rPr>
              <a:t> de Streaming </a:t>
            </a:r>
            <a:r>
              <a:rPr lang="en-US" sz="2000" dirty="0" err="1">
                <a:latin typeface="Calibri" pitchFamily="-103" charset="0"/>
              </a:rPr>
              <a:t>Simd</a:t>
            </a:r>
            <a:r>
              <a:rPr lang="en-US" sz="2000" dirty="0">
                <a:latin typeface="Calibri" pitchFamily="-103" charset="0"/>
              </a:rPr>
              <a:t> Extensions (SSE) no Pentium III</a:t>
            </a:r>
            <a:br>
              <a:rPr lang="en-US" sz="2000" dirty="0">
                <a:latin typeface="Calibri" pitchFamily="-103" charset="0"/>
              </a:rPr>
            </a:br>
            <a:r>
              <a:rPr lang="en-US" sz="2000" dirty="0">
                <a:latin typeface="Calibri" pitchFamily="-103" charset="0"/>
              </a:rPr>
              <a:t>8 </a:t>
            </a:r>
            <a:r>
              <a:rPr lang="en-US" sz="2000" dirty="0" err="1">
                <a:latin typeface="Calibri" pitchFamily="-103" charset="0"/>
              </a:rPr>
              <a:t>novos</a:t>
            </a:r>
            <a:r>
              <a:rPr lang="en-US" sz="2000" dirty="0">
                <a:latin typeface="Calibri" pitchFamily="-103" charset="0"/>
              </a:rPr>
              <a:t> </a:t>
            </a:r>
            <a:r>
              <a:rPr lang="en-US" sz="2000" dirty="0" err="1">
                <a:latin typeface="Calibri" pitchFamily="-103" charset="0"/>
              </a:rPr>
              <a:t>registos</a:t>
            </a:r>
            <a:r>
              <a:rPr lang="en-US" sz="2000" dirty="0">
                <a:latin typeface="Calibri" pitchFamily="-103" charset="0"/>
              </a:rPr>
              <a:t> de 128 bits (%xmm0 .. %xmm7) e </a:t>
            </a:r>
            <a:r>
              <a:rPr lang="en-US" sz="2000" dirty="0" err="1">
                <a:latin typeface="Calibri" pitchFamily="-103" charset="0"/>
              </a:rPr>
              <a:t>operações</a:t>
            </a:r>
            <a:r>
              <a:rPr lang="en-US" sz="2000" dirty="0">
                <a:latin typeface="Calibri" pitchFamily="-103" charset="0"/>
              </a:rPr>
              <a:t> FP</a:t>
            </a:r>
          </a:p>
          <a:p>
            <a:pPr eaLnBrk="1" hangingPunct="1">
              <a:buFontTx/>
              <a:buNone/>
            </a:pPr>
            <a:endParaRPr lang="en-US" sz="2000" dirty="0">
              <a:latin typeface="Calibri" pitchFamily="-103" charset="0"/>
            </a:endParaRPr>
          </a:p>
          <a:p>
            <a:pPr eaLnBrk="1" hangingPunct="1">
              <a:buFontTx/>
              <a:buNone/>
            </a:pPr>
            <a:r>
              <a:rPr lang="en-US" sz="2000" dirty="0">
                <a:latin typeface="Calibri" pitchFamily="-103" charset="0"/>
              </a:rPr>
              <a:t>2000 – </a:t>
            </a:r>
            <a:r>
              <a:rPr lang="en-US" sz="2000" dirty="0" err="1">
                <a:latin typeface="Calibri" pitchFamily="-103" charset="0"/>
              </a:rPr>
              <a:t>Introdução</a:t>
            </a:r>
            <a:r>
              <a:rPr lang="en-US" sz="2000" dirty="0">
                <a:latin typeface="Calibri" pitchFamily="-103" charset="0"/>
              </a:rPr>
              <a:t> de SSE2 no Pentium IV</a:t>
            </a:r>
          </a:p>
          <a:p>
            <a:pPr eaLnBrk="1" hangingPunct="1">
              <a:buFontTx/>
              <a:buNone/>
            </a:pPr>
            <a:endParaRPr lang="en-US" sz="2000" dirty="0">
              <a:latin typeface="Calibri" pitchFamily="-103" charset="0"/>
            </a:endParaRPr>
          </a:p>
          <a:p>
            <a:pPr eaLnBrk="1" hangingPunct="1">
              <a:buFontTx/>
              <a:buNone/>
            </a:pPr>
            <a:r>
              <a:rPr lang="en-US" sz="2000" dirty="0">
                <a:latin typeface="Calibri" pitchFamily="-103" charset="0"/>
              </a:rPr>
              <a:t>2004 - </a:t>
            </a:r>
            <a:r>
              <a:rPr lang="en-US" sz="2000" dirty="0" err="1">
                <a:latin typeface="Calibri" pitchFamily="-103" charset="0"/>
              </a:rPr>
              <a:t>Introdução</a:t>
            </a:r>
            <a:r>
              <a:rPr lang="en-US" sz="2000" dirty="0">
                <a:latin typeface="Calibri" pitchFamily="-103" charset="0"/>
              </a:rPr>
              <a:t> de SSE3 no Pentium IV HT</a:t>
            </a:r>
          </a:p>
          <a:p>
            <a:pPr eaLnBrk="1" hangingPunct="1">
              <a:buFontTx/>
              <a:buNone/>
            </a:pPr>
            <a:endParaRPr lang="en-US" sz="2000" dirty="0">
              <a:latin typeface="Calibri" pitchFamily="-103" charset="0"/>
            </a:endParaRPr>
          </a:p>
          <a:p>
            <a:pPr eaLnBrk="1" hangingPunct="1">
              <a:buFontTx/>
              <a:buNone/>
            </a:pPr>
            <a:r>
              <a:rPr lang="en-US" sz="2000" dirty="0">
                <a:latin typeface="Calibri" pitchFamily="-103" charset="0"/>
              </a:rPr>
              <a:t>2007 - </a:t>
            </a:r>
            <a:r>
              <a:rPr lang="en-US" sz="2000" dirty="0" err="1">
                <a:latin typeface="Calibri" pitchFamily="-103" charset="0"/>
              </a:rPr>
              <a:t>Introdução</a:t>
            </a:r>
            <a:r>
              <a:rPr lang="en-US" sz="2000" dirty="0">
                <a:latin typeface="Calibri" pitchFamily="-103" charset="0"/>
              </a:rPr>
              <a:t> de SSE4</a:t>
            </a:r>
          </a:p>
          <a:p>
            <a:pPr eaLnBrk="1" hangingPunct="1">
              <a:buFontTx/>
              <a:buNone/>
            </a:pPr>
            <a:endParaRPr lang="en-US" sz="2000" dirty="0">
              <a:latin typeface="Calibri" pitchFamily="-103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Intel SSE  - </a:t>
            </a:r>
            <a:r>
              <a:rPr lang="pt-PT" dirty="0" err="1"/>
              <a:t>Streaming</a:t>
            </a:r>
            <a:r>
              <a:rPr lang="pt-PT" dirty="0"/>
              <a:t> SIMD </a:t>
            </a:r>
            <a:r>
              <a:rPr lang="pt-PT" dirty="0" err="1"/>
              <a:t>Extensions</a:t>
            </a:r>
            <a:r>
              <a:rPr lang="pt-PT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7</a:t>
            </a:fld>
            <a:endParaRPr lang="pt-PT" altLang="pt-PT"/>
          </a:p>
        </p:txBody>
      </p:sp>
      <p:grpSp>
        <p:nvGrpSpPr>
          <p:cNvPr id="8" name="Group 9"/>
          <p:cNvGrpSpPr>
            <a:grpSpLocks/>
          </p:cNvGrpSpPr>
          <p:nvPr/>
        </p:nvGrpSpPr>
        <p:grpSpPr bwMode="auto">
          <a:xfrm>
            <a:off x="4114800" y="3124200"/>
            <a:ext cx="4800600" cy="3016250"/>
            <a:chOff x="268" y="2216"/>
            <a:chExt cx="2941" cy="1753"/>
          </a:xfrm>
        </p:grpSpPr>
        <p:pic>
          <p:nvPicPr>
            <p:cNvPr id="11" name="Picture 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68" y="3725"/>
              <a:ext cx="2941" cy="2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68" y="2216"/>
              <a:ext cx="2941" cy="1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5410200" y="2743200"/>
            <a:ext cx="19637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err="1"/>
              <a:t>Tipos</a:t>
            </a:r>
            <a:r>
              <a:rPr lang="en-US" dirty="0"/>
              <a:t> de Dados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534400" cy="1219200"/>
          </a:xfrm>
        </p:spPr>
        <p:txBody>
          <a:bodyPr/>
          <a:lstStyle/>
          <a:p>
            <a:r>
              <a:rPr lang="pt-PT" sz="2400" dirty="0"/>
              <a:t>SSE adiciona à arquitectura Intel 8 registos de 128 </a:t>
            </a:r>
            <a:r>
              <a:rPr lang="pt-PT" sz="2400" i="1" dirty="0"/>
              <a:t>bits: %xmm0 .. %xmm7</a:t>
            </a:r>
          </a:p>
          <a:p>
            <a:r>
              <a:rPr lang="pt-PT" sz="2400" dirty="0"/>
              <a:t>adiciona ainda instruções para operar sobre vectores de vários tipos de dados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19400"/>
            <a:ext cx="3251200" cy="3251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Intel </a:t>
            </a:r>
            <a:r>
              <a:rPr lang="pt-PT" dirty="0" err="1"/>
              <a:t>Advanced</a:t>
            </a:r>
            <a:r>
              <a:rPr lang="pt-PT" dirty="0"/>
              <a:t> Vector </a:t>
            </a:r>
            <a:r>
              <a:rPr lang="pt-PT" dirty="0" err="1"/>
              <a:t>Extensions</a:t>
            </a:r>
            <a:r>
              <a:rPr lang="pt-PT" dirty="0"/>
              <a:t> (AVX)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08720"/>
            <a:ext cx="8534400" cy="2376264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pt-PT" sz="2000" dirty="0"/>
              <a:t>Intel AVX – 16 registos </a:t>
            </a:r>
            <a:r>
              <a:rPr lang="pt-PT" sz="2000" dirty="0">
                <a:latin typeface="Courier New"/>
                <a:cs typeface="Courier New"/>
              </a:rPr>
              <a:t>YMM0..YMM15 </a:t>
            </a:r>
            <a:r>
              <a:rPr lang="pt-PT" sz="2000" dirty="0"/>
              <a:t>de 256 </a:t>
            </a:r>
            <a:r>
              <a:rPr lang="pt-PT" sz="2000" i="1" dirty="0"/>
              <a:t>bits</a:t>
            </a:r>
            <a:br>
              <a:rPr lang="pt-PT" sz="2000" i="1" dirty="0"/>
            </a:br>
            <a:r>
              <a:rPr lang="pt-PT" sz="1800" i="1" dirty="0"/>
              <a:t>incluindo todas as operações e tipos de dados SSE, referido como AVX128</a:t>
            </a:r>
            <a:br>
              <a:rPr lang="pt-PT" sz="2000" i="1" dirty="0"/>
            </a:br>
            <a:r>
              <a:rPr lang="pt-PT" sz="1800" i="1" dirty="0"/>
              <a:t>(</a:t>
            </a:r>
            <a:r>
              <a:rPr lang="pt-PT" sz="1800" i="1" dirty="0" err="1"/>
              <a:t>Sandy</a:t>
            </a:r>
            <a:r>
              <a:rPr lang="pt-PT" sz="1800" i="1" dirty="0"/>
              <a:t> Bridge, 2011)</a:t>
            </a:r>
          </a:p>
          <a:p>
            <a:pPr>
              <a:spcAft>
                <a:spcPts val="600"/>
              </a:spcAft>
            </a:pPr>
            <a:r>
              <a:rPr lang="pt-PT" sz="2000" dirty="0"/>
              <a:t>Intel AVX2 – suporte para inteiros e </a:t>
            </a:r>
            <a:r>
              <a:rPr lang="pt-PT" sz="2000" i="1" dirty="0" err="1"/>
              <a:t>Fused-Multiply-Add</a:t>
            </a:r>
            <a:r>
              <a:rPr lang="pt-PT" sz="2000" i="1" dirty="0"/>
              <a:t> (FMA)</a:t>
            </a:r>
            <a:r>
              <a:rPr lang="pt-PT" sz="2000" dirty="0"/>
              <a:t> </a:t>
            </a:r>
            <a:br>
              <a:rPr lang="pt-PT" sz="2000" i="1" dirty="0"/>
            </a:br>
            <a:r>
              <a:rPr lang="pt-PT" sz="1800" i="1" dirty="0"/>
              <a:t>(</a:t>
            </a:r>
            <a:r>
              <a:rPr lang="pt-PT" sz="1800" i="1" dirty="0" err="1"/>
              <a:t>Haswell</a:t>
            </a:r>
            <a:r>
              <a:rPr lang="pt-PT" sz="1800" i="1" dirty="0"/>
              <a:t>, 2013)</a:t>
            </a:r>
            <a:endParaRPr lang="pt-PT" sz="2000" i="1" dirty="0"/>
          </a:p>
          <a:p>
            <a:r>
              <a:rPr lang="pt-PT" sz="2000" dirty="0"/>
              <a:t>Intel AVX512 – 32 registos </a:t>
            </a:r>
            <a:r>
              <a:rPr lang="pt-PT" sz="2000" dirty="0">
                <a:latin typeface="Courier New"/>
                <a:cs typeface="Courier New"/>
              </a:rPr>
              <a:t>ZMM0..ZMM31 </a:t>
            </a:r>
            <a:r>
              <a:rPr lang="pt-PT" sz="2000" dirty="0"/>
              <a:t>de 512 </a:t>
            </a:r>
            <a:r>
              <a:rPr lang="pt-PT" sz="2000" i="1" dirty="0"/>
              <a:t>bits</a:t>
            </a:r>
            <a:br>
              <a:rPr lang="pt-PT" sz="2400" i="1" dirty="0"/>
            </a:br>
            <a:r>
              <a:rPr lang="pt-PT" sz="1800" i="1" dirty="0"/>
              <a:t>(</a:t>
            </a:r>
            <a:r>
              <a:rPr lang="pt-PT" sz="1800" i="1" dirty="0" err="1"/>
              <a:t>Knights</a:t>
            </a:r>
            <a:r>
              <a:rPr lang="pt-PT" sz="1800" i="1" dirty="0"/>
              <a:t> </a:t>
            </a:r>
            <a:r>
              <a:rPr lang="pt-PT" sz="1800" i="1" dirty="0" err="1"/>
              <a:t>Landing</a:t>
            </a:r>
            <a:r>
              <a:rPr lang="pt-PT" sz="1800" i="1" dirty="0"/>
              <a:t>, </a:t>
            </a:r>
            <a:r>
              <a:rPr lang="pt-PT" sz="1800" i="1" dirty="0" err="1"/>
              <a:t>Xeon</a:t>
            </a:r>
            <a:r>
              <a:rPr lang="pt-PT" sz="1800" i="1" dirty="0"/>
              <a:t> </a:t>
            </a:r>
            <a:r>
              <a:rPr lang="pt-PT" sz="1800" i="1" dirty="0" err="1"/>
              <a:t>Phi</a:t>
            </a:r>
            <a:r>
              <a:rPr lang="pt-PT" sz="1800" i="1" dirty="0"/>
              <a:t>, </a:t>
            </a:r>
            <a:r>
              <a:rPr lang="pt-PT" sz="1800" i="1" dirty="0" err="1"/>
              <a:t>June</a:t>
            </a:r>
            <a:r>
              <a:rPr lang="pt-PT" sz="1800" i="1" dirty="0"/>
              <a:t>, 2016; Intel </a:t>
            </a:r>
            <a:r>
              <a:rPr lang="pt-PT" sz="1800" i="1" dirty="0" err="1"/>
              <a:t>Xeon</a:t>
            </a:r>
            <a:r>
              <a:rPr lang="pt-PT" sz="1800" i="1" dirty="0"/>
              <a:t> </a:t>
            </a:r>
            <a:r>
              <a:rPr lang="pt-PT" sz="1800" i="1" dirty="0" err="1"/>
              <a:t>Skylake</a:t>
            </a:r>
            <a:r>
              <a:rPr lang="pt-PT" sz="1800" i="1" dirty="0"/>
              <a:t>)</a:t>
            </a:r>
            <a:endParaRPr lang="pt-PT" sz="3200" i="1" dirty="0"/>
          </a:p>
          <a:p>
            <a:endParaRPr lang="pt-PT" sz="2400" i="1" dirty="0"/>
          </a:p>
          <a:p>
            <a:pPr>
              <a:buNone/>
            </a:pPr>
            <a:endParaRPr lang="pt-PT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8</a:t>
            </a:fld>
            <a:endParaRPr lang="pt-PT" altLang="pt-PT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14" y="3284984"/>
            <a:ext cx="5296172" cy="876345"/>
          </a:xfrm>
          <a:prstGeom prst="rect">
            <a:avLst/>
          </a:prstGeom>
        </p:spPr>
      </p:pic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644326"/>
              </p:ext>
            </p:extLst>
          </p:nvPr>
        </p:nvGraphicFramePr>
        <p:xfrm>
          <a:off x="1497634" y="4365104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pt-PT" b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YMMx</a:t>
                      </a:r>
                      <a:r>
                        <a:rPr lang="pt-PT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: 8 SPFP (ou</a:t>
                      </a:r>
                      <a:r>
                        <a:rPr lang="pt-PT" b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8 </a:t>
                      </a:r>
                      <a:r>
                        <a:rPr lang="pt-PT" b="0" baseline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int</a:t>
                      </a:r>
                      <a:r>
                        <a:rPr lang="pt-PT" b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se AVX2)</a:t>
                      </a:r>
                      <a:endParaRPr lang="pt-PT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alibri" panose="020F0502020204030204" pitchFamily="34" charset="0"/>
                        </a:rPr>
                        <a:t>SPFP7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alibri" panose="020F0502020204030204" pitchFamily="34" charset="0"/>
                        </a:rPr>
                        <a:t>SPFP6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alibri" panose="020F0502020204030204" pitchFamily="34" charset="0"/>
                        </a:rPr>
                        <a:t>SPFP5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alibri" panose="020F0502020204030204" pitchFamily="34" charset="0"/>
                        </a:rPr>
                        <a:t>SPFP4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alibri" panose="020F0502020204030204" pitchFamily="34" charset="0"/>
                        </a:rPr>
                        <a:t>SPFP3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alibri" panose="020F0502020204030204" pitchFamily="34" charset="0"/>
                        </a:rPr>
                        <a:t>SPFP2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alibri" panose="020F0502020204030204" pitchFamily="34" charset="0"/>
                        </a:rPr>
                        <a:t>SPFP1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alibri" panose="020F0502020204030204" pitchFamily="34" charset="0"/>
                        </a:rPr>
                        <a:t>SPFP0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b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YMMx</a:t>
                      </a:r>
                      <a:r>
                        <a:rPr lang="pt-PT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: 4 DPFP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alibri" panose="020F0502020204030204" pitchFamily="34" charset="0"/>
                        </a:rPr>
                        <a:t>DPFP3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PT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alibri" panose="020F0502020204030204" pitchFamily="34" charset="0"/>
                        </a:rPr>
                        <a:t>DPFP2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PT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alibri" panose="020F0502020204030204" pitchFamily="34" charset="0"/>
                        </a:rPr>
                        <a:t>DPFP1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PT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alibri" panose="020F0502020204030204" pitchFamily="34" charset="0"/>
                        </a:rPr>
                        <a:t>DPFP0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PT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 pitchFamily="-103" charset="0"/>
              </a:rPr>
              <a:t>Instruções</a:t>
            </a:r>
            <a:r>
              <a:rPr lang="en-US" dirty="0">
                <a:latin typeface="Calibri" pitchFamily="-103" charset="0"/>
              </a:rPr>
              <a:t> AVX: </a:t>
            </a:r>
            <a:r>
              <a:rPr lang="en-US" dirty="0" err="1">
                <a:latin typeface="Calibri" pitchFamily="-103" charset="0"/>
              </a:rPr>
              <a:t>Notação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pt-PT" sz="1800" noProof="0" dirty="0"/>
              <a:t>O AVX introduz a notação de 3 operandos, previamente inexistente no x86:</a:t>
            </a:r>
          </a:p>
          <a:p>
            <a:pPr lvl="1">
              <a:spcAft>
                <a:spcPts val="600"/>
              </a:spcAft>
            </a:pPr>
            <a:r>
              <a:rPr lang="pt-PT" sz="1600" noProof="0" dirty="0"/>
              <a:t>0 operandos: </a:t>
            </a:r>
            <a:r>
              <a:rPr lang="pt-PT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ADD  </a:t>
            </a:r>
            <a:r>
              <a:rPr lang="pt-PT" sz="1800" noProof="0" dirty="0"/>
              <a:t>- operandos no topo da </a:t>
            </a:r>
            <a:r>
              <a:rPr lang="pt-PT" sz="1800" noProof="0" dirty="0" err="1"/>
              <a:t>stack</a:t>
            </a:r>
            <a:endParaRPr lang="pt-PT" sz="1800" noProof="0" dirty="0"/>
          </a:p>
          <a:p>
            <a:pPr lvl="1">
              <a:spcAft>
                <a:spcPts val="600"/>
              </a:spcAft>
            </a:pPr>
            <a:r>
              <a:rPr lang="pt-PT" sz="1600" noProof="0" dirty="0"/>
              <a:t>1 operando: </a:t>
            </a:r>
            <a:r>
              <a:rPr lang="pt-PT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ADD &lt;op1&gt; </a:t>
            </a:r>
            <a:r>
              <a:rPr lang="pt-PT" sz="1800" noProof="0" dirty="0"/>
              <a:t>- usa implicitamente um registo: o acumulador</a:t>
            </a:r>
          </a:p>
          <a:p>
            <a:pPr lvl="1">
              <a:spcAft>
                <a:spcPts val="600"/>
              </a:spcAft>
            </a:pPr>
            <a:r>
              <a:rPr lang="pt-PT" sz="1600" dirty="0"/>
              <a:t>2</a:t>
            </a:r>
            <a:r>
              <a:rPr lang="pt-PT" sz="1600" noProof="0" dirty="0"/>
              <a:t> operandos: </a:t>
            </a:r>
            <a:r>
              <a:rPr lang="pt-PT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ADD &lt;op1&gt;, &lt;op2&gt; </a:t>
            </a:r>
            <a:r>
              <a:rPr lang="pt-PT" sz="1800" noProof="0" dirty="0"/>
              <a:t>- x86: </a:t>
            </a:r>
            <a:r>
              <a:rPr lang="pt-PT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&lt;op2&gt; = &lt;op2&gt; + &lt;op1&gt;</a:t>
            </a:r>
          </a:p>
          <a:p>
            <a:pPr lvl="1">
              <a:spcAft>
                <a:spcPts val="600"/>
              </a:spcAft>
            </a:pPr>
            <a:r>
              <a:rPr lang="pt-PT" sz="1600" noProof="0" dirty="0"/>
              <a:t>3 operandos: </a:t>
            </a:r>
            <a:r>
              <a:rPr lang="pt-PT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ADD &lt;op1&gt;, &lt;op2&gt;, &lt;op3&gt; </a:t>
            </a:r>
            <a:r>
              <a:rPr lang="pt-PT" sz="1800" noProof="0" dirty="0"/>
              <a:t>- RISC, AVX: </a:t>
            </a:r>
            <a:r>
              <a:rPr lang="pt-PT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&lt;op3&gt; =&lt;op2&gt; +&lt;op1&gt;</a:t>
            </a:r>
          </a:p>
          <a:p>
            <a:pPr marL="457200" lvl="1" indent="0">
              <a:spcAft>
                <a:spcPts val="600"/>
              </a:spcAft>
              <a:buNone/>
            </a:pPr>
            <a:endParaRPr lang="pt-PT" sz="800" noProof="0" dirty="0"/>
          </a:p>
          <a:p>
            <a:pPr>
              <a:spcBef>
                <a:spcPts val="1032"/>
              </a:spcBef>
              <a:spcAft>
                <a:spcPts val="600"/>
              </a:spcAft>
            </a:pPr>
            <a:r>
              <a:rPr lang="pt-PT" sz="1800" noProof="0" dirty="0"/>
              <a:t>A operação de adição (</a:t>
            </a:r>
            <a:r>
              <a:rPr lang="pt-PT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pt-PT" sz="1800" noProof="0" dirty="0"/>
              <a:t>) é usada como exemplo</a:t>
            </a:r>
          </a:p>
          <a:p>
            <a:pPr>
              <a:spcAft>
                <a:spcPts val="600"/>
              </a:spcAft>
            </a:pPr>
            <a:r>
              <a:rPr lang="pt-PT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pt-PT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xmm</a:t>
            </a:r>
            <a:r>
              <a:rPr lang="pt-PT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? </a:t>
            </a:r>
            <a:r>
              <a:rPr lang="pt-PT" sz="1800" noProof="0" dirty="0"/>
              <a:t>registos de 128 </a:t>
            </a:r>
            <a:r>
              <a:rPr lang="pt-PT" sz="1800" i="1" noProof="0" dirty="0"/>
              <a:t>bits</a:t>
            </a:r>
            <a:r>
              <a:rPr lang="pt-PT" sz="1800" noProof="0" dirty="0"/>
              <a:t>, </a:t>
            </a:r>
            <a:r>
              <a:rPr lang="pt-PT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pt-PT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ymm</a:t>
            </a:r>
            <a:r>
              <a:rPr lang="pt-PT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? </a:t>
            </a:r>
            <a:r>
              <a:rPr lang="pt-PT" sz="1800" noProof="0" dirty="0"/>
              <a:t>registos de 256 </a:t>
            </a:r>
            <a:r>
              <a:rPr lang="pt-PT" sz="1800" i="1" noProof="0" dirty="0"/>
              <a:t>bits</a:t>
            </a:r>
            <a:r>
              <a:rPr lang="pt-PT" sz="1800" noProof="0" dirty="0"/>
              <a:t> , </a:t>
            </a:r>
            <a:r>
              <a:rPr lang="pt-PT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pt-PT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lang="pt-PT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mm? </a:t>
            </a:r>
            <a:r>
              <a:rPr lang="pt-PT" sz="1800" noProof="0" dirty="0"/>
              <a:t>registos de 512 </a:t>
            </a:r>
            <a:r>
              <a:rPr lang="pt-PT" sz="1800" i="1" noProof="0" dirty="0"/>
              <a:t>bits</a:t>
            </a:r>
            <a:r>
              <a:rPr lang="pt-PT" sz="1800" noProof="0" dirty="0"/>
              <a:t> </a:t>
            </a:r>
          </a:p>
          <a:p>
            <a:pPr>
              <a:spcAft>
                <a:spcPts val="600"/>
              </a:spcAft>
            </a:pPr>
            <a:r>
              <a:rPr lang="pt-PT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m128,</a:t>
            </a:r>
            <a:r>
              <a:rPr lang="pt-PT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PT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m256, m512 </a:t>
            </a:r>
            <a:r>
              <a:rPr lang="pt-PT" sz="1800" noProof="0" dirty="0"/>
              <a:t>referem operandos em </a:t>
            </a:r>
            <a:r>
              <a:rPr lang="pt-PT" sz="1800" noProof="0" dirty="0" err="1"/>
              <a:t>mem</a:t>
            </a:r>
            <a:r>
              <a:rPr lang="pt-PT" sz="1800" dirty="0"/>
              <a:t>ó</a:t>
            </a:r>
            <a:r>
              <a:rPr lang="pt-PT" sz="1800" noProof="0" dirty="0"/>
              <a:t>ria: 128, 256 e 512 </a:t>
            </a:r>
            <a:r>
              <a:rPr lang="pt-PT" sz="1800" i="1" noProof="0" dirty="0"/>
              <a:t>bits</a:t>
            </a:r>
            <a:endParaRPr lang="pt-PT" sz="1800" noProof="0" dirty="0"/>
          </a:p>
          <a:p>
            <a:pPr>
              <a:spcAft>
                <a:spcPts val="600"/>
              </a:spcAft>
            </a:pPr>
            <a:r>
              <a:rPr lang="pt-PT" sz="1800" noProof="0" dirty="0"/>
              <a:t>Instruções AVX com o prefixo </a:t>
            </a:r>
            <a:r>
              <a:rPr lang="pt-PT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pt-PT" sz="1800" noProof="0" dirty="0"/>
              <a:t> usam  o formato de três operandos:</a:t>
            </a:r>
          </a:p>
          <a:p>
            <a:pPr lvl="1">
              <a:spcAft>
                <a:spcPts val="600"/>
              </a:spcAft>
            </a:pPr>
            <a:r>
              <a:rPr lang="pt-PT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VADDPS %[</a:t>
            </a:r>
            <a:r>
              <a:rPr lang="pt-PT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x|y|z</a:t>
            </a:r>
            <a:r>
              <a:rPr lang="pt-PT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]mm?, %[</a:t>
            </a:r>
            <a:r>
              <a:rPr lang="pt-PT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x|y|z</a:t>
            </a:r>
            <a:r>
              <a:rPr lang="pt-PT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]mm? / m[128|256|512], %[</a:t>
            </a:r>
            <a:r>
              <a:rPr lang="pt-PT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x|y|z</a:t>
            </a:r>
            <a:r>
              <a:rPr lang="pt-PT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]mm? </a:t>
            </a:r>
            <a:endParaRPr lang="pt-PT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spcAft>
                <a:spcPts val="600"/>
              </a:spcAft>
            </a:pPr>
            <a:r>
              <a:rPr lang="pt-PT" sz="1200" noProof="0" dirty="0"/>
              <a:t>adiciona os 2 operandos da esquerda guarda o resultado no operando da </a:t>
            </a:r>
            <a:r>
              <a:rPr lang="pt-PT" sz="1200" b="1" noProof="0" dirty="0"/>
              <a:t>DIREITA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9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468858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 pitchFamily="-103" charset="0"/>
              </a:rPr>
              <a:t>Instruções</a:t>
            </a:r>
            <a:r>
              <a:rPr lang="en-US" dirty="0">
                <a:latin typeface="Calibri" pitchFamily="-103" charset="0"/>
              </a:rPr>
              <a:t> AVX: </a:t>
            </a:r>
            <a:r>
              <a:rPr lang="en-US" dirty="0" err="1">
                <a:latin typeface="Calibri" pitchFamily="-103" charset="0"/>
              </a:rPr>
              <a:t>Notação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 err="1"/>
              <a:t>Instruções</a:t>
            </a:r>
            <a:r>
              <a:rPr lang="en-US" sz="1800" dirty="0"/>
              <a:t> com o </a:t>
            </a:r>
            <a:r>
              <a:rPr lang="en-US" sz="1800" dirty="0" err="1"/>
              <a:t>sufixo</a:t>
            </a:r>
            <a:r>
              <a:rPr lang="en-US" sz="1800" dirty="0"/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1800" dirty="0"/>
              <a:t> </a:t>
            </a:r>
            <a:r>
              <a:rPr lang="en-US" sz="1800" dirty="0" err="1"/>
              <a:t>operam</a:t>
            </a:r>
            <a:r>
              <a:rPr lang="en-US" sz="1800" dirty="0"/>
              <a:t> </a:t>
            </a:r>
            <a:r>
              <a:rPr lang="en-US" sz="1800" dirty="0" err="1"/>
              <a:t>sobre</a:t>
            </a:r>
            <a:r>
              <a:rPr lang="en-US" sz="1800" dirty="0"/>
              <a:t> </a:t>
            </a:r>
            <a:r>
              <a:rPr lang="en-US" sz="1800" dirty="0" err="1"/>
              <a:t>valores</a:t>
            </a:r>
            <a:r>
              <a:rPr lang="en-US" sz="1800" dirty="0"/>
              <a:t> </a:t>
            </a:r>
            <a:r>
              <a:rPr lang="en-US" sz="1800" dirty="0" err="1"/>
              <a:t>em</a:t>
            </a:r>
            <a:r>
              <a:rPr lang="en-US" sz="1800" dirty="0"/>
              <a:t> </a:t>
            </a:r>
            <a:r>
              <a:rPr lang="en-US" sz="1800" dirty="0" err="1"/>
              <a:t>vírgula</a:t>
            </a:r>
            <a:r>
              <a:rPr lang="en-US" sz="1800" dirty="0"/>
              <a:t> </a:t>
            </a:r>
            <a:r>
              <a:rPr lang="en-US" sz="1800" dirty="0" err="1"/>
              <a:t>flutuante</a:t>
            </a:r>
            <a:r>
              <a:rPr lang="en-US" sz="1800" dirty="0"/>
              <a:t> </a:t>
            </a:r>
            <a:r>
              <a:rPr lang="en-US" sz="1800" dirty="0" err="1"/>
              <a:t>precisão</a:t>
            </a:r>
            <a:r>
              <a:rPr lang="en-US" sz="1800" dirty="0"/>
              <a:t> simples; o </a:t>
            </a:r>
            <a:r>
              <a:rPr lang="en-US" sz="1800" dirty="0" err="1"/>
              <a:t>sufixo</a:t>
            </a:r>
            <a:r>
              <a:rPr lang="en-US" sz="1800" dirty="0"/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sz="1800" dirty="0"/>
              <a:t> </a:t>
            </a:r>
            <a:r>
              <a:rPr lang="en-US" sz="1800" dirty="0" err="1"/>
              <a:t>indica</a:t>
            </a:r>
            <a:r>
              <a:rPr lang="en-US" sz="1800" dirty="0"/>
              <a:t> </a:t>
            </a:r>
            <a:r>
              <a:rPr lang="en-US" sz="1800" dirty="0" err="1"/>
              <a:t>vírgula</a:t>
            </a:r>
            <a:r>
              <a:rPr lang="en-US" sz="1800" dirty="0"/>
              <a:t> </a:t>
            </a:r>
            <a:r>
              <a:rPr lang="en-US" sz="1800" dirty="0" err="1"/>
              <a:t>flutuante</a:t>
            </a:r>
            <a:r>
              <a:rPr lang="en-US" sz="1800" dirty="0"/>
              <a:t> </a:t>
            </a:r>
            <a:r>
              <a:rPr lang="en-US" sz="1800" dirty="0" err="1"/>
              <a:t>precisão</a:t>
            </a:r>
            <a:r>
              <a:rPr lang="en-US" sz="1800" dirty="0"/>
              <a:t> </a:t>
            </a:r>
            <a:r>
              <a:rPr lang="en-US" sz="1800" dirty="0" err="1"/>
              <a:t>dupla</a:t>
            </a:r>
            <a:r>
              <a:rPr lang="en-US" sz="1800" dirty="0"/>
              <a:t>:</a:t>
            </a:r>
          </a:p>
          <a:p>
            <a:pPr lvl="1">
              <a:spcAft>
                <a:spcPts val="60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VADDP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?, 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? / m256, 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? </a:t>
            </a:r>
            <a:r>
              <a:rPr lang="en-US" sz="1600" dirty="0"/>
              <a:t>– </a:t>
            </a:r>
            <a:r>
              <a:rPr lang="en-US" sz="1600" dirty="0" err="1"/>
              <a:t>realiza</a:t>
            </a:r>
            <a:r>
              <a:rPr lang="en-US" sz="1600" dirty="0"/>
              <a:t> </a:t>
            </a:r>
            <a:r>
              <a:rPr lang="en-US" sz="1600" b="1" dirty="0"/>
              <a:t>8 </a:t>
            </a:r>
            <a:r>
              <a:rPr lang="en-US" sz="1600" dirty="0" err="1"/>
              <a:t>operações</a:t>
            </a:r>
            <a:r>
              <a:rPr lang="en-US" sz="1600" dirty="0"/>
              <a:t> </a:t>
            </a:r>
            <a:r>
              <a:rPr lang="en-US" sz="1600" dirty="0" err="1"/>
              <a:t>em</a:t>
            </a:r>
            <a:r>
              <a:rPr lang="en-US" sz="1600" dirty="0"/>
              <a:t> </a:t>
            </a:r>
            <a:r>
              <a:rPr lang="en-US" sz="1600" b="1" dirty="0"/>
              <a:t>SP</a:t>
            </a:r>
            <a:r>
              <a:rPr lang="en-US" sz="1600" dirty="0"/>
              <a:t>FP</a:t>
            </a:r>
          </a:p>
          <a:p>
            <a:pPr lvl="1">
              <a:spcAft>
                <a:spcPts val="60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VADDP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?, 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? / m256, 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? </a:t>
            </a:r>
            <a:r>
              <a:rPr lang="en-US" sz="1600" dirty="0"/>
              <a:t>– </a:t>
            </a:r>
            <a:r>
              <a:rPr lang="en-US" sz="1600" dirty="0" err="1"/>
              <a:t>realiza</a:t>
            </a:r>
            <a:r>
              <a:rPr lang="en-US" sz="1600" dirty="0"/>
              <a:t> </a:t>
            </a:r>
            <a:r>
              <a:rPr lang="en-US" sz="1600" b="1" dirty="0"/>
              <a:t>4 </a:t>
            </a:r>
            <a:r>
              <a:rPr lang="en-US" sz="1600" dirty="0" err="1"/>
              <a:t>operações</a:t>
            </a:r>
            <a:r>
              <a:rPr lang="en-US" sz="1600" dirty="0"/>
              <a:t> </a:t>
            </a:r>
            <a:r>
              <a:rPr lang="en-US" sz="1600" dirty="0" err="1"/>
              <a:t>em</a:t>
            </a:r>
            <a:r>
              <a:rPr lang="en-US" sz="1600" dirty="0"/>
              <a:t> </a:t>
            </a:r>
            <a:r>
              <a:rPr lang="en-US" sz="1600" b="1" dirty="0"/>
              <a:t>DP</a:t>
            </a:r>
            <a:r>
              <a:rPr lang="en-US" sz="1600" dirty="0"/>
              <a:t>FP</a:t>
            </a:r>
          </a:p>
          <a:p>
            <a:pPr>
              <a:spcAft>
                <a:spcPts val="600"/>
              </a:spcAft>
            </a:pPr>
            <a:r>
              <a:rPr lang="en-US" sz="1800" dirty="0" err="1"/>
              <a:t>Muitas</a:t>
            </a:r>
            <a:r>
              <a:rPr lang="en-US" sz="1800" dirty="0"/>
              <a:t> </a:t>
            </a:r>
            <a:r>
              <a:rPr lang="en-US" sz="1800" dirty="0" err="1"/>
              <a:t>instruções</a:t>
            </a:r>
            <a:r>
              <a:rPr lang="en-US" sz="1800" dirty="0"/>
              <a:t> </a:t>
            </a:r>
            <a:r>
              <a:rPr lang="en-US" sz="1800" dirty="0" err="1"/>
              <a:t>admitem</a:t>
            </a:r>
            <a:r>
              <a:rPr lang="en-US" sz="1800" dirty="0"/>
              <a:t> a forma </a:t>
            </a:r>
            <a:r>
              <a:rPr lang="en-US" sz="1800" dirty="0" err="1"/>
              <a:t>escalar</a:t>
            </a:r>
            <a:r>
              <a:rPr lang="en-US" sz="1800" dirty="0"/>
              <a:t>, </a:t>
            </a:r>
            <a:r>
              <a:rPr lang="en-US" sz="1800" dirty="0" err="1"/>
              <a:t>isto</a:t>
            </a:r>
            <a:r>
              <a:rPr lang="en-US" sz="1800" dirty="0"/>
              <a:t> é, </a:t>
            </a:r>
            <a:r>
              <a:rPr lang="en-US" sz="1800" dirty="0" err="1"/>
              <a:t>apenas</a:t>
            </a:r>
            <a:r>
              <a:rPr lang="en-US" sz="1800" dirty="0"/>
              <a:t> </a:t>
            </a:r>
            <a:r>
              <a:rPr lang="en-US" sz="1800" dirty="0" err="1"/>
              <a:t>realizam</a:t>
            </a:r>
            <a:r>
              <a:rPr lang="en-US" sz="1800" dirty="0"/>
              <a:t> </a:t>
            </a:r>
            <a:r>
              <a:rPr lang="en-US" sz="1800" b="1" dirty="0"/>
              <a:t>UMA</a:t>
            </a:r>
            <a:r>
              <a:rPr lang="en-US" sz="1800" dirty="0"/>
              <a:t> </a:t>
            </a:r>
            <a:r>
              <a:rPr lang="en-US" sz="1800" dirty="0" err="1"/>
              <a:t>operação</a:t>
            </a:r>
            <a:r>
              <a:rPr lang="en-US" sz="1800" dirty="0"/>
              <a:t> </a:t>
            </a:r>
            <a:r>
              <a:rPr lang="en-US" sz="1800" dirty="0" err="1"/>
              <a:t>sobre</a:t>
            </a:r>
            <a:r>
              <a:rPr lang="en-US" sz="1800" dirty="0"/>
              <a:t> o valor </a:t>
            </a:r>
            <a:r>
              <a:rPr lang="en-US" sz="1800" dirty="0" err="1"/>
              <a:t>armazenado</a:t>
            </a:r>
            <a:r>
              <a:rPr lang="en-US" sz="1800" dirty="0"/>
              <a:t> </a:t>
            </a:r>
            <a:r>
              <a:rPr lang="en-US" sz="1800" dirty="0" err="1"/>
              <a:t>nos</a:t>
            </a:r>
            <a:r>
              <a:rPr lang="en-US" sz="1800" dirty="0"/>
              <a:t> </a:t>
            </a:r>
            <a:r>
              <a:rPr lang="en-US" sz="1800" i="1" dirty="0"/>
              <a:t>bits </a:t>
            </a:r>
            <a:r>
              <a:rPr lang="en-US" sz="1800" dirty="0" err="1"/>
              <a:t>menos</a:t>
            </a:r>
            <a:r>
              <a:rPr lang="en-US" sz="1800" dirty="0"/>
              <a:t> </a:t>
            </a:r>
            <a:r>
              <a:rPr lang="en-US" sz="1800" dirty="0" err="1"/>
              <a:t>significativos</a:t>
            </a:r>
            <a:r>
              <a:rPr lang="en-US" sz="1800" dirty="0"/>
              <a:t> dos </a:t>
            </a:r>
            <a:r>
              <a:rPr lang="en-US" sz="1800" dirty="0" err="1"/>
              <a:t>operandos</a:t>
            </a:r>
            <a:r>
              <a:rPr lang="en-US" sz="1800" dirty="0"/>
              <a:t>.	</a:t>
            </a:r>
            <a:br>
              <a:rPr lang="en-US" sz="1800" dirty="0"/>
            </a:br>
            <a:r>
              <a:rPr lang="en-US" sz="1800" dirty="0"/>
              <a:t>O </a:t>
            </a:r>
            <a:r>
              <a:rPr lang="en-US" sz="1800" dirty="0" err="1"/>
              <a:t>penúltimo</a:t>
            </a:r>
            <a:r>
              <a:rPr lang="en-US" sz="1800" dirty="0"/>
              <a:t> </a:t>
            </a:r>
            <a:r>
              <a:rPr lang="en-US" sz="1800" dirty="0" err="1"/>
              <a:t>caracter</a:t>
            </a:r>
            <a:r>
              <a:rPr lang="en-US" sz="1800" dirty="0"/>
              <a:t> </a:t>
            </a:r>
            <a:r>
              <a:rPr lang="en-US" sz="1800" dirty="0" err="1"/>
              <a:t>pode</a:t>
            </a:r>
            <a:r>
              <a:rPr lang="en-US" sz="1800" dirty="0"/>
              <a:t> </a:t>
            </a:r>
            <a:r>
              <a:rPr lang="en-US" sz="1800" dirty="0" err="1"/>
              <a:t>tomar</a:t>
            </a:r>
            <a:r>
              <a:rPr lang="en-US" sz="1800" dirty="0"/>
              <a:t> </a:t>
            </a:r>
            <a:r>
              <a:rPr lang="en-US" sz="1800" dirty="0" err="1"/>
              <a:t>os</a:t>
            </a:r>
            <a:r>
              <a:rPr lang="en-US" sz="1800" dirty="0"/>
              <a:t> </a:t>
            </a:r>
            <a:r>
              <a:rPr lang="en-US" sz="1800" dirty="0" err="1"/>
              <a:t>valores</a:t>
            </a:r>
            <a:r>
              <a:rPr lang="en-US" sz="1800" dirty="0"/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1800" dirty="0"/>
              <a:t> </a:t>
            </a:r>
            <a:r>
              <a:rPr lang="en-US" sz="1800" dirty="0" err="1"/>
              <a:t>ou</a:t>
            </a:r>
            <a:r>
              <a:rPr lang="en-US" sz="1800" dirty="0"/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800" dirty="0"/>
              <a:t>, para </a:t>
            </a:r>
            <a:r>
              <a:rPr lang="en-US" sz="1800" dirty="0" err="1"/>
              <a:t>indicar</a:t>
            </a:r>
            <a:r>
              <a:rPr lang="en-US" sz="1800" dirty="0"/>
              <a:t> </a:t>
            </a:r>
            <a:r>
              <a:rPr lang="en-US" sz="1800" dirty="0" err="1"/>
              <a:t>operação</a:t>
            </a:r>
            <a:r>
              <a:rPr lang="en-US" sz="1800" dirty="0"/>
              <a:t> </a:t>
            </a:r>
            <a:r>
              <a:rPr lang="en-US" sz="1800" dirty="0" err="1"/>
              <a:t>escalar</a:t>
            </a:r>
            <a:r>
              <a:rPr lang="en-US" sz="1800" dirty="0"/>
              <a:t> (</a:t>
            </a:r>
            <a:r>
              <a:rPr lang="en-US" sz="1800" b="1" dirty="0"/>
              <a:t>UMA ÚNICA OPERAÇÃO</a:t>
            </a:r>
            <a:r>
              <a:rPr lang="en-US" sz="1800" dirty="0"/>
              <a:t>) </a:t>
            </a:r>
            <a:r>
              <a:rPr lang="en-US" sz="1800" dirty="0" err="1"/>
              <a:t>ou</a:t>
            </a:r>
            <a:r>
              <a:rPr lang="en-US" sz="1800" dirty="0"/>
              <a:t> </a:t>
            </a:r>
            <a:r>
              <a:rPr lang="en-US" sz="1800" dirty="0" err="1"/>
              <a:t>vectorial</a:t>
            </a:r>
            <a:r>
              <a:rPr lang="en-US" sz="1800" dirty="0"/>
              <a:t>, </a:t>
            </a:r>
            <a:r>
              <a:rPr lang="en-US" sz="1800" dirty="0" err="1"/>
              <a:t>respectivamente</a:t>
            </a:r>
            <a:r>
              <a:rPr lang="en-US" sz="1800" dirty="0"/>
              <a:t>:  </a:t>
            </a:r>
          </a:p>
          <a:p>
            <a:pPr lvl="1">
              <a:spcAft>
                <a:spcPts val="60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VADD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 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?, 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? / m256, 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? </a:t>
            </a:r>
            <a:r>
              <a:rPr lang="en-US" sz="1600" dirty="0"/>
              <a:t>– </a:t>
            </a:r>
            <a:r>
              <a:rPr lang="en-US" sz="1600" dirty="0" err="1"/>
              <a:t>realiza</a:t>
            </a:r>
            <a:r>
              <a:rPr lang="en-US" sz="1600" dirty="0"/>
              <a:t> </a:t>
            </a:r>
            <a:r>
              <a:rPr lang="en-US" sz="1600" b="1" dirty="0"/>
              <a:t>8 </a:t>
            </a:r>
            <a:r>
              <a:rPr lang="en-US" sz="1600" dirty="0" err="1"/>
              <a:t>operações</a:t>
            </a:r>
            <a:r>
              <a:rPr lang="en-US" sz="1600" dirty="0"/>
              <a:t> </a:t>
            </a:r>
            <a:r>
              <a:rPr lang="en-US" sz="1600" dirty="0" err="1"/>
              <a:t>em</a:t>
            </a:r>
            <a:r>
              <a:rPr lang="en-US" sz="1600" dirty="0"/>
              <a:t> SPFP</a:t>
            </a:r>
          </a:p>
          <a:p>
            <a:pPr lvl="1">
              <a:spcAft>
                <a:spcPts val="60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VADD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 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?, 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? / m256, 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? </a:t>
            </a:r>
            <a:r>
              <a:rPr lang="en-US" sz="1600" dirty="0"/>
              <a:t>– </a:t>
            </a:r>
            <a:r>
              <a:rPr lang="en-US" sz="1600" dirty="0" err="1"/>
              <a:t>realiza</a:t>
            </a:r>
            <a:r>
              <a:rPr lang="en-US" sz="1600" dirty="0"/>
              <a:t> </a:t>
            </a:r>
            <a:r>
              <a:rPr lang="en-US" sz="1600" b="1" dirty="0"/>
              <a:t>4 </a:t>
            </a:r>
            <a:r>
              <a:rPr lang="en-US" sz="1600" dirty="0" err="1"/>
              <a:t>operações</a:t>
            </a:r>
            <a:r>
              <a:rPr lang="en-US" sz="1600" dirty="0"/>
              <a:t> </a:t>
            </a:r>
            <a:r>
              <a:rPr lang="en-US" sz="1600" dirty="0" err="1"/>
              <a:t>em</a:t>
            </a:r>
            <a:r>
              <a:rPr lang="en-US" sz="1600" dirty="0"/>
              <a:t> DPFP</a:t>
            </a:r>
          </a:p>
          <a:p>
            <a:pPr lvl="1">
              <a:spcAft>
                <a:spcPts val="60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VADD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 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?, 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? / m256, 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? </a:t>
            </a:r>
            <a:r>
              <a:rPr lang="en-US" sz="1600" dirty="0"/>
              <a:t>– </a:t>
            </a:r>
            <a:r>
              <a:rPr lang="en-US" sz="1600" dirty="0" err="1"/>
              <a:t>realiza</a:t>
            </a:r>
            <a:r>
              <a:rPr lang="en-US" sz="1600" dirty="0"/>
              <a:t> </a:t>
            </a:r>
            <a:r>
              <a:rPr lang="en-US" sz="1600" b="1" dirty="0"/>
              <a:t>1 </a:t>
            </a:r>
            <a:r>
              <a:rPr lang="en-US" sz="1600" dirty="0" err="1"/>
              <a:t>operação</a:t>
            </a:r>
            <a:r>
              <a:rPr lang="en-US" sz="1600" dirty="0"/>
              <a:t> </a:t>
            </a:r>
            <a:r>
              <a:rPr lang="en-US" sz="1600" dirty="0" err="1"/>
              <a:t>em</a:t>
            </a:r>
            <a:r>
              <a:rPr lang="en-US" sz="1600" dirty="0"/>
              <a:t> SPFP</a:t>
            </a:r>
          </a:p>
          <a:p>
            <a:pPr lvl="1">
              <a:spcAft>
                <a:spcPts val="60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VADD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 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?, 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? / m256, 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? </a:t>
            </a:r>
            <a:r>
              <a:rPr lang="en-US" sz="1600" dirty="0"/>
              <a:t>– </a:t>
            </a:r>
            <a:r>
              <a:rPr lang="en-US" sz="1600" dirty="0" err="1"/>
              <a:t>realiza</a:t>
            </a:r>
            <a:r>
              <a:rPr lang="en-US" sz="1600" dirty="0"/>
              <a:t> </a:t>
            </a:r>
            <a:r>
              <a:rPr lang="en-US" sz="1600" b="1" dirty="0"/>
              <a:t>1 </a:t>
            </a:r>
            <a:r>
              <a:rPr lang="en-US" sz="1600" dirty="0" err="1"/>
              <a:t>operação</a:t>
            </a:r>
            <a:r>
              <a:rPr lang="en-US" sz="1600" dirty="0"/>
              <a:t> </a:t>
            </a:r>
            <a:r>
              <a:rPr lang="en-US" sz="1600" dirty="0" err="1"/>
              <a:t>em</a:t>
            </a:r>
            <a:r>
              <a:rPr lang="en-US" sz="1600" dirty="0"/>
              <a:t> DPFP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US" sz="1600" dirty="0"/>
              <a:t>Esta </a:t>
            </a:r>
            <a:r>
              <a:rPr lang="en-US" sz="1600" dirty="0" err="1"/>
              <a:t>notação</a:t>
            </a:r>
            <a:r>
              <a:rPr lang="en-US" sz="1600" dirty="0"/>
              <a:t> </a:t>
            </a:r>
            <a:r>
              <a:rPr lang="en-US" sz="1600" dirty="0" err="1"/>
              <a:t>permite</a:t>
            </a:r>
            <a:r>
              <a:rPr lang="en-US" sz="1600" dirty="0"/>
              <a:t> </a:t>
            </a:r>
            <a:r>
              <a:rPr lang="en-US" sz="1600" dirty="0" err="1"/>
              <a:t>substituir</a:t>
            </a:r>
            <a:r>
              <a:rPr lang="en-US" sz="1600" dirty="0"/>
              <a:t> o conjunto de </a:t>
            </a:r>
            <a:r>
              <a:rPr lang="en-US" sz="1600" dirty="0" err="1"/>
              <a:t>instruções</a:t>
            </a:r>
            <a:r>
              <a:rPr lang="en-US" sz="1600" dirty="0"/>
              <a:t> de </a:t>
            </a:r>
            <a:r>
              <a:rPr lang="en-US" sz="1600" dirty="0" err="1"/>
              <a:t>vírgula</a:t>
            </a:r>
            <a:r>
              <a:rPr lang="en-US" sz="1600" dirty="0"/>
              <a:t> </a:t>
            </a:r>
            <a:r>
              <a:rPr lang="en-US" sz="1600" dirty="0" err="1"/>
              <a:t>flutuante</a:t>
            </a:r>
            <a:r>
              <a:rPr lang="en-US" sz="1600" dirty="0"/>
              <a:t> classico do x86, </a:t>
            </a:r>
            <a:r>
              <a:rPr lang="en-US" sz="1600" dirty="0" err="1"/>
              <a:t>orientado</a:t>
            </a:r>
            <a:r>
              <a:rPr lang="en-US" sz="1600" dirty="0"/>
              <a:t> a </a:t>
            </a:r>
            <a:r>
              <a:rPr lang="en-US" sz="1600" dirty="0" err="1"/>
              <a:t>uma</a:t>
            </a:r>
            <a:r>
              <a:rPr lang="en-US" sz="1600" dirty="0"/>
              <a:t> stack de 8 </a:t>
            </a:r>
            <a:r>
              <a:rPr lang="en-US" sz="1600" dirty="0" err="1"/>
              <a:t>registos</a:t>
            </a:r>
            <a:r>
              <a:rPr lang="en-US" sz="1600" dirty="0"/>
              <a:t>, </a:t>
            </a:r>
            <a:r>
              <a:rPr lang="en-US" sz="1600" dirty="0" err="1"/>
              <a:t>por</a:t>
            </a:r>
            <a:r>
              <a:rPr lang="en-US" sz="1600" dirty="0"/>
              <a:t> </a:t>
            </a:r>
            <a:r>
              <a:rPr lang="en-US" sz="1600" dirty="0" err="1"/>
              <a:t>uma</a:t>
            </a:r>
            <a:r>
              <a:rPr lang="en-US" sz="1600" dirty="0"/>
              <a:t> </a:t>
            </a:r>
            <a:r>
              <a:rPr lang="en-US" sz="1600" dirty="0" err="1"/>
              <a:t>alternativa</a:t>
            </a:r>
            <a:r>
              <a:rPr lang="en-US" sz="1600" dirty="0"/>
              <a:t> </a:t>
            </a:r>
            <a:r>
              <a:rPr lang="en-US" sz="1600" dirty="0" err="1"/>
              <a:t>mais</a:t>
            </a:r>
            <a:r>
              <a:rPr lang="en-US" sz="1600" dirty="0"/>
              <a:t> </a:t>
            </a:r>
            <a:r>
              <a:rPr lang="en-US" sz="1600" dirty="0" err="1"/>
              <a:t>flexível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endParaRPr lang="pt-PT" sz="1800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10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1226885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 pitchFamily="-103" charset="0"/>
              </a:rPr>
              <a:t>Instruções</a:t>
            </a:r>
            <a:r>
              <a:rPr lang="en-US" dirty="0">
                <a:latin typeface="Calibri" pitchFamily="-103" charset="0"/>
              </a:rPr>
              <a:t> AVX: </a:t>
            </a:r>
            <a:r>
              <a:rPr lang="en-US" dirty="0" err="1">
                <a:latin typeface="Calibri" pitchFamily="-103" charset="0"/>
              </a:rPr>
              <a:t>Transferência</a:t>
            </a:r>
            <a:r>
              <a:rPr lang="en-US" dirty="0">
                <a:latin typeface="Calibri" pitchFamily="-103" charset="0"/>
              </a:rPr>
              <a:t> de Dados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04800" y="1219200"/>
            <a:ext cx="8534400" cy="2857872"/>
          </a:xfrm>
        </p:spPr>
        <p:txBody>
          <a:bodyPr/>
          <a:lstStyle/>
          <a:p>
            <a:pPr lvl="0"/>
            <a:r>
              <a:rPr lang="en-US" sz="2800" dirty="0">
                <a:latin typeface="Courier New" pitchFamily="-103" charset="0"/>
                <a:ea typeface="Arial" pitchFamily="-103" charset="0"/>
                <a:cs typeface="Arial" pitchFamily="-103" charset="0"/>
              </a:rPr>
              <a:t>VMOV[A|U]P[S|D]	</a:t>
            </a:r>
            <a:br>
              <a:rPr lang="en-US" sz="2800" dirty="0">
                <a:latin typeface="Courier New" pitchFamily="-103" charset="0"/>
                <a:ea typeface="Arial" pitchFamily="-103" charset="0"/>
                <a:cs typeface="Arial" pitchFamily="-103" charset="0"/>
              </a:rPr>
            </a:br>
            <a:r>
              <a:rPr lang="en-US" sz="2000" dirty="0">
                <a:ea typeface="Arial" pitchFamily="-103" charset="0"/>
                <a:cs typeface="Arial" pitchFamily="-103" charset="0"/>
              </a:rPr>
              <a:t>Mover </a:t>
            </a:r>
            <a:r>
              <a:rPr lang="en-US" sz="2000" dirty="0" err="1">
                <a:ea typeface="Arial" pitchFamily="-103" charset="0"/>
                <a:cs typeface="Arial" pitchFamily="-103" charset="0"/>
              </a:rPr>
              <a:t>vectores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, </a:t>
            </a:r>
            <a:r>
              <a:rPr lang="en-US" sz="2000" dirty="0" err="1">
                <a:ea typeface="Arial" pitchFamily="-103" charset="0"/>
                <a:cs typeface="Arial" pitchFamily="-103" charset="0"/>
              </a:rPr>
              <a:t>representando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 </a:t>
            </a:r>
            <a:r>
              <a:rPr lang="en-US" sz="2000" dirty="0" err="1">
                <a:ea typeface="Arial" pitchFamily="-103" charset="0"/>
                <a:cs typeface="Arial" pitchFamily="-103" charset="0"/>
              </a:rPr>
              <a:t>valores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 SPFP </a:t>
            </a:r>
            <a:r>
              <a:rPr lang="en-US" sz="2000" dirty="0" err="1">
                <a:ea typeface="Arial" pitchFamily="-103" charset="0"/>
                <a:cs typeface="Arial" pitchFamily="-103" charset="0"/>
              </a:rPr>
              <a:t>ou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 DPFP (</a:t>
            </a:r>
            <a:r>
              <a:rPr lang="en-US" sz="2000" dirty="0" err="1">
                <a:ea typeface="Arial" pitchFamily="-103" charset="0"/>
                <a:cs typeface="Arial" pitchFamily="-103" charset="0"/>
              </a:rPr>
              <a:t>sufixo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ea typeface="Arial" pitchFamily="-103" charset="0"/>
                <a:cs typeface="Courier New" panose="02070309020205020404" pitchFamily="49" charset="0"/>
              </a:rPr>
              <a:t>S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 </a:t>
            </a:r>
            <a:r>
              <a:rPr lang="en-US" sz="2000" dirty="0" err="1">
                <a:ea typeface="Arial" pitchFamily="-103" charset="0"/>
                <a:cs typeface="Arial" pitchFamily="-103" charset="0"/>
              </a:rPr>
              <a:t>ou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ea typeface="Arial" pitchFamily="-103" charset="0"/>
                <a:cs typeface="Courier New" panose="02070309020205020404" pitchFamily="49" charset="0"/>
              </a:rPr>
              <a:t>D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), de </a:t>
            </a:r>
            <a:r>
              <a:rPr lang="en-US" sz="2000" dirty="0" err="1">
                <a:ea typeface="Arial" pitchFamily="-103" charset="0"/>
                <a:cs typeface="Arial" pitchFamily="-103" charset="0"/>
              </a:rPr>
              <a:t>endereços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 </a:t>
            </a:r>
            <a:r>
              <a:rPr lang="en-US" sz="2000" dirty="0" err="1">
                <a:ea typeface="Arial" pitchFamily="-103" charset="0"/>
                <a:cs typeface="Arial" pitchFamily="-103" charset="0"/>
              </a:rPr>
              <a:t>alinhados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 </a:t>
            </a:r>
            <a:r>
              <a:rPr lang="en-US" sz="2000" dirty="0" err="1">
                <a:ea typeface="Arial" pitchFamily="-103" charset="0"/>
                <a:cs typeface="Arial" pitchFamily="-103" charset="0"/>
              </a:rPr>
              <a:t>ou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 </a:t>
            </a:r>
            <a:r>
              <a:rPr lang="en-US" sz="2000" dirty="0" err="1">
                <a:ea typeface="Arial" pitchFamily="-103" charset="0"/>
                <a:cs typeface="Arial" pitchFamily="-103" charset="0"/>
              </a:rPr>
              <a:t>não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 (</a:t>
            </a:r>
            <a:r>
              <a:rPr lang="en-US" sz="2000" dirty="0" err="1">
                <a:ea typeface="Arial" pitchFamily="-103" charset="0"/>
                <a:cs typeface="Arial" pitchFamily="-103" charset="0"/>
              </a:rPr>
              <a:t>modificador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ea typeface="Arial" pitchFamily="-103" charset="0"/>
                <a:cs typeface="Courier New" panose="02070309020205020404" pitchFamily="49" charset="0"/>
              </a:rPr>
              <a:t>A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 </a:t>
            </a:r>
            <a:r>
              <a:rPr lang="en-US" sz="2000" dirty="0" err="1">
                <a:ea typeface="Arial" pitchFamily="-103" charset="0"/>
                <a:cs typeface="Arial" pitchFamily="-103" charset="0"/>
              </a:rPr>
              <a:t>ou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ea typeface="Arial" pitchFamily="-103" charset="0"/>
                <a:cs typeface="Courier New" panose="02070309020205020404" pitchFamily="49" charset="0"/>
              </a:rPr>
              <a:t>U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)</a:t>
            </a:r>
          </a:p>
          <a:p>
            <a:pPr lvl="1"/>
            <a:r>
              <a:rPr lang="en-US" sz="2000" dirty="0">
                <a:latin typeface="Courier New" pitchFamily="-103" charset="0"/>
                <a:ea typeface="Arial" pitchFamily="-103" charset="0"/>
                <a:cs typeface="Arial" pitchFamily="-103" charset="0"/>
              </a:rPr>
              <a:t>VMOVUPD m256,%ymm? 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– move 4 DPFP de </a:t>
            </a:r>
            <a:r>
              <a:rPr lang="en-US" sz="2000" dirty="0" err="1">
                <a:ea typeface="Arial" pitchFamily="-103" charset="0"/>
                <a:cs typeface="Arial" pitchFamily="-103" charset="0"/>
              </a:rPr>
              <a:t>memória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 (</a:t>
            </a:r>
            <a:r>
              <a:rPr lang="en-US" sz="2000" dirty="0" err="1">
                <a:ea typeface="Arial" pitchFamily="-103" charset="0"/>
                <a:cs typeface="Arial" pitchFamily="-103" charset="0"/>
              </a:rPr>
              <a:t>endereço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 </a:t>
            </a:r>
            <a:r>
              <a:rPr lang="en-US" sz="2000" dirty="0" err="1">
                <a:ea typeface="Arial" pitchFamily="-103" charset="0"/>
                <a:cs typeface="Arial" pitchFamily="-103" charset="0"/>
              </a:rPr>
              <a:t>não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 </a:t>
            </a:r>
            <a:r>
              <a:rPr lang="en-US" sz="2000" dirty="0" err="1">
                <a:ea typeface="Arial" pitchFamily="-103" charset="0"/>
                <a:cs typeface="Arial" pitchFamily="-103" charset="0"/>
              </a:rPr>
              <a:t>alinhado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) para </a:t>
            </a:r>
            <a:r>
              <a:rPr lang="en-US" sz="2000" dirty="0">
                <a:latin typeface="Courier New" pitchFamily="-103" charset="0"/>
                <a:ea typeface="Arial" pitchFamily="-103" charset="0"/>
                <a:cs typeface="Arial" pitchFamily="-103" charset="0"/>
              </a:rPr>
              <a:t>%</a:t>
            </a:r>
            <a:r>
              <a:rPr lang="en-US" sz="2000" dirty="0" err="1">
                <a:latin typeface="Courier New" pitchFamily="-103" charset="0"/>
                <a:ea typeface="Arial" pitchFamily="-103" charset="0"/>
                <a:cs typeface="Arial" pitchFamily="-103" charset="0"/>
              </a:rPr>
              <a:t>ymm</a:t>
            </a:r>
            <a:r>
              <a:rPr lang="en-US" sz="2000" dirty="0">
                <a:latin typeface="Courier New" pitchFamily="-103" charset="0"/>
                <a:ea typeface="Arial" pitchFamily="-103" charset="0"/>
                <a:cs typeface="Arial" pitchFamily="-103" charset="0"/>
              </a:rPr>
              <a:t>? </a:t>
            </a:r>
            <a:endParaRPr lang="en-US" sz="2000" dirty="0">
              <a:ea typeface="Arial" pitchFamily="-103" charset="0"/>
              <a:cs typeface="Arial" pitchFamily="-103" charset="0"/>
            </a:endParaRPr>
          </a:p>
          <a:p>
            <a:pPr lvl="1"/>
            <a:r>
              <a:rPr lang="en-US" sz="2000" dirty="0">
                <a:latin typeface="Courier New" pitchFamily="-103" charset="0"/>
                <a:ea typeface="Arial" pitchFamily="-103" charset="0"/>
                <a:cs typeface="Arial" pitchFamily="-103" charset="0"/>
              </a:rPr>
              <a:t>VMOVAPD %</a:t>
            </a:r>
            <a:r>
              <a:rPr lang="en-US" sz="2000" dirty="0" err="1">
                <a:latin typeface="Courier New" pitchFamily="-103" charset="0"/>
                <a:ea typeface="Arial" pitchFamily="-103" charset="0"/>
                <a:cs typeface="Arial" pitchFamily="-103" charset="0"/>
              </a:rPr>
              <a:t>xmm</a:t>
            </a:r>
            <a:r>
              <a:rPr lang="en-US" sz="2000" dirty="0">
                <a:latin typeface="Courier New" pitchFamily="-103" charset="0"/>
                <a:ea typeface="Arial" pitchFamily="-103" charset="0"/>
                <a:cs typeface="Arial" pitchFamily="-103" charset="0"/>
              </a:rPr>
              <a:t>?, m128 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– move 2 DPFP de </a:t>
            </a:r>
            <a:r>
              <a:rPr lang="en-US" sz="2000" dirty="0">
                <a:latin typeface="Courier New" pitchFamily="-103" charset="0"/>
                <a:ea typeface="Arial" pitchFamily="-103" charset="0"/>
                <a:cs typeface="Arial" pitchFamily="-103" charset="0"/>
              </a:rPr>
              <a:t>%</a:t>
            </a:r>
            <a:r>
              <a:rPr lang="en-US" sz="2000" dirty="0" err="1">
                <a:latin typeface="Courier New" pitchFamily="-103" charset="0"/>
                <a:ea typeface="Arial" pitchFamily="-103" charset="0"/>
                <a:cs typeface="Arial" pitchFamily="-103" charset="0"/>
              </a:rPr>
              <a:t>xmm</a:t>
            </a:r>
            <a:r>
              <a:rPr lang="en-US" sz="2000" dirty="0">
                <a:latin typeface="Courier New" pitchFamily="-103" charset="0"/>
                <a:ea typeface="Arial" pitchFamily="-103" charset="0"/>
                <a:cs typeface="Arial" pitchFamily="-103" charset="0"/>
              </a:rPr>
              <a:t>? 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para </a:t>
            </a:r>
            <a:r>
              <a:rPr lang="en-US" sz="2000" dirty="0" err="1">
                <a:ea typeface="Arial" pitchFamily="-103" charset="0"/>
                <a:cs typeface="Arial" pitchFamily="-103" charset="0"/>
              </a:rPr>
              <a:t>memória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 (</a:t>
            </a:r>
            <a:r>
              <a:rPr lang="en-US" sz="2000" dirty="0" err="1">
                <a:ea typeface="Arial" pitchFamily="-103" charset="0"/>
                <a:cs typeface="Arial" pitchFamily="-103" charset="0"/>
              </a:rPr>
              <a:t>endereço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 </a:t>
            </a:r>
            <a:r>
              <a:rPr lang="en-US" sz="2000" dirty="0" err="1">
                <a:ea typeface="Arial" pitchFamily="-103" charset="0"/>
                <a:cs typeface="Arial" pitchFamily="-103" charset="0"/>
              </a:rPr>
              <a:t>alinhado</a:t>
            </a:r>
            <a:r>
              <a:rPr lang="en-US" sz="2000" dirty="0">
                <a:ea typeface="Arial" pitchFamily="-103" charset="0"/>
                <a:cs typeface="Arial" pitchFamily="-103" charset="0"/>
              </a:rPr>
              <a:t>)</a:t>
            </a:r>
            <a:endParaRPr lang="pt-PT" sz="2000" dirty="0">
              <a:latin typeface="Courier New" pitchFamily="-103" charset="0"/>
              <a:ea typeface="Arial" pitchFamily="-103" charset="0"/>
              <a:cs typeface="Arial" pitchFamily="-103" charset="0"/>
            </a:endParaRPr>
          </a:p>
          <a:p>
            <a:pPr lvl="1"/>
            <a:endParaRPr lang="pt-PT" sz="2000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11</a:t>
            </a:fld>
            <a:endParaRPr lang="pt-PT" altLang="pt-PT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67544" y="4077072"/>
            <a:ext cx="8534400" cy="2018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600">
                <a:solidFill>
                  <a:schemeClr val="tx1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Calibri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PT" sz="2000" b="1" kern="0" dirty="0"/>
              <a:t>Alinhamento: </a:t>
            </a:r>
            <a:r>
              <a:rPr lang="pt-PT" sz="2000" kern="0" dirty="0"/>
              <a:t>um bloco de dados com </a:t>
            </a:r>
            <a:r>
              <a:rPr lang="pt-PT" sz="2000" b="1" kern="0" dirty="0"/>
              <a:t>B </a:t>
            </a:r>
            <a:r>
              <a:rPr lang="pt-PT" sz="2000" i="1" kern="0" dirty="0"/>
              <a:t>bytes</a:t>
            </a:r>
            <a:r>
              <a:rPr lang="pt-PT" sz="2000" kern="0" dirty="0"/>
              <a:t>, diz-se alinhado, se o endereço inicial desse bloco em memória é múltiplo de </a:t>
            </a:r>
            <a:r>
              <a:rPr lang="pt-PT" sz="2000" b="1" kern="0" dirty="0"/>
              <a:t>B</a:t>
            </a:r>
            <a:r>
              <a:rPr lang="pt-PT" sz="2000" kern="0" dirty="0"/>
              <a:t>. </a:t>
            </a:r>
            <a:endParaRPr lang="pt-PT" sz="2000" b="1" kern="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PT" sz="2000" kern="0" dirty="0"/>
              <a:t>Acessos alinhados são </a:t>
            </a:r>
            <a:r>
              <a:rPr lang="pt-PT" sz="2000" b="1" kern="0" dirty="0"/>
              <a:t>significativamente </a:t>
            </a:r>
            <a:r>
              <a:rPr lang="pt-PT" sz="2000" kern="0" dirty="0"/>
              <a:t>mais eficazes do que acessos não alinhados.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PT" sz="2000" dirty="0">
                <a:latin typeface="Courier New" panose="02070309020205020404" pitchFamily="49" charset="0"/>
                <a:ea typeface="Arial" pitchFamily="-103" charset="0"/>
                <a:cs typeface="Courier New" panose="02070309020205020404" pitchFamily="49" charset="0"/>
              </a:rPr>
              <a:t>AVX2</a:t>
            </a:r>
            <a:r>
              <a:rPr lang="pt-PT" sz="2000" kern="0" dirty="0"/>
              <a:t> permite o uso de instruções </a:t>
            </a:r>
            <a:r>
              <a:rPr lang="pt-PT" sz="2000" dirty="0">
                <a:latin typeface="Courier New" panose="02070309020205020404" pitchFamily="49" charset="0"/>
                <a:ea typeface="Arial" pitchFamily="-103" charset="0"/>
                <a:cs typeface="Courier New" panose="02070309020205020404" pitchFamily="49" charset="0"/>
              </a:rPr>
              <a:t>A</a:t>
            </a:r>
            <a:r>
              <a:rPr lang="pt-PT" sz="2000" kern="0" dirty="0"/>
              <a:t> (</a:t>
            </a:r>
            <a:r>
              <a:rPr lang="pt-PT" sz="2000" i="1" kern="0" dirty="0" err="1"/>
              <a:t>aligned</a:t>
            </a:r>
            <a:r>
              <a:rPr lang="pt-PT" sz="2000" kern="0" dirty="0"/>
              <a:t>) com acessos não alinhados, com penalização no desempenho. </a:t>
            </a:r>
            <a:r>
              <a:rPr lang="pt-PT" sz="2000" dirty="0">
                <a:latin typeface="Courier New" panose="02070309020205020404" pitchFamily="49" charset="0"/>
                <a:ea typeface="Arial" pitchFamily="-103" charset="0"/>
                <a:cs typeface="Courier New" panose="02070309020205020404" pitchFamily="49" charset="0"/>
              </a:rPr>
              <a:t>SSE</a:t>
            </a:r>
            <a:r>
              <a:rPr lang="pt-PT" sz="2000" kern="0" dirty="0"/>
              <a:t> e </a:t>
            </a:r>
            <a:r>
              <a:rPr lang="pt-PT" sz="2000" dirty="0">
                <a:latin typeface="Courier New" panose="02070309020205020404" pitchFamily="49" charset="0"/>
                <a:ea typeface="Arial" pitchFamily="-103" charset="0"/>
                <a:cs typeface="Courier New" panose="02070309020205020404" pitchFamily="49" charset="0"/>
              </a:rPr>
              <a:t>AVX </a:t>
            </a:r>
            <a:r>
              <a:rPr lang="pt-PT" sz="2000" kern="0" dirty="0"/>
              <a:t>resulta numa </a:t>
            </a:r>
            <a:r>
              <a:rPr lang="pt-PT" sz="2000" kern="0" dirty="0" err="1"/>
              <a:t>excepção</a:t>
            </a:r>
            <a:r>
              <a:rPr lang="pt-PT" sz="2000" kern="0" dirty="0"/>
              <a:t>.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pt-PT" sz="2000" b="1" i="1" kern="0" dirty="0"/>
          </a:p>
          <a:p>
            <a:pPr>
              <a:spcBef>
                <a:spcPts val="0"/>
              </a:spcBef>
              <a:buFontTx/>
              <a:buNone/>
            </a:pPr>
            <a:endParaRPr lang="pt-PT" sz="2000" kern="0" dirty="0"/>
          </a:p>
        </p:txBody>
      </p:sp>
    </p:spTree>
    <p:extLst>
      <p:ext uri="{BB962C8B-B14F-4D97-AF65-F5344CB8AC3E}">
        <p14:creationId xmlns:p14="http://schemas.microsoft.com/office/powerpoint/2010/main" val="93016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" pitchFamily="-103" charset="0"/>
              </a:rPr>
              <a:t>Instruções</a:t>
            </a:r>
            <a:r>
              <a:rPr lang="en-US" dirty="0">
                <a:latin typeface="Arial" pitchFamily="-103" charset="0"/>
              </a:rPr>
              <a:t> AVX: </a:t>
            </a:r>
            <a:r>
              <a:rPr lang="en-US" dirty="0" err="1">
                <a:latin typeface="Arial" pitchFamily="-103" charset="0"/>
              </a:rPr>
              <a:t>Operações</a:t>
            </a:r>
            <a:r>
              <a:rPr lang="en-US" dirty="0">
                <a:latin typeface="Arial" pitchFamily="-103" charset="0"/>
              </a:rPr>
              <a:t> FP</a:t>
            </a:r>
            <a:endParaRPr lang="pt-PT" dirty="0">
              <a:latin typeface="Calibri" pitchFamily="-103" charset="0"/>
            </a:endParaRPr>
          </a:p>
        </p:txBody>
      </p:sp>
      <p:sp>
        <p:nvSpPr>
          <p:cNvPr id="11267" name="Marcador de Posição do Número do Diapositivo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8DD03C-AEA9-2B4C-9686-7CF46F028E7F}" type="slidenum">
              <a:rPr lang="pt-PT"/>
              <a:pPr/>
              <a:t>12</a:t>
            </a:fld>
            <a:endParaRPr lang="pt-PT"/>
          </a:p>
        </p:txBody>
      </p:sp>
      <p:graphicFrame>
        <p:nvGraphicFramePr>
          <p:cNvPr id="5" name="Group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30211"/>
              </p:ext>
            </p:extLst>
          </p:nvPr>
        </p:nvGraphicFramePr>
        <p:xfrm>
          <a:off x="479425" y="1397000"/>
          <a:ext cx="8125023" cy="3804666"/>
        </p:xfrm>
        <a:graphic>
          <a:graphicData uri="http://schemas.openxmlformats.org/drawingml/2006/table">
            <a:tbl>
              <a:tblPr/>
              <a:tblGrid>
                <a:gridCol w="2940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4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03" charset="0"/>
                          <a:ea typeface="Arial" pitchFamily="-103" charset="0"/>
                          <a:cs typeface="Arial" pitchFamily="-103" charset="0"/>
                        </a:rPr>
                        <a:t>Instruções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-103" charset="0"/>
                        <a:ea typeface="Arial" pitchFamily="-103" charset="0"/>
                        <a:cs typeface="Arial" pitchFamily="-103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03" charset="0"/>
                          <a:ea typeface="Arial" pitchFamily="-103" charset="0"/>
                          <a:cs typeface="Arial" pitchFamily="-103" charset="0"/>
                        </a:rPr>
                        <a:t>Operandos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-103" charset="0"/>
                        <a:ea typeface="Arial" pitchFamily="-103" charset="0"/>
                        <a:cs typeface="Arial" pitchFamily="-103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03" charset="0"/>
                          <a:ea typeface="Arial" pitchFamily="-103" charset="0"/>
                          <a:cs typeface="Arial" pitchFamily="-103" charset="0"/>
                        </a:rPr>
                        <a:t>VADD[S|P][S|D]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03" charset="0"/>
                          <a:ea typeface="Arial" pitchFamily="-103" charset="0"/>
                          <a:cs typeface="Arial" pitchFamily="-103" charset="0"/>
                        </a:rPr>
                        <a:t>VSUB[S|P][S|D]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03" charset="0"/>
                          <a:ea typeface="Arial" pitchFamily="-103" charset="0"/>
                          <a:cs typeface="Arial" pitchFamily="-103" charset="0"/>
                        </a:rPr>
                        <a:t>VMUL[S|P][S|D]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03" charset="0"/>
                          <a:ea typeface="Arial" pitchFamily="-103" charset="0"/>
                          <a:cs typeface="Arial" pitchFamily="-103" charset="0"/>
                        </a:rPr>
                        <a:t>VDIV[S|P][S|D]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03" charset="0"/>
                          <a:ea typeface="Arial" pitchFamily="-103" charset="0"/>
                          <a:cs typeface="Arial" pitchFamily="-103" charset="0"/>
                        </a:rPr>
                        <a:t>VSQRT[S|P][S|D]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03" charset="0"/>
                          <a:ea typeface="Arial" pitchFamily="-103" charset="0"/>
                          <a:cs typeface="Arial" pitchFamily="-103" charset="0"/>
                        </a:rPr>
                        <a:t>VMAX[S|P][S|D]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03" charset="0"/>
                          <a:ea typeface="Arial" pitchFamily="-103" charset="0"/>
                          <a:cs typeface="Arial" pitchFamily="-103" charset="0"/>
                        </a:rPr>
                        <a:t>VMIN[S|P][S|D]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03" charset="0"/>
                          <a:ea typeface="Arial" pitchFamily="-103" charset="0"/>
                          <a:cs typeface="Arial" pitchFamily="-103" charset="0"/>
                        </a:rPr>
                        <a:t>VAND[S|P][S|D]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03" charset="0"/>
                          <a:ea typeface="Arial" pitchFamily="-103" charset="0"/>
                          <a:cs typeface="Arial" pitchFamily="-103" charset="0"/>
                        </a:rPr>
                        <a:t>VOR[S|P][S|D]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03" charset="0"/>
                          <a:ea typeface="Arial" pitchFamily="-103" charset="0"/>
                          <a:cs typeface="Arial" pitchFamily="-103" charset="0"/>
                        </a:rPr>
                        <a:t>...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-103" charset="0"/>
                        <a:ea typeface="Arial" pitchFamily="-103" charset="0"/>
                        <a:cs typeface="Arial" pitchFamily="-103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03" charset="0"/>
                          <a:ea typeface="Arial" pitchFamily="-103" charset="0"/>
                          <a:cs typeface="Arial" pitchFamily="-103" charset="0"/>
                        </a:rPr>
                        <a:t>[S|P] :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03" charset="0"/>
                          <a:ea typeface="Arial" pitchFamily="-103" charset="0"/>
                          <a:cs typeface="Arial" pitchFamily="-103" charset="0"/>
                        </a:rPr>
                        <a:t>escalar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03" charset="0"/>
                          <a:ea typeface="Arial" pitchFamily="-103" charset="0"/>
                          <a:cs typeface="Arial" pitchFamily="-103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03" charset="0"/>
                          <a:ea typeface="Arial" pitchFamily="-103" charset="0"/>
                          <a:cs typeface="Arial" pitchFamily="-103" charset="0"/>
                        </a:rPr>
                        <a:t>ou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03" charset="0"/>
                          <a:ea typeface="Arial" pitchFamily="-103" charset="0"/>
                          <a:cs typeface="Arial" pitchFamily="-103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03" charset="0"/>
                          <a:ea typeface="Arial" pitchFamily="-103" charset="0"/>
                          <a:cs typeface="Arial" pitchFamily="-103" charset="0"/>
                        </a:rPr>
                        <a:t>vectorial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03" charset="0"/>
                          <a:ea typeface="Arial" pitchFamily="-103" charset="0"/>
                          <a:cs typeface="Arial" pitchFamily="-103" charset="0"/>
                        </a:rPr>
                        <a:t> 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-103" charset="0"/>
                        <a:ea typeface="Arial" pitchFamily="-103" charset="0"/>
                        <a:cs typeface="Arial" pitchFamily="-103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03" charset="0"/>
                          <a:ea typeface="Arial" pitchFamily="-103" charset="0"/>
                          <a:cs typeface="Arial" pitchFamily="-103" charset="0"/>
                        </a:rPr>
                        <a:t>[S|D] : SPFP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03" charset="0"/>
                          <a:ea typeface="Arial" pitchFamily="-103" charset="0"/>
                          <a:cs typeface="Arial" pitchFamily="-103" charset="0"/>
                        </a:rPr>
                        <a:t>ou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03" charset="0"/>
                          <a:ea typeface="Arial" pitchFamily="-103" charset="0"/>
                          <a:cs typeface="Arial" pitchFamily="-103" charset="0"/>
                        </a:rPr>
                        <a:t> DPFP 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-103" charset="0"/>
                        <a:ea typeface="Arial" pitchFamily="-103" charset="0"/>
                        <a:cs typeface="Arial" pitchFamily="-103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 pitchFamily="-103" charset="0"/>
                          <a:cs typeface="Arial" pitchFamily="-103" charset="0"/>
                        </a:rPr>
                        <a:t>Endereços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 pitchFamily="-103" charset="0"/>
                          <a:cs typeface="Arial" pitchFamily="-103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 pitchFamily="-103" charset="0"/>
                          <a:cs typeface="Arial" pitchFamily="-103" charset="0"/>
                        </a:rPr>
                        <a:t>em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 pitchFamily="-103" charset="0"/>
                          <a:cs typeface="Arial" pitchFamily="-103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 pitchFamily="-103" charset="0"/>
                          <a:cs typeface="Arial" pitchFamily="-103" charset="0"/>
                        </a:rPr>
                        <a:t>memória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 pitchFamily="-103" charset="0"/>
                          <a:cs typeface="Arial" pitchFamily="-103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 pitchFamily="-103" charset="0"/>
                          <a:cs typeface="Arial" pitchFamily="-103" charset="0"/>
                        </a:rPr>
                        <a:t>alinhados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Arial" pitchFamily="-103" charset="0"/>
                        <a:cs typeface="Arial" pitchFamily="-103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Arial" pitchFamily="-103" charset="0"/>
                        <a:cs typeface="Arial" pitchFamily="-103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 pitchFamily="-103" charset="0"/>
                          <a:cs typeface="Arial" pitchFamily="-103" charset="0"/>
                        </a:rPr>
                        <a:t>O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 pitchFamily="-103" charset="0"/>
                          <a:cs typeface="Arial" pitchFamily="-103" charset="0"/>
                        </a:rPr>
                        <a:t>resultado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 pitchFamily="-103" charset="0"/>
                          <a:cs typeface="Arial" pitchFamily="-103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 pitchFamily="-103" charset="0"/>
                          <a:cs typeface="Arial" pitchFamily="-103" charset="0"/>
                        </a:rPr>
                        <a:t>não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 pitchFamily="-103" charset="0"/>
                          <a:cs typeface="Arial" pitchFamily="-103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 pitchFamily="-103" charset="0"/>
                          <a:cs typeface="Arial" pitchFamily="-103" charset="0"/>
                        </a:rPr>
                        <a:t>pode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 pitchFamily="-103" charset="0"/>
                          <a:cs typeface="Arial" pitchFamily="-103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 pitchFamily="-103" charset="0"/>
                          <a:cs typeface="Arial" pitchFamily="-103" charset="0"/>
                        </a:rPr>
                        <a:t>ser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 pitchFamily="-103" charset="0"/>
                          <a:cs typeface="Arial" pitchFamily="-103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 pitchFamily="-103" charset="0"/>
                          <a:cs typeface="Arial" pitchFamily="-103" charset="0"/>
                        </a:rPr>
                        <a:t>em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 pitchFamily="-103" charset="0"/>
                          <a:cs typeface="Arial" pitchFamily="-103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 pitchFamily="-103" charset="0"/>
                          <a:cs typeface="Arial" pitchFamily="-103" charset="0"/>
                        </a:rPr>
                        <a:t>memória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Arial" pitchFamily="-103" charset="0"/>
                        <a:cs typeface="Arial" pitchFamily="-103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-103" charset="0"/>
                        <a:ea typeface="Arial" pitchFamily="-103" charset="0"/>
                        <a:cs typeface="Arial" pitchFamily="-103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ítulo 1"/>
          <p:cNvSpPr>
            <a:spLocks noGrp="1"/>
          </p:cNvSpPr>
          <p:nvPr>
            <p:ph type="title"/>
          </p:nvPr>
        </p:nvSpPr>
        <p:spPr>
          <a:xfrm>
            <a:off x="6660232" y="260648"/>
            <a:ext cx="2376264" cy="838200"/>
          </a:xfrm>
        </p:spPr>
        <p:txBody>
          <a:bodyPr/>
          <a:lstStyle/>
          <a:p>
            <a:r>
              <a:rPr lang="pt-PT" dirty="0">
                <a:latin typeface="Calibri" pitchFamily="-103" charset="0"/>
              </a:rPr>
              <a:t>Exemplo AVX</a:t>
            </a:r>
          </a:p>
        </p:txBody>
      </p:sp>
      <p:sp>
        <p:nvSpPr>
          <p:cNvPr id="13315" name="Marcador de Posição do Número do Diapositivo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C7AB9EA-EE1A-E14F-B184-CDD9199B9438}" type="slidenum">
              <a:rPr lang="pt-PT"/>
              <a:pPr/>
              <a:t>13</a:t>
            </a:fld>
            <a:endParaRPr lang="pt-PT"/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179513" y="188640"/>
            <a:ext cx="6264696" cy="313932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float a[1000] 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__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(32)));</a:t>
            </a:r>
            <a:endParaRPr lang="en-US" sz="1800" dirty="0">
              <a:latin typeface="Courier New" pitchFamily="-103" charset="0"/>
              <a:ea typeface="Courier New" pitchFamily="-103" charset="0"/>
              <a:cs typeface="Courier New" pitchFamily="-103" charset="0"/>
            </a:endParaRPr>
          </a:p>
          <a:p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float b[1000] 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__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(32)));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</a:t>
            </a:r>
          </a:p>
          <a:p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float r[1000] 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__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(32)));</a:t>
            </a:r>
            <a:endParaRPr lang="en-US" sz="1800" dirty="0">
              <a:latin typeface="Courier New" pitchFamily="-103" charset="0"/>
              <a:ea typeface="Courier New" pitchFamily="-103" charset="0"/>
              <a:cs typeface="Courier New" pitchFamily="-103" charset="0"/>
            </a:endParaRPr>
          </a:p>
          <a:p>
            <a:endParaRPr lang="en-US" sz="1800" dirty="0">
              <a:latin typeface="Courier New" pitchFamily="-103" charset="0"/>
              <a:ea typeface="Courier New" pitchFamily="-103" charset="0"/>
              <a:cs typeface="Courier New" pitchFamily="-103" charset="0"/>
            </a:endParaRPr>
          </a:p>
          <a:p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func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(int n, float 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__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restrict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__ 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*a,</a:t>
            </a:r>
          </a:p>
          <a:p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	float 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__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restrict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__ 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*b, float 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__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restrict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__ 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*r) {</a:t>
            </a:r>
          </a:p>
          <a:p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 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int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i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;</a:t>
            </a:r>
          </a:p>
          <a:p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 for (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i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=0 ; 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i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&lt;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n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; 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i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++)</a:t>
            </a:r>
          </a:p>
          <a:p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   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r[i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] = 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a[i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] * 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b[i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];</a:t>
            </a:r>
          </a:p>
          <a:p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}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513441" y="2004235"/>
            <a:ext cx="5400600" cy="424731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func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:</a:t>
            </a:r>
          </a:p>
          <a:p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 …</a:t>
            </a:r>
          </a:p>
          <a:p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 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movl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8(%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rbp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), %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rdx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   # n</a:t>
            </a:r>
          </a:p>
          <a:p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 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movl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12(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rbp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), %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rax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  # a</a:t>
            </a:r>
          </a:p>
          <a:p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 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movl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16(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rbp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), %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rbx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  # b</a:t>
            </a:r>
          </a:p>
          <a:p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 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movl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20(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rbp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), %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rsi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  # r</a:t>
            </a:r>
          </a:p>
          <a:p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 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movl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$0, %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rcx</a:t>
            </a:r>
            <a:endParaRPr lang="en-US" sz="1800" dirty="0">
              <a:latin typeface="Courier New" pitchFamily="-103" charset="0"/>
              <a:ea typeface="Courier New" pitchFamily="-103" charset="0"/>
              <a:cs typeface="Courier New" pitchFamily="-103" charset="0"/>
            </a:endParaRPr>
          </a:p>
          <a:p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ciclo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:</a:t>
            </a:r>
          </a:p>
          <a:p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 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vmovaps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(%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rax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, %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rcx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, 4), %ymm0</a:t>
            </a:r>
          </a:p>
          <a:p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 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vmulps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(%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rbx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, %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rcx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, 4), %ymm0, %ymm1</a:t>
            </a:r>
          </a:p>
          <a:p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 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vmovaps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%ymm1, (%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rsi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, %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rcx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, 4)</a:t>
            </a:r>
          </a:p>
          <a:p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 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addl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$8, %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rcx</a:t>
            </a:r>
            <a:endParaRPr lang="en-US" sz="1800" dirty="0">
              <a:latin typeface="Courier New" pitchFamily="-103" charset="0"/>
              <a:ea typeface="Courier New" pitchFamily="-103" charset="0"/>
              <a:cs typeface="Courier New" pitchFamily="-103" charset="0"/>
            </a:endParaRPr>
          </a:p>
          <a:p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 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cmpl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%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rdx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, %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rcx</a:t>
            </a:r>
            <a:endParaRPr lang="en-US" sz="1800" dirty="0">
              <a:latin typeface="Courier New" pitchFamily="-103" charset="0"/>
              <a:ea typeface="Courier New" pitchFamily="-103" charset="0"/>
              <a:cs typeface="Courier New" pitchFamily="-103" charset="0"/>
            </a:endParaRPr>
          </a:p>
          <a:p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 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jl</a:t>
            </a:r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</a:t>
            </a:r>
            <a:r>
              <a:rPr lang="en-US" sz="1800" dirty="0" err="1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ciclo</a:t>
            </a:r>
            <a:endParaRPr lang="en-US" sz="1800" dirty="0">
              <a:latin typeface="Courier New" pitchFamily="-103" charset="0"/>
              <a:ea typeface="Courier New" pitchFamily="-103" charset="0"/>
              <a:cs typeface="Courier New" pitchFamily="-103" charset="0"/>
            </a:endParaRPr>
          </a:p>
          <a:p>
            <a:r>
              <a:rPr lang="en-US" sz="1800" dirty="0">
                <a:latin typeface="Courier New" pitchFamily="-103" charset="0"/>
                <a:ea typeface="Courier New" pitchFamily="-103" charset="0"/>
                <a:cs typeface="Courier New" pitchFamily="-103" charset="0"/>
              </a:rPr>
              <a:t>  …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Processamento Vectorial - desenvolvimento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04800" y="1219200"/>
            <a:ext cx="6211416" cy="4876800"/>
          </a:xfrm>
        </p:spPr>
        <p:txBody>
          <a:bodyPr/>
          <a:lstStyle/>
          <a:p>
            <a:endParaRPr lang="pt-PT" i="1" dirty="0"/>
          </a:p>
          <a:p>
            <a:r>
              <a:rPr lang="pt-PT" i="1" dirty="0" err="1"/>
              <a:t>Assembly</a:t>
            </a:r>
            <a:endParaRPr lang="pt-PT" dirty="0"/>
          </a:p>
          <a:p>
            <a:pPr lvl="1">
              <a:spcAft>
                <a:spcPts val="600"/>
              </a:spcAft>
            </a:pPr>
            <a:r>
              <a:rPr lang="pt-PT" sz="2000" dirty="0"/>
              <a:t>Utilização directa de instruções </a:t>
            </a:r>
            <a:r>
              <a:rPr lang="pt-PT" sz="2000" i="1" dirty="0" err="1"/>
              <a:t>assembly</a:t>
            </a:r>
            <a:endParaRPr lang="pt-PT" sz="2000" dirty="0"/>
          </a:p>
          <a:p>
            <a:pPr>
              <a:spcBef>
                <a:spcPts val="1800"/>
              </a:spcBef>
            </a:pPr>
            <a:r>
              <a:rPr lang="pt-PT" i="1" dirty="0" err="1"/>
              <a:t>Compiler</a:t>
            </a:r>
            <a:r>
              <a:rPr lang="pt-PT" i="1" dirty="0"/>
              <a:t> </a:t>
            </a:r>
            <a:r>
              <a:rPr lang="pt-PT" i="1" dirty="0" err="1"/>
              <a:t>Intrinsics</a:t>
            </a:r>
            <a:r>
              <a:rPr lang="pt-PT" dirty="0"/>
              <a:t> </a:t>
            </a:r>
          </a:p>
          <a:p>
            <a:pPr lvl="1"/>
            <a:r>
              <a:rPr lang="pt-PT" sz="2000" dirty="0" err="1"/>
              <a:t>Pseudo-funções</a:t>
            </a:r>
            <a:r>
              <a:rPr lang="pt-PT" sz="2000" dirty="0"/>
              <a:t> disponibilizadas pelo compilador que permitem o desenvolvimento explícito de código vectorial a um nível semântico mais elevado que o </a:t>
            </a:r>
            <a:r>
              <a:rPr lang="pt-PT" sz="2000" i="1" dirty="0" err="1"/>
              <a:t>assembly</a:t>
            </a:r>
            <a:endParaRPr lang="pt-PT" sz="2000" i="1" dirty="0"/>
          </a:p>
          <a:p>
            <a:pPr>
              <a:spcBef>
                <a:spcPts val="1800"/>
              </a:spcBef>
            </a:pPr>
            <a:r>
              <a:rPr lang="pt-PT" i="1" dirty="0"/>
              <a:t>Auto Vectorização</a:t>
            </a:r>
          </a:p>
          <a:p>
            <a:pPr lvl="1">
              <a:spcAft>
                <a:spcPts val="600"/>
              </a:spcAft>
            </a:pPr>
            <a:r>
              <a:rPr lang="pt-PT" sz="2000" dirty="0"/>
              <a:t>Vectorização pelo compilador </a:t>
            </a:r>
          </a:p>
          <a:p>
            <a:pPr marL="0" indent="0">
              <a:buNone/>
            </a:pPr>
            <a:endParaRPr lang="pt-PT" i="1" dirty="0"/>
          </a:p>
          <a:p>
            <a:endParaRPr lang="pt-PT" i="1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14</a:t>
            </a:fld>
            <a:endParaRPr lang="pt-PT" altLang="pt-PT"/>
          </a:p>
        </p:txBody>
      </p:sp>
      <p:grpSp>
        <p:nvGrpSpPr>
          <p:cNvPr id="9" name="Grupo 8"/>
          <p:cNvGrpSpPr/>
          <p:nvPr/>
        </p:nvGrpSpPr>
        <p:grpSpPr>
          <a:xfrm>
            <a:off x="6964334" y="1664186"/>
            <a:ext cx="936000" cy="4232250"/>
            <a:chOff x="7352790" y="1664186"/>
            <a:chExt cx="936000" cy="4232250"/>
          </a:xfrm>
        </p:grpSpPr>
        <p:sp>
          <p:nvSpPr>
            <p:cNvPr id="6" name="CaixaDeTexto 5"/>
            <p:cNvSpPr txBox="1"/>
            <p:nvPr/>
          </p:nvSpPr>
          <p:spPr>
            <a:xfrm>
              <a:off x="7623460" y="1664186"/>
              <a:ext cx="3946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800" b="1" dirty="0"/>
                <a:t>+</a:t>
              </a:r>
            </a:p>
          </p:txBody>
        </p:sp>
        <p:sp>
          <p:nvSpPr>
            <p:cNvPr id="7" name="CaixaDeTexto 6"/>
            <p:cNvSpPr txBox="1"/>
            <p:nvPr/>
          </p:nvSpPr>
          <p:spPr>
            <a:xfrm>
              <a:off x="7668344" y="5373216"/>
              <a:ext cx="3048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800" b="1" dirty="0"/>
                <a:t>-</a:t>
              </a:r>
            </a:p>
          </p:txBody>
        </p:sp>
        <p:sp>
          <p:nvSpPr>
            <p:cNvPr id="8" name="Seta entalhada para a direita 7"/>
            <p:cNvSpPr/>
            <p:nvPr/>
          </p:nvSpPr>
          <p:spPr bwMode="auto">
            <a:xfrm rot="16200000">
              <a:off x="6047865" y="3393901"/>
              <a:ext cx="3545850" cy="936000"/>
            </a:xfrm>
            <a:prstGeom prst="notched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2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PT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1" name="CaixaDeTexto 10"/>
          <p:cNvSpPr txBox="1"/>
          <p:nvPr/>
        </p:nvSpPr>
        <p:spPr>
          <a:xfrm rot="5400000">
            <a:off x="6086850" y="3661846"/>
            <a:ext cx="18501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cap="small" dirty="0"/>
              <a:t>Complexidade</a:t>
            </a:r>
          </a:p>
        </p:txBody>
      </p:sp>
      <p:sp>
        <p:nvSpPr>
          <p:cNvPr id="12" name="CaixaDeTexto 11"/>
          <p:cNvSpPr txBox="1"/>
          <p:nvPr/>
        </p:nvSpPr>
        <p:spPr>
          <a:xfrm rot="5400000">
            <a:off x="6866239" y="3661846"/>
            <a:ext cx="20681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cap="small" dirty="0"/>
              <a:t>FLEXIBILIDADE</a:t>
            </a:r>
          </a:p>
        </p:txBody>
      </p:sp>
    </p:spTree>
    <p:extLst>
      <p:ext uri="{BB962C8B-B14F-4D97-AF65-F5344CB8AC3E}">
        <p14:creationId xmlns:p14="http://schemas.microsoft.com/office/powerpoint/2010/main" val="2512017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altLang="pt-PT" i="1"/>
              <a:t>Compiler Intrinsics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04800" y="1723256"/>
            <a:ext cx="8534400" cy="1633736"/>
          </a:xfrm>
        </p:spPr>
        <p:txBody>
          <a:bodyPr/>
          <a:lstStyle/>
          <a:p>
            <a:pPr>
              <a:spcBef>
                <a:spcPts val="1200"/>
              </a:spcBef>
              <a:defRPr/>
            </a:pPr>
            <a:r>
              <a:rPr lang="en-US" sz="2400" i="1" dirty="0"/>
              <a:t>Compiler </a:t>
            </a:r>
            <a:r>
              <a:rPr lang="en-US" sz="2400" i="1" dirty="0" err="1"/>
              <a:t>intrinsics</a:t>
            </a:r>
            <a:r>
              <a:rPr lang="en-US" sz="2400" dirty="0"/>
              <a:t> </a:t>
            </a:r>
            <a:r>
              <a:rPr lang="en-US" sz="2400" dirty="0" err="1"/>
              <a:t>são</a:t>
            </a:r>
            <a:r>
              <a:rPr lang="en-US" sz="2400" dirty="0"/>
              <a:t> pseudo-</a:t>
            </a:r>
            <a:r>
              <a:rPr lang="en-US" sz="2400" dirty="0" err="1"/>
              <a:t>funções</a:t>
            </a:r>
            <a:r>
              <a:rPr lang="en-US" sz="2400" dirty="0"/>
              <a:t> que </a:t>
            </a:r>
            <a:r>
              <a:rPr lang="en-US" sz="2400" dirty="0" err="1"/>
              <a:t>expõem</a:t>
            </a:r>
            <a:r>
              <a:rPr lang="en-US" sz="2400" dirty="0"/>
              <a:t> </a:t>
            </a:r>
            <a:r>
              <a:rPr lang="en-US" sz="2400" dirty="0" err="1"/>
              <a:t>funcionalidades</a:t>
            </a:r>
            <a:r>
              <a:rPr lang="en-US" sz="2400" dirty="0"/>
              <a:t> do CPU </a:t>
            </a:r>
            <a:r>
              <a:rPr lang="en-US" sz="2400" dirty="0" err="1"/>
              <a:t>incompatíveis</a:t>
            </a:r>
            <a:r>
              <a:rPr lang="en-US" sz="2400" dirty="0"/>
              <a:t> com a </a:t>
            </a:r>
            <a:r>
              <a:rPr lang="en-US" sz="2400" dirty="0" err="1"/>
              <a:t>semântica</a:t>
            </a:r>
            <a:r>
              <a:rPr lang="en-US" sz="2400" dirty="0"/>
              <a:t> da </a:t>
            </a:r>
            <a:r>
              <a:rPr lang="en-US" sz="2400" dirty="0" err="1"/>
              <a:t>linguagem</a:t>
            </a:r>
            <a:r>
              <a:rPr lang="en-US" sz="2400" dirty="0"/>
              <a:t> de </a:t>
            </a:r>
            <a:r>
              <a:rPr lang="en-US" sz="2400" dirty="0" err="1"/>
              <a:t>programação</a:t>
            </a:r>
            <a:r>
              <a:rPr lang="en-US" sz="2400" dirty="0"/>
              <a:t> </a:t>
            </a:r>
            <a:r>
              <a:rPr lang="en-US" sz="2400" dirty="0" err="1"/>
              <a:t>usada</a:t>
            </a:r>
            <a:r>
              <a:rPr lang="en-US" sz="2400" dirty="0"/>
              <a:t> (C/C++ </a:t>
            </a:r>
            <a:r>
              <a:rPr lang="en-US" sz="2400" dirty="0" err="1"/>
              <a:t>neste</a:t>
            </a:r>
            <a:r>
              <a:rPr lang="en-US" sz="2400" dirty="0"/>
              <a:t> </a:t>
            </a:r>
            <a:r>
              <a:rPr lang="en-US" sz="2400" dirty="0" err="1"/>
              <a:t>caso</a:t>
            </a:r>
            <a:r>
              <a:rPr lang="en-US" sz="2400" dirty="0"/>
              <a:t>)</a:t>
            </a:r>
          </a:p>
          <a:p>
            <a:pPr>
              <a:spcBef>
                <a:spcPts val="1200"/>
              </a:spcBef>
              <a:defRPr/>
            </a:pPr>
            <a:endParaRPr lang="en-US" sz="2400" dirty="0"/>
          </a:p>
          <a:p>
            <a:pPr marL="0" indent="0">
              <a:spcBef>
                <a:spcPts val="1200"/>
              </a:spcBef>
              <a:buNone/>
              <a:defRPr/>
            </a:pPr>
            <a:r>
              <a:rPr lang="en-US" sz="1600" dirty="0"/>
              <a:t>Para </a:t>
            </a:r>
            <a:r>
              <a:rPr lang="en-US" sz="1600" dirty="0" err="1"/>
              <a:t>detalhes</a:t>
            </a:r>
            <a:r>
              <a:rPr lang="en-US" sz="1600" dirty="0"/>
              <a:t> </a:t>
            </a:r>
            <a:r>
              <a:rPr lang="en-US" sz="1600" dirty="0" err="1"/>
              <a:t>ver</a:t>
            </a:r>
            <a:r>
              <a:rPr lang="en-US" sz="1600" dirty="0"/>
              <a:t> </a:t>
            </a:r>
            <a:r>
              <a:rPr lang="en-US" sz="1600" b="1" dirty="0">
                <a:hlinkClick r:id="rId2"/>
              </a:rPr>
              <a:t>Intel </a:t>
            </a:r>
            <a:r>
              <a:rPr lang="en-US" sz="1600" b="1" dirty="0" err="1">
                <a:hlinkClick r:id="rId2"/>
              </a:rPr>
              <a:t>Intrinsics</a:t>
            </a:r>
            <a:r>
              <a:rPr lang="en-US" sz="1600" b="1" dirty="0">
                <a:hlinkClick r:id="rId2"/>
              </a:rPr>
              <a:t> Guide</a:t>
            </a:r>
            <a:r>
              <a:rPr lang="en-US" sz="1600" dirty="0"/>
              <a:t>  </a:t>
            </a:r>
            <a:r>
              <a:rPr lang="en-US" sz="1200" dirty="0"/>
              <a:t>(</a:t>
            </a:r>
            <a:r>
              <a:rPr lang="pt-PT" sz="1200" u="sng" dirty="0">
                <a:hlinkClick r:id="rId2"/>
              </a:rPr>
              <a:t>https://software.intel.com/sites/landingpage/IntrinsicsGuide/#</a:t>
            </a:r>
            <a:r>
              <a:rPr lang="pt-PT" sz="1200" u="sng" dirty="0"/>
              <a:t>)</a:t>
            </a:r>
            <a:endParaRPr lang="pt-PT" sz="1600" dirty="0"/>
          </a:p>
          <a:p>
            <a:pPr marL="0" indent="0">
              <a:spcBef>
                <a:spcPts val="1200"/>
              </a:spcBef>
              <a:buNone/>
              <a:defRPr/>
            </a:pPr>
            <a:endParaRPr lang="en-US" sz="2400" dirty="0"/>
          </a:p>
        </p:txBody>
      </p:sp>
      <p:sp>
        <p:nvSpPr>
          <p:cNvPr id="16388" name="Marcador de Posição do Número do Diapositivo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22DBF-EE53-46D7-9FE2-6D0F3E5678D8}" type="slidenum">
              <a:rPr lang="pt-PT" smtClean="0"/>
              <a:pPr>
                <a:defRPr/>
              </a:pPr>
              <a:t>15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82599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altLang="pt-PT" i="1"/>
              <a:t>Compiler Intrinsics</a:t>
            </a:r>
            <a:endParaRPr lang="pt-PT" altLang="pt-PT"/>
          </a:p>
        </p:txBody>
      </p:sp>
      <p:sp>
        <p:nvSpPr>
          <p:cNvPr id="16387" name="Marcador de Posição de Conteúdo 2"/>
          <p:cNvSpPr>
            <a:spLocks noGrp="1"/>
          </p:cNvSpPr>
          <p:nvPr>
            <p:ph idx="1"/>
          </p:nvPr>
        </p:nvSpPr>
        <p:spPr>
          <a:xfrm>
            <a:off x="323528" y="980728"/>
            <a:ext cx="8534400" cy="995363"/>
          </a:xfrm>
        </p:spPr>
        <p:txBody>
          <a:bodyPr/>
          <a:lstStyle/>
          <a:p>
            <a:r>
              <a:rPr lang="pt-PT" altLang="pt-PT" sz="2400" dirty="0"/>
              <a:t>As funções e tipos de dados definidos como </a:t>
            </a:r>
            <a:r>
              <a:rPr lang="pt-PT" altLang="pt-PT" sz="2400" i="1" dirty="0" err="1"/>
              <a:t>intrinsics</a:t>
            </a:r>
            <a:r>
              <a:rPr lang="pt-PT" altLang="pt-PT" sz="2400" dirty="0"/>
              <a:t> são acessíveis incluindo os </a:t>
            </a:r>
            <a:r>
              <a:rPr lang="pt-PT" altLang="pt-PT" sz="2400" i="1" dirty="0" err="1"/>
              <a:t>headers</a:t>
            </a:r>
            <a:r>
              <a:rPr lang="pt-PT" altLang="pt-PT" sz="2400" i="1" dirty="0"/>
              <a:t> </a:t>
            </a:r>
            <a:r>
              <a:rPr lang="pt-PT" altLang="pt-PT" sz="2400" dirty="0"/>
              <a:t>apropriados:</a:t>
            </a:r>
          </a:p>
          <a:p>
            <a:pPr>
              <a:buFontTx/>
              <a:buNone/>
            </a:pPr>
            <a:endParaRPr lang="pt-PT" altLang="pt-PT" sz="2400" dirty="0">
              <a:cs typeface="Courier New" pitchFamily="49" charset="0"/>
            </a:endParaRPr>
          </a:p>
        </p:txBody>
      </p:sp>
      <p:sp>
        <p:nvSpPr>
          <p:cNvPr id="17412" name="Marcador de Posição do Número do Diapositivo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69419ED-1438-49B8-AC3D-8D2AFF2837CB}" type="slidenum">
              <a:rPr lang="pt-PT" smtClean="0"/>
              <a:pPr>
                <a:defRPr/>
              </a:pPr>
              <a:t>16</a:t>
            </a:fld>
            <a:endParaRPr lang="pt-PT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932575"/>
              </p:ext>
            </p:extLst>
          </p:nvPr>
        </p:nvGraphicFramePr>
        <p:xfrm>
          <a:off x="1331640" y="4609936"/>
          <a:ext cx="6096000" cy="1483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85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0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pt-PT" dirty="0">
                          <a:solidFill>
                            <a:srgbClr val="FFFFFF"/>
                          </a:solidFill>
                        </a:rPr>
                        <a:t>Tipos de Dados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>
                          <a:solidFill>
                            <a:schemeClr val="tx1"/>
                          </a:solidFill>
                        </a:rPr>
                        <a:t>__m64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>
                          <a:solidFill>
                            <a:schemeClr val="tx1"/>
                          </a:solidFill>
                        </a:rPr>
                        <a:t>Vector de 64 bits – inteiros (MMX)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>
                          <a:solidFill>
                            <a:schemeClr val="tx1"/>
                          </a:solidFill>
                        </a:rPr>
                        <a:t>__m128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>
                          <a:solidFill>
                            <a:schemeClr val="tx1"/>
                          </a:solidFill>
                        </a:rPr>
                        <a:t>Vector 128 </a:t>
                      </a:r>
                      <a:r>
                        <a:rPr lang="pt-PT" i="1" dirty="0">
                          <a:solidFill>
                            <a:schemeClr val="tx1"/>
                          </a:solidFill>
                        </a:rPr>
                        <a:t>bits </a:t>
                      </a:r>
                      <a:r>
                        <a:rPr lang="pt-PT" i="0" dirty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pt-PT" dirty="0">
                          <a:solidFill>
                            <a:schemeClr val="tx1"/>
                          </a:solidFill>
                        </a:rPr>
                        <a:t>4 FP SP  (SSE)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>
                          <a:solidFill>
                            <a:schemeClr val="tx1"/>
                          </a:solidFill>
                        </a:rPr>
                        <a:t>__m256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 err="1">
                          <a:solidFill>
                            <a:schemeClr val="tx1"/>
                          </a:solidFill>
                        </a:rPr>
                        <a:t>Vector</a:t>
                      </a:r>
                      <a:r>
                        <a:rPr lang="pt-PT" dirty="0">
                          <a:solidFill>
                            <a:schemeClr val="tx1"/>
                          </a:solidFill>
                        </a:rPr>
                        <a:t> 256 </a:t>
                      </a:r>
                      <a:r>
                        <a:rPr lang="pt-PT" i="1" dirty="0">
                          <a:solidFill>
                            <a:schemeClr val="tx1"/>
                          </a:solidFill>
                        </a:rPr>
                        <a:t>bits </a:t>
                      </a:r>
                      <a:r>
                        <a:rPr lang="pt-PT" i="0" dirty="0">
                          <a:solidFill>
                            <a:schemeClr val="tx1"/>
                          </a:solidFill>
                        </a:rPr>
                        <a:t>– 8</a:t>
                      </a:r>
                      <a:r>
                        <a:rPr lang="pt-PT" dirty="0">
                          <a:solidFill>
                            <a:schemeClr val="tx1"/>
                          </a:solidFill>
                        </a:rPr>
                        <a:t> FP SP  (AVX)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824272"/>
              </p:ext>
            </p:extLst>
          </p:nvPr>
        </p:nvGraphicFramePr>
        <p:xfrm>
          <a:off x="251520" y="1916832"/>
          <a:ext cx="8208912" cy="2225040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1512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PT" sz="1800" b="0" dirty="0" err="1">
                          <a:solidFill>
                            <a:schemeClr val="tx1"/>
                          </a:solidFill>
                        </a:rPr>
                        <a:t>xmmintrin.h</a:t>
                      </a:r>
                      <a:endParaRPr lang="pt-PT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b="0" dirty="0" err="1">
                          <a:solidFill>
                            <a:schemeClr val="tx1"/>
                          </a:solidFill>
                        </a:rPr>
                        <a:t>Streaming</a:t>
                      </a:r>
                      <a:r>
                        <a:rPr lang="pt-PT" sz="1800" b="0" dirty="0">
                          <a:solidFill>
                            <a:schemeClr val="tx1"/>
                          </a:solidFill>
                        </a:rPr>
                        <a:t> SIMD </a:t>
                      </a:r>
                      <a:r>
                        <a:rPr lang="pt-PT" sz="1800" b="0" dirty="0" err="1">
                          <a:solidFill>
                            <a:schemeClr val="tx1"/>
                          </a:solidFill>
                        </a:rPr>
                        <a:t>Extensions</a:t>
                      </a:r>
                      <a:r>
                        <a:rPr lang="pt-PT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b="0" dirty="0">
                          <a:solidFill>
                            <a:schemeClr val="tx1"/>
                          </a:solidFill>
                        </a:rPr>
                        <a:t>SSE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800" dirty="0" err="1">
                          <a:solidFill>
                            <a:schemeClr val="tx1"/>
                          </a:solidFill>
                        </a:rPr>
                        <a:t>emmintrin.h</a:t>
                      </a:r>
                      <a:endParaRPr lang="pt-PT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800" dirty="0" err="1">
                          <a:solidFill>
                            <a:schemeClr val="tx1"/>
                          </a:solidFill>
                        </a:rPr>
                        <a:t>Streaming</a:t>
                      </a:r>
                      <a:r>
                        <a:rPr lang="pt-PT" sz="1800" dirty="0">
                          <a:solidFill>
                            <a:schemeClr val="tx1"/>
                          </a:solidFill>
                        </a:rPr>
                        <a:t> SIMD </a:t>
                      </a:r>
                      <a:r>
                        <a:rPr lang="pt-PT" sz="1800" dirty="0" err="1">
                          <a:solidFill>
                            <a:schemeClr val="tx1"/>
                          </a:solidFill>
                        </a:rPr>
                        <a:t>Extensions</a:t>
                      </a:r>
                      <a:r>
                        <a:rPr lang="pt-PT" sz="1800" dirty="0">
                          <a:solidFill>
                            <a:schemeClr val="tx1"/>
                          </a:solidFill>
                        </a:rPr>
                        <a:t>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</a:rPr>
                        <a:t>SSE2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800" dirty="0" err="1">
                          <a:solidFill>
                            <a:schemeClr val="tx1"/>
                          </a:solidFill>
                        </a:rPr>
                        <a:t>pmmintrin.h</a:t>
                      </a:r>
                      <a:endParaRPr lang="pt-PT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800" dirty="0" err="1">
                          <a:solidFill>
                            <a:schemeClr val="tx1"/>
                          </a:solidFill>
                        </a:rPr>
                        <a:t>Streaming</a:t>
                      </a:r>
                      <a:r>
                        <a:rPr lang="pt-PT" sz="1800" dirty="0">
                          <a:solidFill>
                            <a:schemeClr val="tx1"/>
                          </a:solidFill>
                        </a:rPr>
                        <a:t> SIMD </a:t>
                      </a:r>
                      <a:r>
                        <a:rPr lang="pt-PT" sz="1800" dirty="0" err="1">
                          <a:solidFill>
                            <a:schemeClr val="tx1"/>
                          </a:solidFill>
                        </a:rPr>
                        <a:t>Extensions</a:t>
                      </a:r>
                      <a:r>
                        <a:rPr lang="pt-PT" sz="1800" dirty="0">
                          <a:solidFill>
                            <a:schemeClr val="tx1"/>
                          </a:solidFill>
                        </a:rPr>
                        <a:t>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</a:rPr>
                        <a:t>SSE3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800" dirty="0" err="1">
                          <a:solidFill>
                            <a:schemeClr val="tx1"/>
                          </a:solidFill>
                        </a:rPr>
                        <a:t>smmintrin.h</a:t>
                      </a:r>
                      <a:endParaRPr lang="pt-PT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800" dirty="0" err="1">
                          <a:solidFill>
                            <a:schemeClr val="tx1"/>
                          </a:solidFill>
                        </a:rPr>
                        <a:t>Streaming</a:t>
                      </a:r>
                      <a:r>
                        <a:rPr lang="pt-PT" sz="1800" dirty="0">
                          <a:solidFill>
                            <a:schemeClr val="tx1"/>
                          </a:solidFill>
                        </a:rPr>
                        <a:t> SIMD </a:t>
                      </a:r>
                      <a:r>
                        <a:rPr lang="pt-PT" sz="1800" dirty="0" err="1">
                          <a:solidFill>
                            <a:schemeClr val="tx1"/>
                          </a:solidFill>
                        </a:rPr>
                        <a:t>Extensions</a:t>
                      </a:r>
                      <a:r>
                        <a:rPr lang="pt-PT" sz="1800" dirty="0">
                          <a:solidFill>
                            <a:schemeClr val="tx1"/>
                          </a:solidFill>
                        </a:rPr>
                        <a:t> 4</a:t>
                      </a:r>
                      <a:r>
                        <a:rPr lang="pt-PT" sz="1800" baseline="0" dirty="0">
                          <a:solidFill>
                            <a:schemeClr val="tx1"/>
                          </a:solidFill>
                        </a:rPr>
                        <a:t> (vector </a:t>
                      </a:r>
                      <a:r>
                        <a:rPr lang="pt-PT" sz="1800" baseline="0" dirty="0" err="1">
                          <a:solidFill>
                            <a:schemeClr val="tx1"/>
                          </a:solidFill>
                        </a:rPr>
                        <a:t>math</a:t>
                      </a:r>
                      <a:r>
                        <a:rPr lang="pt-PT" sz="180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pt-PT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</a:rPr>
                        <a:t>SSE4.1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800" dirty="0" err="1">
                          <a:solidFill>
                            <a:schemeClr val="tx1"/>
                          </a:solidFill>
                        </a:rPr>
                        <a:t>nmmintrin.h</a:t>
                      </a:r>
                      <a:endParaRPr lang="pt-PT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800" dirty="0" err="1">
                          <a:solidFill>
                            <a:schemeClr val="tx1"/>
                          </a:solidFill>
                        </a:rPr>
                        <a:t>Streaming</a:t>
                      </a:r>
                      <a:r>
                        <a:rPr lang="pt-PT" sz="1800" dirty="0">
                          <a:solidFill>
                            <a:schemeClr val="tx1"/>
                          </a:solidFill>
                        </a:rPr>
                        <a:t> SIMD </a:t>
                      </a:r>
                      <a:r>
                        <a:rPr lang="pt-PT" sz="1800" dirty="0" err="1">
                          <a:solidFill>
                            <a:schemeClr val="tx1"/>
                          </a:solidFill>
                        </a:rPr>
                        <a:t>Extensions</a:t>
                      </a:r>
                      <a:r>
                        <a:rPr lang="pt-PT" sz="1800" dirty="0">
                          <a:solidFill>
                            <a:schemeClr val="tx1"/>
                          </a:solidFill>
                        </a:rPr>
                        <a:t> 4</a:t>
                      </a:r>
                      <a:r>
                        <a:rPr lang="pt-PT" sz="1800" baseline="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pt-PT" sz="1800" baseline="0" dirty="0" err="1">
                          <a:solidFill>
                            <a:schemeClr val="tx1"/>
                          </a:solidFill>
                        </a:rPr>
                        <a:t>string</a:t>
                      </a:r>
                      <a:r>
                        <a:rPr lang="pt-PT" sz="18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pt-PT" sz="1800" baseline="0" dirty="0" err="1">
                          <a:solidFill>
                            <a:schemeClr val="tx1"/>
                          </a:solidFill>
                        </a:rPr>
                        <a:t>processing</a:t>
                      </a:r>
                      <a:r>
                        <a:rPr lang="pt-PT" sz="180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pt-PT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</a:rPr>
                        <a:t>SSE4.2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800" dirty="0" err="1">
                          <a:solidFill>
                            <a:schemeClr val="tx1"/>
                          </a:solidFill>
                        </a:rPr>
                        <a:t>immintrin.h</a:t>
                      </a:r>
                      <a:endParaRPr lang="pt-PT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800" dirty="0" err="1">
                          <a:solidFill>
                            <a:schemeClr val="tx1"/>
                          </a:solidFill>
                        </a:rPr>
                        <a:t>Advanced</a:t>
                      </a:r>
                      <a:r>
                        <a:rPr lang="pt-PT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pt-PT" sz="1800" dirty="0" err="1">
                          <a:solidFill>
                            <a:schemeClr val="tx1"/>
                          </a:solidFill>
                        </a:rPr>
                        <a:t>Vector</a:t>
                      </a:r>
                      <a:r>
                        <a:rPr lang="pt-PT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pt-PT" sz="1800" dirty="0" err="1">
                          <a:solidFill>
                            <a:schemeClr val="tx1"/>
                          </a:solidFill>
                        </a:rPr>
                        <a:t>Extensions</a:t>
                      </a:r>
                      <a:r>
                        <a:rPr lang="pt-PT" sz="1800" dirty="0">
                          <a:solidFill>
                            <a:schemeClr val="tx1"/>
                          </a:solidFill>
                        </a:rPr>
                        <a:t> 1 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</a:rPr>
                        <a:t>AVX2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5295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altLang="pt-PT" i="1"/>
              <a:t>Compiler Intrinsics</a:t>
            </a:r>
            <a:endParaRPr lang="pt-PT" altLang="pt-PT"/>
          </a:p>
        </p:txBody>
      </p:sp>
      <p:sp>
        <p:nvSpPr>
          <p:cNvPr id="18435" name="Marcador de Posição do Número do Diapositivo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18087C-999E-479E-911E-7125BC18315A}" type="slidenum">
              <a:rPr lang="pt-PT" smtClean="0"/>
              <a:pPr>
                <a:defRPr/>
              </a:pPr>
              <a:t>17</a:t>
            </a:fld>
            <a:endParaRPr lang="pt-PT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02936"/>
              </p:ext>
            </p:extLst>
          </p:nvPr>
        </p:nvGraphicFramePr>
        <p:xfrm>
          <a:off x="428625" y="1397000"/>
          <a:ext cx="8358188" cy="333692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6474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4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769">
                <a:tc gridSpan="3">
                  <a:txBody>
                    <a:bodyPr/>
                    <a:lstStyle/>
                    <a:p>
                      <a:pPr algn="ctr"/>
                      <a:r>
                        <a:rPr lang="pt-PT" sz="1800" dirty="0">
                          <a:latin typeface="Calibri" pitchFamily="34" charset="0"/>
                        </a:rPr>
                        <a:t>Operações</a:t>
                      </a:r>
                      <a:r>
                        <a:rPr lang="pt-PT" sz="1800" baseline="0" dirty="0">
                          <a:latin typeface="Calibri" pitchFamily="34" charset="0"/>
                        </a:rPr>
                        <a:t> Aritméticas (single FP)</a:t>
                      </a:r>
                      <a:endParaRPr lang="pt-PT" sz="1800" dirty="0">
                        <a:latin typeface="Calibri" pitchFamily="34" charset="0"/>
                      </a:endParaRPr>
                    </a:p>
                  </a:txBody>
                  <a:tcPr marL="91439" marR="91439" marT="45711" marB="45711"/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pt-PT" sz="1800" dirty="0" err="1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Pseudo-função</a:t>
                      </a:r>
                      <a:endParaRPr lang="pt-PT" sz="1800" dirty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 marL="91439" marR="91439" marT="45711" marB="4571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Descrição</a:t>
                      </a: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Instrução</a:t>
                      </a: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__m256 _</a:t>
                      </a:r>
                      <a:r>
                        <a:rPr lang="pt-PT" sz="160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mm_add_ps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(__m256, __m256)</a:t>
                      </a:r>
                    </a:p>
                  </a:txBody>
                  <a:tcPr marL="91439" marR="91439" marT="45711" marB="4571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Adição</a:t>
                      </a: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VADDPS</a:t>
                      </a: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__m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256</a:t>
                      </a: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_</a:t>
                      </a:r>
                      <a:r>
                        <a:rPr lang="pt-PT" sz="1600" kern="120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mm_sub_ps</a:t>
                      </a: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(__m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256</a:t>
                      </a: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, __m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256</a:t>
                      </a: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)</a:t>
                      </a:r>
                    </a:p>
                  </a:txBody>
                  <a:tcPr marL="91439" marR="91439" marT="45711" marB="4571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Subtracção</a:t>
                      </a: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VSUBPS</a:t>
                      </a: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__m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256</a:t>
                      </a: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_</a:t>
                      </a:r>
                      <a:r>
                        <a:rPr lang="pt-PT" sz="1600" kern="120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mm_mul_ps</a:t>
                      </a: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(__m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256</a:t>
                      </a: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, __m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256</a:t>
                      </a: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)</a:t>
                      </a:r>
                    </a:p>
                  </a:txBody>
                  <a:tcPr marL="91439" marR="91439" marT="45711" marB="4571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Multiplicação</a:t>
                      </a: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VMULPS</a:t>
                      </a: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__m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256</a:t>
                      </a: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_</a:t>
                      </a:r>
                      <a:r>
                        <a:rPr lang="pt-PT" sz="1600" kern="120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mm_div_ps</a:t>
                      </a: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(__m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256</a:t>
                      </a: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, __m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256</a:t>
                      </a: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)</a:t>
                      </a:r>
                    </a:p>
                  </a:txBody>
                  <a:tcPr marL="91439" marR="91439" marT="45711" marB="4571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Divisão</a:t>
                      </a: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VDIVPS</a:t>
                      </a: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__m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256</a:t>
                      </a: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_</a:t>
                      </a:r>
                      <a:r>
                        <a:rPr lang="pt-PT" sz="1600" kern="120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mm_sqrt_ps</a:t>
                      </a: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(__m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256</a:t>
                      </a: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)</a:t>
                      </a:r>
                    </a:p>
                  </a:txBody>
                  <a:tcPr marL="91439" marR="91439" marT="45711" marB="4571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Raiz Quadrada</a:t>
                      </a: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VSQRTPS</a:t>
                      </a: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__m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256</a:t>
                      </a: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_</a:t>
                      </a:r>
                      <a:r>
                        <a:rPr lang="pt-PT" sz="1600" kern="120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mm_rcp_ps</a:t>
                      </a: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(__m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256</a:t>
                      </a: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)</a:t>
                      </a:r>
                    </a:p>
                  </a:txBody>
                  <a:tcPr marL="91439" marR="91439" marT="45711" marB="4571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Inverso</a:t>
                      </a: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VRCPPS</a:t>
                      </a: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__m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256</a:t>
                      </a: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_</a:t>
                      </a:r>
                      <a:r>
                        <a:rPr lang="pt-PT" sz="1600" kern="120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mm_rsqrt_ps</a:t>
                      </a: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(__m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256</a:t>
                      </a:r>
                      <a:r>
                        <a:rPr lang="pt-PT" sz="1600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)</a:t>
                      </a:r>
                    </a:p>
                  </a:txBody>
                  <a:tcPr marL="91439" marR="91439" marT="45711" marB="4571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8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Inverso Raiz Quadrada</a:t>
                      </a: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VRSQRTPS</a:t>
                      </a: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2851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altLang="pt-PT" i="1"/>
              <a:t>Compiler Intrinsics</a:t>
            </a:r>
            <a:endParaRPr lang="pt-PT" altLang="pt-PT"/>
          </a:p>
        </p:txBody>
      </p:sp>
      <p:sp>
        <p:nvSpPr>
          <p:cNvPr id="19459" name="Marcador de Posição do Número do Diapositivo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9C5F44C-BAF5-4A88-9826-3A3FF20D2D37}" type="slidenum">
              <a:rPr lang="pt-PT" smtClean="0"/>
              <a:pPr>
                <a:defRPr/>
              </a:pPr>
              <a:t>18</a:t>
            </a:fld>
            <a:endParaRPr lang="pt-PT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143208"/>
              </p:ext>
            </p:extLst>
          </p:nvPr>
        </p:nvGraphicFramePr>
        <p:xfrm>
          <a:off x="395536" y="1988840"/>
          <a:ext cx="8358188" cy="385079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248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3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66">
                <a:tc gridSpan="3">
                  <a:txBody>
                    <a:bodyPr/>
                    <a:lstStyle/>
                    <a:p>
                      <a:pPr algn="ctr"/>
                      <a:r>
                        <a:rPr lang="pt-PT" sz="1800" dirty="0">
                          <a:latin typeface="Calibri" pitchFamily="34" charset="0"/>
                        </a:rPr>
                        <a:t>Movimento de Dados (single FP)</a:t>
                      </a:r>
                    </a:p>
                  </a:txBody>
                  <a:tcPr marL="91439" marR="91439" marT="45723" marB="45723"/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66">
                <a:tc>
                  <a:txBody>
                    <a:bodyPr/>
                    <a:lstStyle/>
                    <a:p>
                      <a:pPr algn="ctr"/>
                      <a:r>
                        <a:rPr lang="pt-PT" sz="1800" dirty="0" err="1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Pseudo-função</a:t>
                      </a:r>
                      <a:endParaRPr lang="pt-PT" sz="1800" dirty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 marL="91439" marR="91439" marT="45723" marB="45723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Descrição</a:t>
                      </a:r>
                    </a:p>
                  </a:txBody>
                  <a:tcPr marL="91439" marR="91439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Instrução</a:t>
                      </a:r>
                    </a:p>
                  </a:txBody>
                  <a:tcPr marL="91439" marR="91439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25">
                <a:tc>
                  <a:txBody>
                    <a:bodyPr/>
                    <a:lstStyle/>
                    <a:p>
                      <a:pPr lvl="0"/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__m256 _mm256_load_ps (</a:t>
                      </a:r>
                      <a:r>
                        <a:rPr lang="pt-PT" sz="160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float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*)</a:t>
                      </a:r>
                    </a:p>
                  </a:txBody>
                  <a:tcPr marL="91439" marR="91439" marT="45723" marB="4572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Carrega vector de memória para registo 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(alinhado 32)</a:t>
                      </a:r>
                      <a:endParaRPr lang="pt-PT" sz="1800" dirty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 marL="91439" marR="91439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VMOVAPS</a:t>
                      </a:r>
                    </a:p>
                  </a:txBody>
                  <a:tcPr marL="91439" marR="91439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25">
                <a:tc>
                  <a:txBody>
                    <a:bodyPr/>
                    <a:lstStyle/>
                    <a:p>
                      <a:pPr lvl="0"/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__m256 _</a:t>
                      </a:r>
                      <a:r>
                        <a:rPr lang="pt-PT" sz="160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mm_broadcast_ps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(</a:t>
                      </a:r>
                      <a:r>
                        <a:rPr lang="pt-PT" sz="160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float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*)</a:t>
                      </a:r>
                    </a:p>
                  </a:txBody>
                  <a:tcPr marL="91439" marR="91439" marT="45723" marB="4572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Carrega 1</a:t>
                      </a:r>
                      <a:r>
                        <a:rPr lang="pt-PT" sz="1800" baseline="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 FP</a:t>
                      </a:r>
                      <a:r>
                        <a:rPr lang="pt-PT" sz="18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 de memória para os 8 elementos do registo YMM</a:t>
                      </a:r>
                    </a:p>
                  </a:txBody>
                  <a:tcPr marL="91439" marR="91439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VBROADCASTSS</a:t>
                      </a:r>
                    </a:p>
                  </a:txBody>
                  <a:tcPr marL="91439" marR="91439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125">
                <a:tc>
                  <a:txBody>
                    <a:bodyPr/>
                    <a:lstStyle/>
                    <a:p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_mm256_store_ps (</a:t>
                      </a:r>
                      <a:r>
                        <a:rPr lang="pt-PT" sz="160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float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*, __m256)</a:t>
                      </a:r>
                    </a:p>
                  </a:txBody>
                  <a:tcPr marL="91439" marR="91439" marT="45723" marB="4572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Escreve registo em vector de memória 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(alinhado 32)</a:t>
                      </a:r>
                      <a:endParaRPr lang="pt-PT" sz="1800" dirty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 marL="91439" marR="91439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VMOVAPS</a:t>
                      </a:r>
                    </a:p>
                  </a:txBody>
                  <a:tcPr marL="91439" marR="91439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1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__m256 _mm256_set1_ps (</a:t>
                      </a:r>
                      <a:r>
                        <a:rPr lang="pt-PT" sz="160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float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</a:p>
                  </a:txBody>
                  <a:tcPr marL="91439" marR="91439" marT="45723" marB="4572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Todos os 8 elementos do registo YMM são iniciados com o mesmo </a:t>
                      </a:r>
                      <a:r>
                        <a:rPr lang="pt-PT" sz="1800" dirty="0" err="1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float</a:t>
                      </a:r>
                      <a:endParaRPr lang="pt-PT" sz="1800" dirty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 marL="91439" marR="91439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---</a:t>
                      </a:r>
                    </a:p>
                  </a:txBody>
                  <a:tcPr marL="91439" marR="91439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9162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altLang="pt-PT" i="1" dirty="0" err="1"/>
              <a:t>Compiler</a:t>
            </a:r>
            <a:r>
              <a:rPr lang="pt-PT" altLang="pt-PT" i="1" dirty="0"/>
              <a:t> </a:t>
            </a:r>
            <a:r>
              <a:rPr lang="pt-PT" altLang="pt-PT" i="1" dirty="0" err="1"/>
              <a:t>Intrinsics</a:t>
            </a:r>
            <a:r>
              <a:rPr lang="pt-PT" altLang="pt-PT" i="1" dirty="0"/>
              <a:t>: </a:t>
            </a:r>
            <a:r>
              <a:rPr lang="pt-PT" altLang="pt-PT" dirty="0"/>
              <a:t>Exemplo 1</a:t>
            </a:r>
          </a:p>
        </p:txBody>
      </p:sp>
      <p:sp>
        <p:nvSpPr>
          <p:cNvPr id="22531" name="Marcador de Posição do Número do Diapositivo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6C1CC6A-80CC-4C32-990E-FB695F2F02CA}" type="slidenum">
              <a:rPr lang="pt-PT" smtClean="0"/>
              <a:pPr>
                <a:defRPr/>
              </a:pPr>
              <a:t>19</a:t>
            </a:fld>
            <a:endParaRPr lang="pt-PT"/>
          </a:p>
        </p:txBody>
      </p:sp>
      <p:sp>
        <p:nvSpPr>
          <p:cNvPr id="5" name="CaixaDeTexto 4"/>
          <p:cNvSpPr txBox="1"/>
          <p:nvPr/>
        </p:nvSpPr>
        <p:spPr>
          <a:xfrm>
            <a:off x="285750" y="1000125"/>
            <a:ext cx="5615640" cy="23083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#define SIZE 1000000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a[SIZE]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b[SIZE]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c[SIZE]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endParaRPr lang="pt-PT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func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for 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i=0 ; i&lt; SIZE ; i++)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c[i] = a[i] + b[i];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} }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915816" y="3068960"/>
            <a:ext cx="5615640" cy="329320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include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&lt;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immintrin.h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#define SIZE 1000000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a[SIZE]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b[SIZE]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c[SIZE]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endParaRPr lang="pt-PT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func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for 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i=0 ; i&lt;SIZE ; i+=8)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__m256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mb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= _mm256_load_ps (&amp;b[i]);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__m256 ma = _mm256_load_ps(&amp;a[i]);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__m256 mc = _mm256_add_ps (ma,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mb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_mm256_store_ps (&amp;c[i], mc);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} }</a:t>
            </a:r>
          </a:p>
        </p:txBody>
      </p:sp>
    </p:spTree>
    <p:extLst>
      <p:ext uri="{BB962C8B-B14F-4D97-AF65-F5344CB8AC3E}">
        <p14:creationId xmlns:p14="http://schemas.microsoft.com/office/powerpoint/2010/main" val="1457015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altLang="pt-PT" i="1" dirty="0" err="1"/>
              <a:t>Compiler</a:t>
            </a:r>
            <a:r>
              <a:rPr lang="pt-PT" altLang="pt-PT" i="1" dirty="0"/>
              <a:t> </a:t>
            </a:r>
            <a:r>
              <a:rPr lang="pt-PT" altLang="pt-PT" i="1" dirty="0" err="1"/>
              <a:t>Intrinsics</a:t>
            </a:r>
            <a:r>
              <a:rPr lang="pt-PT" altLang="pt-PT" i="1" dirty="0"/>
              <a:t>: </a:t>
            </a:r>
            <a:r>
              <a:rPr lang="pt-PT" altLang="pt-PT" dirty="0"/>
              <a:t>Exemplo 2</a:t>
            </a:r>
          </a:p>
        </p:txBody>
      </p:sp>
      <p:sp>
        <p:nvSpPr>
          <p:cNvPr id="22531" name="Marcador de Posição do Número do Diapositivo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6C1CC6A-80CC-4C32-990E-FB695F2F02CA}" type="slidenum">
              <a:rPr lang="pt-PT" smtClean="0"/>
              <a:pPr>
                <a:defRPr/>
              </a:pPr>
              <a:t>20</a:t>
            </a:fld>
            <a:endParaRPr lang="pt-PT"/>
          </a:p>
        </p:txBody>
      </p:sp>
      <p:sp>
        <p:nvSpPr>
          <p:cNvPr id="5" name="CaixaDeTexto 4"/>
          <p:cNvSpPr txBox="1"/>
          <p:nvPr/>
        </p:nvSpPr>
        <p:spPr>
          <a:xfrm>
            <a:off x="285750" y="1000125"/>
            <a:ext cx="5615640" cy="280076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#define SIZE 1000000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a[SIZE]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b[SIZE]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c[SIZE]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endParaRPr lang="pt-PT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alfa;</a:t>
            </a:r>
          </a:p>
          <a:p>
            <a:pPr>
              <a:defRPr/>
            </a:pPr>
            <a:endParaRPr lang="pt-PT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func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for 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i=0 ; i&lt; SIZE ; i++)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c[i] = alfa * a[i] + b[i];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} }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699792" y="2708920"/>
            <a:ext cx="6078526" cy="378565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include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&lt;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immintrin.h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#define SIZE 1000000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a[SIZE]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b[SIZE]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c[SIZE]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alfa;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func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__m256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m_alfa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= _mm256_broadcast_ps (&amp;alfa);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for 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i=0 ; i&lt;SIZE ; i+=8)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__m256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mb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= _mm256_load_ps (&amp;b[i]);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__m256 ma = _mm256_load_ps(&amp;a[i]);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ma = _mm256_mul_ps(ma,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m_alfa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__m256 mc = _mm256_add_ps (ma,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mb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_mm256_store_ps (&amp;c[i], mc);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} }</a:t>
            </a:r>
          </a:p>
        </p:txBody>
      </p:sp>
    </p:spTree>
    <p:extLst>
      <p:ext uri="{BB962C8B-B14F-4D97-AF65-F5344CB8AC3E}">
        <p14:creationId xmlns:p14="http://schemas.microsoft.com/office/powerpoint/2010/main" val="3620476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altLang="pt-PT" i="1" dirty="0" err="1"/>
              <a:t>Compiler</a:t>
            </a:r>
            <a:r>
              <a:rPr lang="pt-PT" altLang="pt-PT" i="1" dirty="0"/>
              <a:t> </a:t>
            </a:r>
            <a:r>
              <a:rPr lang="pt-PT" altLang="pt-PT" i="1" dirty="0" err="1"/>
              <a:t>Intrinsics</a:t>
            </a:r>
            <a:r>
              <a:rPr lang="pt-PT" altLang="pt-PT" i="1" dirty="0"/>
              <a:t>: </a:t>
            </a:r>
            <a:r>
              <a:rPr lang="pt-PT" altLang="pt-PT" dirty="0"/>
              <a:t>Exemplo 3</a:t>
            </a:r>
            <a:endParaRPr lang="pt-PT" altLang="pt-PT" sz="2400" dirty="0"/>
          </a:p>
        </p:txBody>
      </p:sp>
      <p:sp>
        <p:nvSpPr>
          <p:cNvPr id="22531" name="Marcador de Posição do Número do Diapositivo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6C1CC6A-80CC-4C32-990E-FB695F2F02CA}" type="slidenum">
              <a:rPr lang="pt-PT" smtClean="0"/>
              <a:pPr>
                <a:defRPr/>
              </a:pPr>
              <a:t>21</a:t>
            </a:fld>
            <a:endParaRPr lang="pt-PT"/>
          </a:p>
        </p:txBody>
      </p:sp>
      <p:sp>
        <p:nvSpPr>
          <p:cNvPr id="5" name="CaixaDeTexto 4"/>
          <p:cNvSpPr txBox="1"/>
          <p:nvPr/>
        </p:nvSpPr>
        <p:spPr>
          <a:xfrm>
            <a:off x="285750" y="1000125"/>
            <a:ext cx="5615640" cy="255454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include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&lt;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math.h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#define SIZE 1000000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a[SIZE]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b[SIZE]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c[SIZE]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endParaRPr lang="pt-PT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func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for 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i=0 ; i&lt; SIZE ; i++)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r[i] = 5. * (a[i] +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sqrt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(b[i]));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} }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715014" y="2948833"/>
            <a:ext cx="7713971" cy="353943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#include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&lt;ia32intrin.h&gt;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#define SIZE 1000000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a[SIZE]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b[SIZE]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c[SIZE]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endParaRPr lang="pt-PT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func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__m256 cinco = _mm256_set1_ps (5.);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for 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i=0 ; i&lt;SIZE ; i+=8)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__m256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mb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= _mm256_sqrt_ps(_mm256_load_ps (&amp;b[i]));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__m256 ma = _mm256_load_ps(&amp;a[i]);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__m256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mr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= _mm256_mul_ps (cinco, _mm256_add_ps (ma,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mb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_mm256_store_ps (&amp;c[i],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mr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} }</a:t>
            </a:r>
          </a:p>
        </p:txBody>
      </p:sp>
    </p:spTree>
    <p:extLst>
      <p:ext uri="{BB962C8B-B14F-4D97-AF65-F5344CB8AC3E}">
        <p14:creationId xmlns:p14="http://schemas.microsoft.com/office/powerpoint/2010/main" val="4243382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Auto-vectorização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O compilador pode vectorizar o código</a:t>
            </a:r>
          </a:p>
          <a:p>
            <a:endParaRPr lang="pt-PT" dirty="0"/>
          </a:p>
          <a:p>
            <a:r>
              <a:rPr lang="pt-PT" dirty="0"/>
              <a:t>Comando </a:t>
            </a:r>
            <a:r>
              <a:rPr lang="pt-PT" dirty="0" err="1"/>
              <a:t>gcc</a:t>
            </a:r>
            <a:r>
              <a:rPr lang="pt-PT" dirty="0"/>
              <a:t>:</a:t>
            </a:r>
          </a:p>
          <a:p>
            <a:endParaRPr lang="pt-PT" dirty="0"/>
          </a:p>
          <a:p>
            <a:pPr marL="0" indent="0" algn="ctr">
              <a:buNone/>
            </a:pPr>
            <a:r>
              <a:rPr lang="pt-P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r>
              <a:rPr lang="pt-P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–O3 –</a:t>
            </a:r>
            <a:r>
              <a:rPr lang="pt-P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march</a:t>
            </a:r>
            <a:r>
              <a:rPr lang="pt-P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=… </a:t>
            </a:r>
          </a:p>
          <a:p>
            <a:pPr marL="0" indent="0" algn="ctr">
              <a:buNone/>
            </a:pPr>
            <a:r>
              <a:rPr lang="pt-P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Ou</a:t>
            </a:r>
          </a:p>
          <a:p>
            <a:pPr marL="0" indent="0" algn="ctr">
              <a:buNone/>
            </a:pPr>
            <a:r>
              <a:rPr lang="pt-P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r>
              <a:rPr lang="pt-P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–</a:t>
            </a:r>
            <a:r>
              <a:rPr lang="pt-P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ftree-vectorize</a:t>
            </a:r>
            <a:r>
              <a:rPr lang="pt-P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–</a:t>
            </a:r>
            <a:r>
              <a:rPr lang="pt-P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march</a:t>
            </a:r>
            <a:r>
              <a:rPr lang="pt-P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=….</a:t>
            </a:r>
          </a:p>
          <a:p>
            <a:pPr marL="0" indent="0" algn="ctr">
              <a:buNone/>
            </a:pPr>
            <a:endParaRPr lang="pt-PT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22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481125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Auto-vectorização</a:t>
            </a:r>
            <a:endParaRPr lang="pt-PT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23</a:t>
            </a:fld>
            <a:endParaRPr lang="pt-PT" altLang="pt-PT"/>
          </a:p>
        </p:txBody>
      </p:sp>
      <p:sp>
        <p:nvSpPr>
          <p:cNvPr id="7" name="CaixaDeTexto 6"/>
          <p:cNvSpPr txBox="1"/>
          <p:nvPr/>
        </p:nvSpPr>
        <p:spPr>
          <a:xfrm>
            <a:off x="455171" y="803048"/>
            <a:ext cx="6250429" cy="258532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#define SIZE 1000000</a:t>
            </a:r>
          </a:p>
          <a:p>
            <a:pPr>
              <a:defRPr/>
            </a:pP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a[SIZE] __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b[SIZE] __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c[SIZE] __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endParaRPr lang="pt-PT" sz="18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loop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() {</a:t>
            </a: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  for (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i=0 ; i&lt; SIZE ; i++) {</a:t>
            </a: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    c[i] = a[i] + b[i];</a:t>
            </a: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} }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851920" y="3140968"/>
            <a:ext cx="4464496" cy="286232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loop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xor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%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eax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, %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eax</a:t>
            </a:r>
            <a:endParaRPr lang="pt-PT" sz="18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.L1:</a:t>
            </a: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vmovaps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a(%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eax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), %ymm0</a:t>
            </a: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vaddps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b(%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eax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), %ymm0, %ymm0</a:t>
            </a: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vmovaps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%ymm0, c(%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eax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add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$32, %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eax</a:t>
            </a:r>
            <a:endParaRPr lang="pt-PT" sz="18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cmp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$4000000, %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eax</a:t>
            </a:r>
            <a:endParaRPr lang="pt-PT" sz="18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jl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.L1</a:t>
            </a: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ret</a:t>
            </a:r>
            <a:endParaRPr lang="pt-PT" sz="18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01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Auto-vectorização</a:t>
            </a:r>
            <a:endParaRPr lang="pt-PT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24</a:t>
            </a:fld>
            <a:endParaRPr lang="pt-PT" altLang="pt-PT"/>
          </a:p>
        </p:txBody>
      </p:sp>
      <p:sp>
        <p:nvSpPr>
          <p:cNvPr id="7" name="CaixaDeTexto 6"/>
          <p:cNvSpPr txBox="1"/>
          <p:nvPr/>
        </p:nvSpPr>
        <p:spPr>
          <a:xfrm>
            <a:off x="285750" y="1000125"/>
            <a:ext cx="7077579" cy="12003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loop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*a, 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*b, 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*c, 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S) {</a:t>
            </a: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  for (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i=0 ; i&lt; S ; i++) {</a:t>
            </a: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    c[i] = a[i] + b[i];</a:t>
            </a: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} }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467544" y="2636912"/>
            <a:ext cx="46087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Possibilidade de </a:t>
            </a:r>
            <a:r>
              <a:rPr lang="pt-PT" b="1" i="1" dirty="0" err="1"/>
              <a:t>aliasing</a:t>
            </a:r>
            <a:r>
              <a:rPr lang="pt-PT" dirty="0"/>
              <a:t>, isto é:</a:t>
            </a:r>
          </a:p>
          <a:p>
            <a:r>
              <a:rPr lang="pt-PT" dirty="0"/>
              <a:t>as regiões de memória apontadas pelos diferentes apontadores podem-se sobrepor!</a:t>
            </a:r>
          </a:p>
        </p:txBody>
      </p:sp>
      <p:grpSp>
        <p:nvGrpSpPr>
          <p:cNvPr id="10" name="Grupo 9"/>
          <p:cNvGrpSpPr/>
          <p:nvPr/>
        </p:nvGrpSpPr>
        <p:grpSpPr>
          <a:xfrm>
            <a:off x="7236296" y="2383980"/>
            <a:ext cx="1368152" cy="3637308"/>
            <a:chOff x="7236296" y="2383980"/>
            <a:chExt cx="1368152" cy="3637308"/>
          </a:xfrm>
        </p:grpSpPr>
        <p:sp>
          <p:nvSpPr>
            <p:cNvPr id="6" name="Rectângulo 5"/>
            <p:cNvSpPr/>
            <p:nvPr/>
          </p:nvSpPr>
          <p:spPr bwMode="auto">
            <a:xfrm>
              <a:off x="7236296" y="2708920"/>
              <a:ext cx="1368152" cy="331236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PT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CaixaDeTexto 8"/>
            <p:cNvSpPr txBox="1"/>
            <p:nvPr/>
          </p:nvSpPr>
          <p:spPr>
            <a:xfrm>
              <a:off x="7529078" y="2383980"/>
              <a:ext cx="7825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dirty="0"/>
                <a:t>MEM</a:t>
              </a:r>
            </a:p>
          </p:txBody>
        </p:sp>
      </p:grpSp>
      <p:grpSp>
        <p:nvGrpSpPr>
          <p:cNvPr id="15" name="Grupo 14"/>
          <p:cNvGrpSpPr/>
          <p:nvPr/>
        </p:nvGrpSpPr>
        <p:grpSpPr>
          <a:xfrm>
            <a:off x="5649726" y="2784090"/>
            <a:ext cx="2954722" cy="1581014"/>
            <a:chOff x="5649726" y="2784090"/>
            <a:chExt cx="2954722" cy="1581014"/>
          </a:xfrm>
        </p:grpSpPr>
        <p:sp>
          <p:nvSpPr>
            <p:cNvPr id="11" name="CaixaDeTexto 10"/>
            <p:cNvSpPr txBox="1"/>
            <p:nvPr/>
          </p:nvSpPr>
          <p:spPr>
            <a:xfrm>
              <a:off x="5649726" y="2784090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dirty="0"/>
                <a:t>a</a:t>
              </a:r>
            </a:p>
          </p:txBody>
        </p:sp>
        <p:sp>
          <p:nvSpPr>
            <p:cNvPr id="12" name="Rectângulo 11"/>
            <p:cNvSpPr/>
            <p:nvPr/>
          </p:nvSpPr>
          <p:spPr bwMode="auto">
            <a:xfrm>
              <a:off x="7236296" y="3184200"/>
              <a:ext cx="1368152" cy="1180904"/>
            </a:xfrm>
            <a:prstGeom prst="rect">
              <a:avLst/>
            </a:prstGeom>
            <a:solidFill>
              <a:srgbClr val="92D050">
                <a:alpha val="50000"/>
              </a:srgb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PT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4" name="Conexão em ângulos rectos 13"/>
            <p:cNvCxnSpPr>
              <a:stCxn id="11" idx="3"/>
            </p:cNvCxnSpPr>
            <p:nvPr/>
          </p:nvCxnSpPr>
          <p:spPr bwMode="auto">
            <a:xfrm>
              <a:off x="5977060" y="2984145"/>
              <a:ext cx="1259236" cy="200055"/>
            </a:xfrm>
            <a:prstGeom prst="bentConnector3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16" name="Grupo 15"/>
          <p:cNvGrpSpPr/>
          <p:nvPr/>
        </p:nvGrpSpPr>
        <p:grpSpPr>
          <a:xfrm>
            <a:off x="5652120" y="3360154"/>
            <a:ext cx="2954722" cy="1581014"/>
            <a:chOff x="5649726" y="2784090"/>
            <a:chExt cx="2954722" cy="1581014"/>
          </a:xfrm>
        </p:grpSpPr>
        <p:sp>
          <p:nvSpPr>
            <p:cNvPr id="17" name="CaixaDeTexto 16"/>
            <p:cNvSpPr txBox="1"/>
            <p:nvPr/>
          </p:nvSpPr>
          <p:spPr>
            <a:xfrm>
              <a:off x="5649726" y="278409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dirty="0"/>
                <a:t>c</a:t>
              </a:r>
            </a:p>
          </p:txBody>
        </p:sp>
        <p:sp>
          <p:nvSpPr>
            <p:cNvPr id="18" name="Rectângulo 17"/>
            <p:cNvSpPr/>
            <p:nvPr/>
          </p:nvSpPr>
          <p:spPr bwMode="auto">
            <a:xfrm>
              <a:off x="7236296" y="3184200"/>
              <a:ext cx="1368152" cy="1180904"/>
            </a:xfrm>
            <a:prstGeom prst="rect">
              <a:avLst/>
            </a:prstGeom>
            <a:solidFill>
              <a:srgbClr val="C00000">
                <a:alpha val="50000"/>
              </a:srgb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PT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" name="Conexão em ângulos rectos 18"/>
            <p:cNvCxnSpPr>
              <a:stCxn id="17" idx="3"/>
            </p:cNvCxnSpPr>
            <p:nvPr/>
          </p:nvCxnSpPr>
          <p:spPr bwMode="auto">
            <a:xfrm>
              <a:off x="5962632" y="2984145"/>
              <a:ext cx="1273664" cy="200055"/>
            </a:xfrm>
            <a:prstGeom prst="bentConnector3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20" name="CaixaDeTexto 19"/>
          <p:cNvSpPr txBox="1"/>
          <p:nvPr/>
        </p:nvSpPr>
        <p:spPr>
          <a:xfrm>
            <a:off x="489010" y="4112751"/>
            <a:ext cx="46087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i="1" dirty="0" err="1"/>
              <a:t>versioning</a:t>
            </a:r>
            <a:r>
              <a:rPr lang="pt-PT" dirty="0"/>
              <a:t>, isto é:</a:t>
            </a:r>
          </a:p>
          <a:p>
            <a:r>
              <a:rPr lang="pt-PT" dirty="0"/>
              <a:t>O </a:t>
            </a:r>
            <a:r>
              <a:rPr lang="pt-PT"/>
              <a:t>compilador gera versões </a:t>
            </a:r>
            <a:r>
              <a:rPr lang="pt-PT" dirty="0"/>
              <a:t>escalares e vectoriais do ciclo e código para verificar o </a:t>
            </a:r>
            <a:r>
              <a:rPr lang="pt-PT" i="1" dirty="0" err="1"/>
              <a:t>aliasing</a:t>
            </a:r>
            <a:r>
              <a:rPr lang="pt-PT" dirty="0"/>
              <a:t>.</a:t>
            </a:r>
          </a:p>
          <a:p>
            <a:r>
              <a:rPr lang="pt-PT" dirty="0"/>
              <a:t>Em </a:t>
            </a:r>
            <a:r>
              <a:rPr lang="pt-PT" i="1" dirty="0" err="1"/>
              <a:t>runtime</a:t>
            </a:r>
            <a:r>
              <a:rPr lang="pt-PT" dirty="0"/>
              <a:t> é escolhida a versão mais apropriada do ciclo</a:t>
            </a:r>
          </a:p>
        </p:txBody>
      </p:sp>
    </p:spTree>
    <p:extLst>
      <p:ext uri="{BB962C8B-B14F-4D97-AF65-F5344CB8AC3E}">
        <p14:creationId xmlns:p14="http://schemas.microsoft.com/office/powerpoint/2010/main" val="1510398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Auto-vectorização</a:t>
            </a:r>
            <a:endParaRPr lang="pt-PT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25</a:t>
            </a:fld>
            <a:endParaRPr lang="pt-PT" altLang="pt-PT"/>
          </a:p>
        </p:txBody>
      </p:sp>
      <p:sp>
        <p:nvSpPr>
          <p:cNvPr id="7" name="CaixaDeTexto 6"/>
          <p:cNvSpPr txBox="1"/>
          <p:nvPr/>
        </p:nvSpPr>
        <p:spPr>
          <a:xfrm>
            <a:off x="285750" y="1000125"/>
            <a:ext cx="7629012" cy="147732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loop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( 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* __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restrict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__ a, 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* __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restrict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__ b,</a:t>
            </a: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* __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restrict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__ c, 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S) {</a:t>
            </a: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  for (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i=0 ; i&lt; S ; i++) {</a:t>
            </a: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    c[i] = a[i] + b[i];</a:t>
            </a: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} }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467544" y="3237944"/>
            <a:ext cx="744721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O qualificador __</a:t>
            </a:r>
            <a:r>
              <a:rPr lang="pt-PT" dirty="0" err="1"/>
              <a:t>restrict</a:t>
            </a:r>
            <a:r>
              <a:rPr lang="pt-PT" dirty="0"/>
              <a:t>__ indica ao compilador que durante a existência daquele apontador </a:t>
            </a:r>
          </a:p>
          <a:p>
            <a:r>
              <a:rPr lang="pt-PT" dirty="0"/>
              <a:t>NÂO EXISTE QUALQUER OUTRA REFERÊNCIA </a:t>
            </a:r>
          </a:p>
          <a:p>
            <a:r>
              <a:rPr lang="pt-PT" dirty="0"/>
              <a:t>para a zona de memória acedida a partir desse apontador.</a:t>
            </a:r>
          </a:p>
          <a:p>
            <a:r>
              <a:rPr lang="pt-PT" dirty="0"/>
              <a:t>Logo não existe a possibilidade de </a:t>
            </a:r>
            <a:r>
              <a:rPr lang="pt-PT" i="1" dirty="0" err="1"/>
              <a:t>aliasing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75803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2800" dirty="0"/>
              <a:t>Bloqueadores </a:t>
            </a:r>
            <a:r>
              <a:rPr lang="pt-PT" sz="2800" dirty="0" err="1"/>
              <a:t>Auto-vectorização</a:t>
            </a:r>
            <a:r>
              <a:rPr lang="pt-PT" sz="2800" dirty="0"/>
              <a:t>: dados não contíguos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26</a:t>
            </a:fld>
            <a:endParaRPr lang="pt-PT" altLang="pt-PT"/>
          </a:p>
        </p:txBody>
      </p:sp>
      <p:sp>
        <p:nvSpPr>
          <p:cNvPr id="7" name="CaixaDeTexto 6"/>
          <p:cNvSpPr txBox="1"/>
          <p:nvPr/>
        </p:nvSpPr>
        <p:spPr>
          <a:xfrm>
            <a:off x="285750" y="1000125"/>
            <a:ext cx="5739072" cy="23083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#define SIZE 1000000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typedef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{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a, b, c,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pad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;} MYDATA;</a:t>
            </a:r>
          </a:p>
          <a:p>
            <a:pPr>
              <a:defRPr/>
            </a:pPr>
            <a:endParaRPr lang="pt-PT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MYDATA d[SIZE]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endParaRPr lang="pt-PT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loop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()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for 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i=0 ; i&lt; SIZE ; i++)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d[i].c = d[i].a + d[i].b;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} }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6327339" y="2857500"/>
            <a:ext cx="2054661" cy="3695700"/>
            <a:chOff x="6327339" y="2857500"/>
            <a:chExt cx="2054661" cy="3695700"/>
          </a:xfrm>
        </p:grpSpPr>
        <p:grpSp>
          <p:nvGrpSpPr>
            <p:cNvPr id="9" name="Group 35"/>
            <p:cNvGrpSpPr/>
            <p:nvPr/>
          </p:nvGrpSpPr>
          <p:grpSpPr>
            <a:xfrm>
              <a:off x="6327339" y="3019425"/>
              <a:ext cx="1622861" cy="1171575"/>
              <a:chOff x="6327339" y="3019425"/>
              <a:chExt cx="1622861" cy="1171575"/>
            </a:xfrm>
          </p:grpSpPr>
          <p:sp>
            <p:nvSpPr>
              <p:cNvPr id="10" name="Chaveta à esquerda 20"/>
              <p:cNvSpPr>
                <a:spLocks/>
              </p:cNvSpPr>
              <p:nvPr/>
            </p:nvSpPr>
            <p:spPr bwMode="auto">
              <a:xfrm>
                <a:off x="7086600" y="3072204"/>
                <a:ext cx="172390" cy="1118796"/>
              </a:xfrm>
              <a:prstGeom prst="leftBrace">
                <a:avLst>
                  <a:gd name="adj1" fmla="val 8322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prstTxWarp prst="textNoShape">
                  <a:avLst/>
                </a:prstTxWarp>
              </a:bodyPr>
              <a:lstStyle/>
              <a:p>
                <a:pPr algn="ctr"/>
                <a:endParaRPr lang="pt-PT"/>
              </a:p>
            </p:txBody>
          </p:sp>
          <p:sp>
            <p:nvSpPr>
              <p:cNvPr id="11" name="CaixaDeTexto 21"/>
              <p:cNvSpPr txBox="1">
                <a:spLocks noChangeArrowheads="1"/>
              </p:cNvSpPr>
              <p:nvPr/>
            </p:nvSpPr>
            <p:spPr bwMode="auto">
              <a:xfrm>
                <a:off x="6327339" y="3439391"/>
                <a:ext cx="678391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pt-PT" sz="1600" dirty="0">
                    <a:latin typeface="Courier New" pitchFamily="-103" charset="0"/>
                    <a:ea typeface="Courier New" pitchFamily="-103" charset="0"/>
                    <a:cs typeface="Courier New" pitchFamily="-103" charset="0"/>
                  </a:rPr>
                  <a:t>d[0]</a:t>
                </a:r>
              </a:p>
            </p:txBody>
          </p:sp>
          <p:sp>
            <p:nvSpPr>
              <p:cNvPr id="12" name="CaixaDeTexto 22"/>
              <p:cNvSpPr txBox="1">
                <a:spLocks noChangeArrowheads="1"/>
              </p:cNvSpPr>
              <p:nvPr/>
            </p:nvSpPr>
            <p:spPr bwMode="auto">
              <a:xfrm>
                <a:off x="7642011" y="3019425"/>
                <a:ext cx="308189" cy="338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pt-PT" sz="1600">
                    <a:latin typeface="Courier New" pitchFamily="-103" charset="0"/>
                    <a:ea typeface="Courier New" pitchFamily="-103" charset="0"/>
                    <a:cs typeface="Courier New" pitchFamily="-103" charset="0"/>
                  </a:rPr>
                  <a:t>a</a:t>
                </a:r>
              </a:p>
            </p:txBody>
          </p:sp>
          <p:sp>
            <p:nvSpPr>
              <p:cNvPr id="13" name="CaixaDeTexto 23"/>
              <p:cNvSpPr txBox="1">
                <a:spLocks noChangeArrowheads="1"/>
              </p:cNvSpPr>
              <p:nvPr/>
            </p:nvSpPr>
            <p:spPr bwMode="auto">
              <a:xfrm>
                <a:off x="7642011" y="3305045"/>
                <a:ext cx="308189" cy="338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pt-PT" sz="1600">
                    <a:latin typeface="Courier New" pitchFamily="-103" charset="0"/>
                    <a:ea typeface="Courier New" pitchFamily="-103" charset="0"/>
                    <a:cs typeface="Courier New" pitchFamily="-103" charset="0"/>
                  </a:rPr>
                  <a:t>b</a:t>
                </a:r>
              </a:p>
            </p:txBody>
          </p:sp>
          <p:sp>
            <p:nvSpPr>
              <p:cNvPr id="14" name="CaixaDeTexto 24"/>
              <p:cNvSpPr txBox="1">
                <a:spLocks noChangeArrowheads="1"/>
              </p:cNvSpPr>
              <p:nvPr/>
            </p:nvSpPr>
            <p:spPr bwMode="auto">
              <a:xfrm>
                <a:off x="7642011" y="3590665"/>
                <a:ext cx="30809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pt-PT" sz="1600" dirty="0">
                    <a:latin typeface="Courier New" pitchFamily="-103" charset="0"/>
                    <a:ea typeface="Courier New" pitchFamily="-103" charset="0"/>
                    <a:cs typeface="Courier New" pitchFamily="-103" charset="0"/>
                  </a:rPr>
                  <a:t>c</a:t>
                </a:r>
              </a:p>
            </p:txBody>
          </p:sp>
        </p:grpSp>
        <p:grpSp>
          <p:nvGrpSpPr>
            <p:cNvPr id="15" name="Group 36"/>
            <p:cNvGrpSpPr/>
            <p:nvPr/>
          </p:nvGrpSpPr>
          <p:grpSpPr>
            <a:xfrm>
              <a:off x="6327339" y="4195762"/>
              <a:ext cx="1600636" cy="1138238"/>
              <a:chOff x="6327339" y="4195762"/>
              <a:chExt cx="1600636" cy="1138238"/>
            </a:xfrm>
          </p:grpSpPr>
          <p:sp>
            <p:nvSpPr>
              <p:cNvPr id="16" name="Chaveta à esquerda 27"/>
              <p:cNvSpPr>
                <a:spLocks/>
              </p:cNvSpPr>
              <p:nvPr/>
            </p:nvSpPr>
            <p:spPr bwMode="auto">
              <a:xfrm>
                <a:off x="7086600" y="4248540"/>
                <a:ext cx="150165" cy="1085460"/>
              </a:xfrm>
              <a:prstGeom prst="leftBrace">
                <a:avLst>
                  <a:gd name="adj1" fmla="val 8322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prstTxWarp prst="textNoShape">
                  <a:avLst/>
                </a:prstTxWarp>
              </a:bodyPr>
              <a:lstStyle/>
              <a:p>
                <a:pPr algn="ctr"/>
                <a:endParaRPr lang="pt-PT"/>
              </a:p>
            </p:txBody>
          </p:sp>
          <p:sp>
            <p:nvSpPr>
              <p:cNvPr id="17" name="CaixaDeTexto 28"/>
              <p:cNvSpPr txBox="1">
                <a:spLocks noChangeArrowheads="1"/>
              </p:cNvSpPr>
              <p:nvPr/>
            </p:nvSpPr>
            <p:spPr bwMode="auto">
              <a:xfrm>
                <a:off x="6327339" y="4590980"/>
                <a:ext cx="678391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pt-PT" sz="1600" dirty="0">
                    <a:latin typeface="Courier New" pitchFamily="-103" charset="0"/>
                    <a:ea typeface="Courier New" pitchFamily="-103" charset="0"/>
                    <a:cs typeface="Courier New" pitchFamily="-103" charset="0"/>
                  </a:rPr>
                  <a:t>d[1]</a:t>
                </a:r>
              </a:p>
            </p:txBody>
          </p:sp>
          <p:sp>
            <p:nvSpPr>
              <p:cNvPr id="18" name="CaixaDeTexto 29"/>
              <p:cNvSpPr txBox="1">
                <a:spLocks noChangeArrowheads="1"/>
              </p:cNvSpPr>
              <p:nvPr/>
            </p:nvSpPr>
            <p:spPr bwMode="auto">
              <a:xfrm>
                <a:off x="7619786" y="4195762"/>
                <a:ext cx="308189" cy="338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pt-PT" sz="1600">
                    <a:latin typeface="Courier New" pitchFamily="-103" charset="0"/>
                    <a:ea typeface="Courier New" pitchFamily="-103" charset="0"/>
                    <a:cs typeface="Courier New" pitchFamily="-103" charset="0"/>
                  </a:rPr>
                  <a:t>a</a:t>
                </a:r>
              </a:p>
            </p:txBody>
          </p:sp>
          <p:sp>
            <p:nvSpPr>
              <p:cNvPr id="19" name="CaixaDeTexto 30"/>
              <p:cNvSpPr txBox="1">
                <a:spLocks noChangeArrowheads="1"/>
              </p:cNvSpPr>
              <p:nvPr/>
            </p:nvSpPr>
            <p:spPr bwMode="auto">
              <a:xfrm>
                <a:off x="7619786" y="4481382"/>
                <a:ext cx="308189" cy="338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pt-PT" sz="1600">
                    <a:latin typeface="Courier New" pitchFamily="-103" charset="0"/>
                    <a:ea typeface="Courier New" pitchFamily="-103" charset="0"/>
                    <a:cs typeface="Courier New" pitchFamily="-103" charset="0"/>
                  </a:rPr>
                  <a:t>b</a:t>
                </a:r>
              </a:p>
            </p:txBody>
          </p:sp>
          <p:sp>
            <p:nvSpPr>
              <p:cNvPr id="20" name="CaixaDeTexto 31"/>
              <p:cNvSpPr txBox="1">
                <a:spLocks noChangeArrowheads="1"/>
              </p:cNvSpPr>
              <p:nvPr/>
            </p:nvSpPr>
            <p:spPr bwMode="auto">
              <a:xfrm>
                <a:off x="7619786" y="4767002"/>
                <a:ext cx="30809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pt-PT" sz="1600" dirty="0">
                    <a:latin typeface="Courier New" pitchFamily="-103" charset="0"/>
                    <a:ea typeface="Courier New" pitchFamily="-103" charset="0"/>
                    <a:cs typeface="Courier New" pitchFamily="-103" charset="0"/>
                  </a:rPr>
                  <a:t>c</a:t>
                </a:r>
              </a:p>
            </p:txBody>
          </p:sp>
        </p:grpSp>
        <p:grpSp>
          <p:nvGrpSpPr>
            <p:cNvPr id="21" name="Group 41"/>
            <p:cNvGrpSpPr/>
            <p:nvPr/>
          </p:nvGrpSpPr>
          <p:grpSpPr>
            <a:xfrm>
              <a:off x="6364473" y="5338762"/>
              <a:ext cx="1563502" cy="1214438"/>
              <a:chOff x="6364473" y="5338762"/>
              <a:chExt cx="1563502" cy="1214438"/>
            </a:xfrm>
          </p:grpSpPr>
          <p:sp>
            <p:nvSpPr>
              <p:cNvPr id="22" name="Chaveta à esquerda 33"/>
              <p:cNvSpPr>
                <a:spLocks/>
              </p:cNvSpPr>
              <p:nvPr/>
            </p:nvSpPr>
            <p:spPr bwMode="auto">
              <a:xfrm>
                <a:off x="7086600" y="5391540"/>
                <a:ext cx="150165" cy="1161660"/>
              </a:xfrm>
              <a:prstGeom prst="leftBrace">
                <a:avLst>
                  <a:gd name="adj1" fmla="val 8322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prstTxWarp prst="textNoShape">
                  <a:avLst/>
                </a:prstTxWarp>
              </a:bodyPr>
              <a:lstStyle/>
              <a:p>
                <a:pPr algn="ctr"/>
                <a:endParaRPr lang="pt-PT"/>
              </a:p>
            </p:txBody>
          </p:sp>
          <p:sp>
            <p:nvSpPr>
              <p:cNvPr id="23" name="CaixaDeTexto 34"/>
              <p:cNvSpPr txBox="1">
                <a:spLocks noChangeArrowheads="1"/>
              </p:cNvSpPr>
              <p:nvPr/>
            </p:nvSpPr>
            <p:spPr bwMode="auto">
              <a:xfrm>
                <a:off x="6364473" y="5803093"/>
                <a:ext cx="678391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pt-PT" sz="1600" dirty="0">
                    <a:latin typeface="Courier New" pitchFamily="-103" charset="0"/>
                    <a:ea typeface="Courier New" pitchFamily="-103" charset="0"/>
                    <a:cs typeface="Courier New" pitchFamily="-103" charset="0"/>
                  </a:rPr>
                  <a:t>d[2]</a:t>
                </a:r>
              </a:p>
            </p:txBody>
          </p:sp>
          <p:sp>
            <p:nvSpPr>
              <p:cNvPr id="24" name="CaixaDeTexto 35"/>
              <p:cNvSpPr txBox="1">
                <a:spLocks noChangeArrowheads="1"/>
              </p:cNvSpPr>
              <p:nvPr/>
            </p:nvSpPr>
            <p:spPr bwMode="auto">
              <a:xfrm>
                <a:off x="7619786" y="5338762"/>
                <a:ext cx="308189" cy="338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pt-PT" sz="1600">
                    <a:latin typeface="Courier New" pitchFamily="-103" charset="0"/>
                    <a:ea typeface="Courier New" pitchFamily="-103" charset="0"/>
                    <a:cs typeface="Courier New" pitchFamily="-103" charset="0"/>
                  </a:rPr>
                  <a:t>a</a:t>
                </a:r>
              </a:p>
            </p:txBody>
          </p:sp>
          <p:sp>
            <p:nvSpPr>
              <p:cNvPr id="25" name="CaixaDeTexto 36"/>
              <p:cNvSpPr txBox="1">
                <a:spLocks noChangeArrowheads="1"/>
              </p:cNvSpPr>
              <p:nvPr/>
            </p:nvSpPr>
            <p:spPr bwMode="auto">
              <a:xfrm>
                <a:off x="7619786" y="5624382"/>
                <a:ext cx="308189" cy="338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pt-PT" sz="1600">
                    <a:latin typeface="Courier New" pitchFamily="-103" charset="0"/>
                    <a:ea typeface="Courier New" pitchFamily="-103" charset="0"/>
                    <a:cs typeface="Courier New" pitchFamily="-103" charset="0"/>
                  </a:rPr>
                  <a:t>b</a:t>
                </a:r>
              </a:p>
            </p:txBody>
          </p:sp>
          <p:sp>
            <p:nvSpPr>
              <p:cNvPr id="26" name="CaixaDeTexto 37"/>
              <p:cNvSpPr txBox="1">
                <a:spLocks noChangeArrowheads="1"/>
              </p:cNvSpPr>
              <p:nvPr/>
            </p:nvSpPr>
            <p:spPr bwMode="auto">
              <a:xfrm>
                <a:off x="7619786" y="5910002"/>
                <a:ext cx="30809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pt-PT" sz="1600" dirty="0" err="1">
                    <a:latin typeface="Courier New" pitchFamily="-103" charset="0"/>
                    <a:ea typeface="Courier New" pitchFamily="-103" charset="0"/>
                    <a:cs typeface="Courier New" pitchFamily="-103" charset="0"/>
                  </a:rPr>
                  <a:t>c</a:t>
                </a:r>
                <a:endParaRPr lang="pt-PT" sz="1600" dirty="0">
                  <a:latin typeface="Courier New" pitchFamily="-103" charset="0"/>
                  <a:ea typeface="Courier New" pitchFamily="-103" charset="0"/>
                  <a:cs typeface="Courier New" pitchFamily="-103" charset="0"/>
                </a:endParaRPr>
              </a:p>
            </p:txBody>
          </p:sp>
        </p:grpSp>
        <p:cxnSp>
          <p:nvCxnSpPr>
            <p:cNvPr id="27" name="Conexão recta 5"/>
            <p:cNvCxnSpPr>
              <a:cxnSpLocks noChangeShapeType="1"/>
            </p:cNvCxnSpPr>
            <p:nvPr/>
          </p:nvCxnSpPr>
          <p:spPr bwMode="auto">
            <a:xfrm rot="5400000">
              <a:off x="5515372" y="4629548"/>
              <a:ext cx="354250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" name="Conexão recta 7"/>
            <p:cNvCxnSpPr>
              <a:cxnSpLocks noChangeShapeType="1"/>
            </p:cNvCxnSpPr>
            <p:nvPr/>
          </p:nvCxnSpPr>
          <p:spPr bwMode="auto">
            <a:xfrm rot="16200000" flipH="1">
              <a:off x="6560344" y="4655345"/>
              <a:ext cx="3619501" cy="2381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9" name="Conexão recta 8"/>
            <p:cNvCxnSpPr>
              <a:cxnSpLocks noChangeShapeType="1"/>
            </p:cNvCxnSpPr>
            <p:nvPr/>
          </p:nvCxnSpPr>
          <p:spPr bwMode="auto">
            <a:xfrm>
              <a:off x="7285831" y="3071863"/>
              <a:ext cx="107077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" name="Conexão recta 11"/>
            <p:cNvCxnSpPr>
              <a:cxnSpLocks noChangeShapeType="1"/>
            </p:cNvCxnSpPr>
            <p:nvPr/>
          </p:nvCxnSpPr>
          <p:spPr bwMode="auto">
            <a:xfrm>
              <a:off x="7285831" y="3356092"/>
              <a:ext cx="107077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1" name="Conexão recta 12"/>
            <p:cNvCxnSpPr>
              <a:cxnSpLocks noChangeShapeType="1"/>
            </p:cNvCxnSpPr>
            <p:nvPr/>
          </p:nvCxnSpPr>
          <p:spPr bwMode="auto">
            <a:xfrm>
              <a:off x="7285831" y="3641910"/>
              <a:ext cx="107077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2" name="Conexão recta 13"/>
            <p:cNvCxnSpPr>
              <a:cxnSpLocks noChangeShapeType="1"/>
            </p:cNvCxnSpPr>
            <p:nvPr/>
          </p:nvCxnSpPr>
          <p:spPr bwMode="auto">
            <a:xfrm>
              <a:off x="7285831" y="3927727"/>
              <a:ext cx="107077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3" name="Conexão recta 14"/>
            <p:cNvCxnSpPr>
              <a:cxnSpLocks noChangeShapeType="1"/>
            </p:cNvCxnSpPr>
            <p:nvPr/>
          </p:nvCxnSpPr>
          <p:spPr bwMode="auto">
            <a:xfrm>
              <a:off x="7285831" y="4213545"/>
              <a:ext cx="107077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4" name="Conexão recta 15"/>
            <p:cNvCxnSpPr>
              <a:cxnSpLocks noChangeShapeType="1"/>
            </p:cNvCxnSpPr>
            <p:nvPr/>
          </p:nvCxnSpPr>
          <p:spPr bwMode="auto">
            <a:xfrm>
              <a:off x="7285831" y="4499362"/>
              <a:ext cx="107077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5" name="Conexão recta 16"/>
            <p:cNvCxnSpPr>
              <a:cxnSpLocks noChangeShapeType="1"/>
            </p:cNvCxnSpPr>
            <p:nvPr/>
          </p:nvCxnSpPr>
          <p:spPr bwMode="auto">
            <a:xfrm>
              <a:off x="7285831" y="4785180"/>
              <a:ext cx="107077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6" name="Conexão recta 17"/>
            <p:cNvCxnSpPr>
              <a:cxnSpLocks noChangeShapeType="1"/>
            </p:cNvCxnSpPr>
            <p:nvPr/>
          </p:nvCxnSpPr>
          <p:spPr bwMode="auto">
            <a:xfrm>
              <a:off x="7285831" y="5070997"/>
              <a:ext cx="107077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7" name="Conexão recta 18"/>
            <p:cNvCxnSpPr>
              <a:cxnSpLocks noChangeShapeType="1"/>
            </p:cNvCxnSpPr>
            <p:nvPr/>
          </p:nvCxnSpPr>
          <p:spPr bwMode="auto">
            <a:xfrm>
              <a:off x="7285831" y="5356815"/>
              <a:ext cx="107077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8" name="Conexão recta 19"/>
            <p:cNvCxnSpPr>
              <a:cxnSpLocks noChangeShapeType="1"/>
            </p:cNvCxnSpPr>
            <p:nvPr/>
          </p:nvCxnSpPr>
          <p:spPr bwMode="auto">
            <a:xfrm>
              <a:off x="7285831" y="5642632"/>
              <a:ext cx="107077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9" name="Conexão recta 19"/>
            <p:cNvCxnSpPr>
              <a:cxnSpLocks noChangeShapeType="1"/>
            </p:cNvCxnSpPr>
            <p:nvPr/>
          </p:nvCxnSpPr>
          <p:spPr bwMode="auto">
            <a:xfrm>
              <a:off x="7311230" y="5942012"/>
              <a:ext cx="107077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0" name="Conexão recta 19"/>
            <p:cNvCxnSpPr>
              <a:cxnSpLocks noChangeShapeType="1"/>
            </p:cNvCxnSpPr>
            <p:nvPr/>
          </p:nvCxnSpPr>
          <p:spPr bwMode="auto">
            <a:xfrm>
              <a:off x="7311230" y="6246812"/>
              <a:ext cx="107077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6" name="CaixaDeTexto 5"/>
          <p:cNvSpPr txBox="1"/>
          <p:nvPr/>
        </p:nvSpPr>
        <p:spPr>
          <a:xfrm>
            <a:off x="455007" y="3893654"/>
            <a:ext cx="51845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err="1"/>
              <a:t>Array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Structures</a:t>
            </a:r>
            <a:r>
              <a:rPr lang="pt-PT" dirty="0"/>
              <a:t> (</a:t>
            </a:r>
            <a:r>
              <a:rPr lang="pt-PT" dirty="0" err="1"/>
              <a:t>AoS</a:t>
            </a:r>
            <a:r>
              <a:rPr lang="pt-PT" dirty="0"/>
              <a:t>) :</a:t>
            </a:r>
          </a:p>
          <a:p>
            <a:r>
              <a:rPr lang="pt-PT" dirty="0"/>
              <a:t>os vários elementos do mesmo campo não são armazenados consecutivamente em memória.</a:t>
            </a:r>
          </a:p>
          <a:p>
            <a:r>
              <a:rPr lang="pt-PT" dirty="0"/>
              <a:t>Código não </a:t>
            </a:r>
            <a:r>
              <a:rPr lang="pt-PT" dirty="0" err="1"/>
              <a:t>vectorizável</a:t>
            </a:r>
            <a:r>
              <a:rPr lang="pt-PT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664298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27</a:t>
            </a:fld>
            <a:endParaRPr lang="pt-PT" altLang="pt-PT"/>
          </a:p>
        </p:txBody>
      </p:sp>
      <p:sp>
        <p:nvSpPr>
          <p:cNvPr id="7" name="CaixaDeTexto 6"/>
          <p:cNvSpPr txBox="1"/>
          <p:nvPr/>
        </p:nvSpPr>
        <p:spPr>
          <a:xfrm>
            <a:off x="285750" y="1000125"/>
            <a:ext cx="5615640" cy="280076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#define SIZE 1000000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a[SIZE]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b[SIZE]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c[SIZE]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} d;</a:t>
            </a:r>
          </a:p>
          <a:p>
            <a:pPr>
              <a:defRPr/>
            </a:pPr>
            <a:endParaRPr lang="pt-PT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loop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()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for 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i=0 ; i&lt; SIZE ; i++)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d.c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[i] =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d.a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[i] +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d.b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[i];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} }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455007" y="3893654"/>
            <a:ext cx="51845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err="1"/>
              <a:t>Structures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Arrays</a:t>
            </a:r>
            <a:r>
              <a:rPr lang="pt-PT" dirty="0"/>
              <a:t> (</a:t>
            </a:r>
            <a:r>
              <a:rPr lang="pt-PT" dirty="0" err="1"/>
              <a:t>SoA</a:t>
            </a:r>
            <a:r>
              <a:rPr lang="pt-PT" dirty="0"/>
              <a:t>) :</a:t>
            </a:r>
          </a:p>
          <a:p>
            <a:r>
              <a:rPr lang="pt-PT" dirty="0"/>
              <a:t>os vários elementos do mesmo campo são armazenados consecutivamente em memória.</a:t>
            </a:r>
          </a:p>
          <a:p>
            <a:r>
              <a:rPr lang="pt-PT" dirty="0"/>
              <a:t>Código </a:t>
            </a:r>
            <a:r>
              <a:rPr lang="pt-PT" dirty="0" err="1"/>
              <a:t>vectorizável</a:t>
            </a:r>
            <a:r>
              <a:rPr lang="pt-PT" dirty="0"/>
              <a:t>!</a:t>
            </a:r>
          </a:p>
        </p:txBody>
      </p:sp>
      <p:grpSp>
        <p:nvGrpSpPr>
          <p:cNvPr id="41" name="Grupo 26"/>
          <p:cNvGrpSpPr>
            <a:grpSpLocks/>
          </p:cNvGrpSpPr>
          <p:nvPr/>
        </p:nvGrpSpPr>
        <p:grpSpPr bwMode="auto">
          <a:xfrm>
            <a:off x="7285040" y="2857500"/>
            <a:ext cx="1073034" cy="3359150"/>
            <a:chOff x="7284262" y="2857496"/>
            <a:chExt cx="1073952" cy="3358380"/>
          </a:xfrm>
        </p:grpSpPr>
        <p:grpSp>
          <p:nvGrpSpPr>
            <p:cNvPr id="42" name="Grupo 4"/>
            <p:cNvGrpSpPr>
              <a:grpSpLocks/>
            </p:cNvGrpSpPr>
            <p:nvPr/>
          </p:nvGrpSpPr>
          <p:grpSpPr bwMode="auto">
            <a:xfrm>
              <a:off x="7284262" y="2857496"/>
              <a:ext cx="1073952" cy="3358380"/>
              <a:chOff x="6785784" y="2857496"/>
              <a:chExt cx="1073952" cy="3358380"/>
            </a:xfrm>
          </p:grpSpPr>
          <p:cxnSp>
            <p:nvCxnSpPr>
              <p:cNvPr id="52" name="Conexão recta 5"/>
              <p:cNvCxnSpPr>
                <a:cxnSpLocks noChangeShapeType="1"/>
              </p:cNvCxnSpPr>
              <p:nvPr/>
            </p:nvCxnSpPr>
            <p:spPr bwMode="auto">
              <a:xfrm rot="5400000">
                <a:off x="5107785" y="4536289"/>
                <a:ext cx="3357586" cy="15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53" name="Conexão recta 6"/>
              <p:cNvCxnSpPr>
                <a:cxnSpLocks noChangeShapeType="1"/>
              </p:cNvCxnSpPr>
              <p:nvPr/>
            </p:nvCxnSpPr>
            <p:spPr bwMode="auto">
              <a:xfrm rot="5400000">
                <a:off x="6180149" y="4535495"/>
                <a:ext cx="3357586" cy="15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54" name="Conexão recta 7"/>
              <p:cNvCxnSpPr>
                <a:cxnSpLocks noChangeShapeType="1"/>
              </p:cNvCxnSpPr>
              <p:nvPr/>
            </p:nvCxnSpPr>
            <p:spPr bwMode="auto">
              <a:xfrm>
                <a:off x="6786578" y="3071810"/>
                <a:ext cx="1071570" cy="15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55" name="Conexão recta 8"/>
              <p:cNvCxnSpPr>
                <a:cxnSpLocks noChangeShapeType="1"/>
              </p:cNvCxnSpPr>
              <p:nvPr/>
            </p:nvCxnSpPr>
            <p:spPr bwMode="auto">
              <a:xfrm>
                <a:off x="6786578" y="3355974"/>
                <a:ext cx="1071570" cy="15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56" name="Conexão recta 9"/>
              <p:cNvCxnSpPr>
                <a:cxnSpLocks noChangeShapeType="1"/>
              </p:cNvCxnSpPr>
              <p:nvPr/>
            </p:nvCxnSpPr>
            <p:spPr bwMode="auto">
              <a:xfrm>
                <a:off x="6786578" y="3641726"/>
                <a:ext cx="1071570" cy="15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57" name="Conexão recta 10"/>
              <p:cNvCxnSpPr>
                <a:cxnSpLocks noChangeShapeType="1"/>
              </p:cNvCxnSpPr>
              <p:nvPr/>
            </p:nvCxnSpPr>
            <p:spPr bwMode="auto">
              <a:xfrm>
                <a:off x="6786578" y="3927478"/>
                <a:ext cx="1071570" cy="15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58" name="Conexão recta 11"/>
              <p:cNvCxnSpPr>
                <a:cxnSpLocks noChangeShapeType="1"/>
              </p:cNvCxnSpPr>
              <p:nvPr/>
            </p:nvCxnSpPr>
            <p:spPr bwMode="auto">
              <a:xfrm>
                <a:off x="6786578" y="4213230"/>
                <a:ext cx="1071570" cy="15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59" name="Conexão recta 12"/>
              <p:cNvCxnSpPr>
                <a:cxnSpLocks noChangeShapeType="1"/>
              </p:cNvCxnSpPr>
              <p:nvPr/>
            </p:nvCxnSpPr>
            <p:spPr bwMode="auto">
              <a:xfrm>
                <a:off x="6786578" y="4498982"/>
                <a:ext cx="1071570" cy="15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60" name="Conexão recta 13"/>
              <p:cNvCxnSpPr>
                <a:cxnSpLocks noChangeShapeType="1"/>
              </p:cNvCxnSpPr>
              <p:nvPr/>
            </p:nvCxnSpPr>
            <p:spPr bwMode="auto">
              <a:xfrm>
                <a:off x="6786578" y="4784734"/>
                <a:ext cx="1071570" cy="15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61" name="Conexão recta 14"/>
              <p:cNvCxnSpPr>
                <a:cxnSpLocks noChangeShapeType="1"/>
              </p:cNvCxnSpPr>
              <p:nvPr/>
            </p:nvCxnSpPr>
            <p:spPr bwMode="auto">
              <a:xfrm>
                <a:off x="6786578" y="5070486"/>
                <a:ext cx="1071570" cy="15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62" name="Conexão recta 15"/>
              <p:cNvCxnSpPr>
                <a:cxnSpLocks noChangeShapeType="1"/>
              </p:cNvCxnSpPr>
              <p:nvPr/>
            </p:nvCxnSpPr>
            <p:spPr bwMode="auto">
              <a:xfrm>
                <a:off x="6786578" y="5356238"/>
                <a:ext cx="1071570" cy="15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63" name="Conexão recta 16"/>
              <p:cNvCxnSpPr>
                <a:cxnSpLocks noChangeShapeType="1"/>
              </p:cNvCxnSpPr>
              <p:nvPr/>
            </p:nvCxnSpPr>
            <p:spPr bwMode="auto">
              <a:xfrm>
                <a:off x="6786578" y="5641990"/>
                <a:ext cx="1071570" cy="15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43" name="CaixaDeTexto 17"/>
            <p:cNvSpPr txBox="1">
              <a:spLocks noChangeArrowheads="1"/>
            </p:cNvSpPr>
            <p:nvPr/>
          </p:nvSpPr>
          <p:spPr bwMode="auto">
            <a:xfrm>
              <a:off x="7500958" y="3019008"/>
              <a:ext cx="67839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pt-PT" sz="1600" dirty="0">
                  <a:latin typeface="Courier New" pitchFamily="-103" charset="0"/>
                  <a:ea typeface="Courier New" pitchFamily="-103" charset="0"/>
                  <a:cs typeface="Courier New" pitchFamily="-103" charset="0"/>
                </a:rPr>
                <a:t>a[0]</a:t>
              </a:r>
            </a:p>
          </p:txBody>
        </p:sp>
        <p:sp>
          <p:nvSpPr>
            <p:cNvPr id="44" name="CaixaDeTexto 18"/>
            <p:cNvSpPr txBox="1">
              <a:spLocks noChangeArrowheads="1"/>
            </p:cNvSpPr>
            <p:nvPr/>
          </p:nvSpPr>
          <p:spPr bwMode="auto">
            <a:xfrm>
              <a:off x="7500958" y="3304760"/>
              <a:ext cx="67839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pt-PT" sz="1600">
                  <a:latin typeface="Courier New" pitchFamily="-103" charset="0"/>
                  <a:ea typeface="Courier New" pitchFamily="-103" charset="0"/>
                  <a:cs typeface="Courier New" pitchFamily="-103" charset="0"/>
                </a:rPr>
                <a:t>a[1]</a:t>
              </a:r>
            </a:p>
          </p:txBody>
        </p:sp>
        <p:sp>
          <p:nvSpPr>
            <p:cNvPr id="45" name="CaixaDeTexto 19"/>
            <p:cNvSpPr txBox="1">
              <a:spLocks noChangeArrowheads="1"/>
            </p:cNvSpPr>
            <p:nvPr/>
          </p:nvSpPr>
          <p:spPr bwMode="auto">
            <a:xfrm>
              <a:off x="7572396" y="3876264"/>
              <a:ext cx="431897" cy="3384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pt-PT" sz="1600" dirty="0">
                  <a:latin typeface="Courier New" pitchFamily="-103" charset="0"/>
                  <a:ea typeface="Courier New" pitchFamily="-103" charset="0"/>
                  <a:cs typeface="Courier New" pitchFamily="-103" charset="0"/>
                </a:rPr>
                <a:t> …</a:t>
              </a:r>
            </a:p>
          </p:txBody>
        </p:sp>
        <p:sp>
          <p:nvSpPr>
            <p:cNvPr id="46" name="CaixaDeTexto 20"/>
            <p:cNvSpPr txBox="1">
              <a:spLocks noChangeArrowheads="1"/>
            </p:cNvSpPr>
            <p:nvPr/>
          </p:nvSpPr>
          <p:spPr bwMode="auto">
            <a:xfrm>
              <a:off x="7572396" y="4162016"/>
              <a:ext cx="67839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pt-PT" sz="1600">
                  <a:latin typeface="Courier New" pitchFamily="-103" charset="0"/>
                  <a:ea typeface="Courier New" pitchFamily="-103" charset="0"/>
                  <a:cs typeface="Courier New" pitchFamily="-103" charset="0"/>
                </a:rPr>
                <a:t>b[0]</a:t>
              </a:r>
            </a:p>
          </p:txBody>
        </p:sp>
        <p:sp>
          <p:nvSpPr>
            <p:cNvPr id="47" name="CaixaDeTexto 21"/>
            <p:cNvSpPr txBox="1">
              <a:spLocks noChangeArrowheads="1"/>
            </p:cNvSpPr>
            <p:nvPr/>
          </p:nvSpPr>
          <p:spPr bwMode="auto">
            <a:xfrm>
              <a:off x="7572396" y="4447768"/>
              <a:ext cx="67839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pt-PT" sz="1600" dirty="0">
                  <a:latin typeface="Courier New" pitchFamily="-103" charset="0"/>
                  <a:ea typeface="Courier New" pitchFamily="-103" charset="0"/>
                  <a:cs typeface="Courier New" pitchFamily="-103" charset="0"/>
                </a:rPr>
                <a:t>b[1]</a:t>
              </a:r>
            </a:p>
          </p:txBody>
        </p:sp>
        <p:sp>
          <p:nvSpPr>
            <p:cNvPr id="48" name="CaixaDeTexto 22"/>
            <p:cNvSpPr txBox="1">
              <a:spLocks noChangeArrowheads="1"/>
            </p:cNvSpPr>
            <p:nvPr/>
          </p:nvSpPr>
          <p:spPr bwMode="auto">
            <a:xfrm>
              <a:off x="7572396" y="5019272"/>
              <a:ext cx="431897" cy="3384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pt-PT" sz="1600" dirty="0">
                  <a:latin typeface="Courier New" pitchFamily="-103" charset="0"/>
                  <a:ea typeface="Courier New" pitchFamily="-103" charset="0"/>
                  <a:cs typeface="Courier New" pitchFamily="-103" charset="0"/>
                </a:rPr>
                <a:t> …</a:t>
              </a:r>
            </a:p>
          </p:txBody>
        </p:sp>
        <p:sp>
          <p:nvSpPr>
            <p:cNvPr id="49" name="CaixaDeTexto 23"/>
            <p:cNvSpPr txBox="1">
              <a:spLocks noChangeArrowheads="1"/>
            </p:cNvSpPr>
            <p:nvPr/>
          </p:nvSpPr>
          <p:spPr bwMode="auto">
            <a:xfrm>
              <a:off x="7572396" y="5305024"/>
              <a:ext cx="67839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pt-PT" sz="1600">
                  <a:latin typeface="Courier New" pitchFamily="-103" charset="0"/>
                  <a:ea typeface="Courier New" pitchFamily="-103" charset="0"/>
                  <a:cs typeface="Courier New" pitchFamily="-103" charset="0"/>
                </a:rPr>
                <a:t>c[0]</a:t>
              </a:r>
            </a:p>
          </p:txBody>
        </p:sp>
        <p:sp>
          <p:nvSpPr>
            <p:cNvPr id="50" name="CaixaDeTexto 24"/>
            <p:cNvSpPr txBox="1">
              <a:spLocks noChangeArrowheads="1"/>
            </p:cNvSpPr>
            <p:nvPr/>
          </p:nvSpPr>
          <p:spPr bwMode="auto">
            <a:xfrm>
              <a:off x="7715272" y="4714884"/>
              <a:ext cx="30809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pt-PT" sz="1600">
                  <a:latin typeface="Courier New" pitchFamily="-103" charset="0"/>
                  <a:ea typeface="Courier New" pitchFamily="-103" charset="0"/>
                  <a:cs typeface="Courier New" pitchFamily="-103" charset="0"/>
                </a:rPr>
                <a:t>…</a:t>
              </a:r>
            </a:p>
          </p:txBody>
        </p:sp>
        <p:sp>
          <p:nvSpPr>
            <p:cNvPr id="51" name="CaixaDeTexto 25"/>
            <p:cNvSpPr txBox="1">
              <a:spLocks noChangeArrowheads="1"/>
            </p:cNvSpPr>
            <p:nvPr/>
          </p:nvSpPr>
          <p:spPr bwMode="auto">
            <a:xfrm>
              <a:off x="7715272" y="3571876"/>
              <a:ext cx="30809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pt-PT" sz="1600">
                  <a:latin typeface="Courier New" pitchFamily="-103" charset="0"/>
                  <a:ea typeface="Courier New" pitchFamily="-103" charset="0"/>
                  <a:cs typeface="Courier New" pitchFamily="-103" charset="0"/>
                </a:rPr>
                <a:t>…</a:t>
              </a:r>
            </a:p>
          </p:txBody>
        </p:sp>
      </p:grpSp>
      <p:sp>
        <p:nvSpPr>
          <p:cNvPr id="64" name="Título 1"/>
          <p:cNvSpPr txBox="1">
            <a:spLocks/>
          </p:cNvSpPr>
          <p:nvPr/>
        </p:nvSpPr>
        <p:spPr bwMode="auto">
          <a:xfrm>
            <a:off x="358080" y="260648"/>
            <a:ext cx="8534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PT" sz="2800" kern="0" dirty="0"/>
              <a:t>Bloqueadores </a:t>
            </a:r>
            <a:r>
              <a:rPr lang="pt-PT" sz="2800" kern="0" dirty="0" err="1"/>
              <a:t>Auto-vectorização</a:t>
            </a:r>
            <a:r>
              <a:rPr lang="pt-PT" sz="2800" kern="0" dirty="0"/>
              <a:t>: dados não contíguos</a:t>
            </a:r>
          </a:p>
        </p:txBody>
      </p:sp>
    </p:spTree>
    <p:extLst>
      <p:ext uri="{BB962C8B-B14F-4D97-AF65-F5344CB8AC3E}">
        <p14:creationId xmlns:p14="http://schemas.microsoft.com/office/powerpoint/2010/main" val="302432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28</a:t>
            </a:fld>
            <a:endParaRPr lang="pt-PT" altLang="pt-PT"/>
          </a:p>
        </p:txBody>
      </p:sp>
      <p:sp>
        <p:nvSpPr>
          <p:cNvPr id="7" name="CaixaDeTexto 6"/>
          <p:cNvSpPr txBox="1"/>
          <p:nvPr/>
        </p:nvSpPr>
        <p:spPr>
          <a:xfrm>
            <a:off x="285750" y="1000125"/>
            <a:ext cx="5615640" cy="280076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#define SIZE 1000000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a[SIZE]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b[SIZE]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c[SIZE]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} d;</a:t>
            </a:r>
          </a:p>
          <a:p>
            <a:pPr>
              <a:defRPr/>
            </a:pPr>
            <a:endParaRPr lang="pt-PT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loop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()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for 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i=0 ; i&lt; SIZE ; i++)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d.c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[i] =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d.a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[i] +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d.b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[i];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} }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355976" y="3356992"/>
            <a:ext cx="4596130" cy="286232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loop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xor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%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eax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, %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eax</a:t>
            </a:r>
            <a:endParaRPr lang="pt-PT" sz="18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.L1:</a:t>
            </a: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vmovaps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d(%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eax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), %ymm0</a:t>
            </a: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vaddps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d+4000000(%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eax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), %ymm0</a:t>
            </a: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vmovaps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%ymm0, d+8000000(%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eax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add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$32, %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eax</a:t>
            </a:r>
            <a:endParaRPr lang="pt-PT" sz="18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cmp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$4000000, %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eax</a:t>
            </a:r>
            <a:endParaRPr lang="pt-PT" sz="18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jl</a:t>
            </a:r>
            <a:r>
              <a:rPr lang="pt-PT" sz="1800" dirty="0">
                <a:latin typeface="Courier New" pitchFamily="49" charset="0"/>
                <a:cs typeface="Courier New" pitchFamily="49" charset="0"/>
              </a:rPr>
              <a:t> .L1</a:t>
            </a:r>
          </a:p>
          <a:p>
            <a:pPr>
              <a:defRPr/>
            </a:pPr>
            <a:r>
              <a:rPr lang="pt-PT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800" dirty="0" err="1">
                <a:latin typeface="Courier New" pitchFamily="49" charset="0"/>
                <a:cs typeface="Courier New" pitchFamily="49" charset="0"/>
              </a:rPr>
              <a:t>ret</a:t>
            </a:r>
            <a:endParaRPr lang="pt-PT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1" name="Título 1"/>
          <p:cNvSpPr txBox="1">
            <a:spLocks/>
          </p:cNvSpPr>
          <p:nvPr/>
        </p:nvSpPr>
        <p:spPr bwMode="auto">
          <a:xfrm>
            <a:off x="430088" y="188640"/>
            <a:ext cx="8534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PT" sz="2800" kern="0" dirty="0"/>
              <a:t>Bloqueadores </a:t>
            </a:r>
            <a:r>
              <a:rPr lang="pt-PT" sz="2800" kern="0" dirty="0" err="1"/>
              <a:t>Auto-vectorização</a:t>
            </a:r>
            <a:r>
              <a:rPr lang="pt-PT" sz="2800" kern="0" dirty="0"/>
              <a:t>: dados contíguos</a:t>
            </a:r>
          </a:p>
        </p:txBody>
      </p:sp>
    </p:spTree>
    <p:extLst>
      <p:ext uri="{BB962C8B-B14F-4D97-AF65-F5344CB8AC3E}">
        <p14:creationId xmlns:p14="http://schemas.microsoft.com/office/powerpoint/2010/main" val="1837218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25BFC-22D6-BAAB-D4C7-323C130AB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AoS</a:t>
            </a:r>
            <a:r>
              <a:rPr lang="en-GB" dirty="0"/>
              <a:t> versus </a:t>
            </a:r>
            <a:r>
              <a:rPr lang="en-GB" dirty="0" err="1"/>
              <a:t>SoA</a:t>
            </a:r>
            <a:endParaRPr lang="en-GB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12154ED-5EB3-90AE-6988-605E1B2CB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/>
              <a:t>o </a:t>
            </a:r>
            <a:r>
              <a:rPr lang="en-GB" sz="2000" dirty="0" err="1"/>
              <a:t>mapeamento</a:t>
            </a:r>
            <a:r>
              <a:rPr lang="en-GB" sz="2000" dirty="0"/>
              <a:t> das </a:t>
            </a:r>
            <a:r>
              <a:rPr lang="en-GB" sz="2000" dirty="0" err="1"/>
              <a:t>estruturas</a:t>
            </a:r>
            <a:r>
              <a:rPr lang="en-GB" sz="2000" dirty="0"/>
              <a:t> de dados </a:t>
            </a:r>
            <a:r>
              <a:rPr lang="en-GB" sz="2000" dirty="0" err="1"/>
              <a:t>como</a:t>
            </a:r>
            <a:r>
              <a:rPr lang="en-GB" sz="2000" dirty="0"/>
              <a:t> </a:t>
            </a:r>
            <a:r>
              <a:rPr lang="en-GB" sz="2000" dirty="0" err="1"/>
              <a:t>AoS</a:t>
            </a:r>
            <a:r>
              <a:rPr lang="en-GB" sz="2000" dirty="0"/>
              <a:t> </a:t>
            </a:r>
            <a:r>
              <a:rPr lang="en-GB" sz="2000" dirty="0" err="1"/>
              <a:t>é</a:t>
            </a:r>
            <a:r>
              <a:rPr lang="en-GB" sz="2000" dirty="0"/>
              <a:t> </a:t>
            </a:r>
            <a:r>
              <a:rPr lang="en-GB" sz="2000" dirty="0" err="1"/>
              <a:t>mais</a:t>
            </a:r>
            <a:r>
              <a:rPr lang="en-GB" sz="2000" dirty="0"/>
              <a:t> natural para o </a:t>
            </a:r>
            <a:r>
              <a:rPr lang="en-GB" sz="2000" dirty="0" err="1"/>
              <a:t>programador</a:t>
            </a:r>
            <a:r>
              <a:rPr lang="en-GB" sz="2000" dirty="0"/>
              <a:t> e </a:t>
            </a:r>
            <a:r>
              <a:rPr lang="en-GB" sz="2000" dirty="0" err="1"/>
              <a:t>resulta</a:t>
            </a:r>
            <a:r>
              <a:rPr lang="en-GB" sz="2000" dirty="0"/>
              <a:t> </a:t>
            </a:r>
            <a:r>
              <a:rPr lang="en-GB" sz="2000" dirty="0" err="1"/>
              <a:t>em</a:t>
            </a:r>
            <a:r>
              <a:rPr lang="en-GB" sz="2000" dirty="0"/>
              <a:t> </a:t>
            </a:r>
            <a:r>
              <a:rPr lang="en-GB" sz="2000" dirty="0" err="1"/>
              <a:t>código</a:t>
            </a:r>
            <a:r>
              <a:rPr lang="en-GB" sz="2000" dirty="0"/>
              <a:t> </a:t>
            </a:r>
            <a:r>
              <a:rPr lang="en-GB" sz="2000" dirty="0" err="1"/>
              <a:t>mais</a:t>
            </a:r>
            <a:r>
              <a:rPr lang="en-GB" sz="2000" dirty="0"/>
              <a:t> </a:t>
            </a:r>
            <a:r>
              <a:rPr lang="en-GB" sz="2000" dirty="0" err="1"/>
              <a:t>legível</a:t>
            </a:r>
            <a:endParaRPr lang="en-GB" sz="2000" dirty="0"/>
          </a:p>
          <a:p>
            <a:r>
              <a:rPr lang="en-GB" sz="2000" dirty="0"/>
              <a:t>a </a:t>
            </a:r>
            <a:r>
              <a:rPr lang="en-GB" sz="2000" dirty="0" err="1"/>
              <a:t>utilização</a:t>
            </a:r>
            <a:r>
              <a:rPr lang="en-GB" sz="2000" dirty="0"/>
              <a:t> de </a:t>
            </a:r>
            <a:r>
              <a:rPr lang="en-GB" sz="2000" dirty="0" err="1"/>
              <a:t>SoA</a:t>
            </a:r>
            <a:r>
              <a:rPr lang="en-GB" sz="2000" dirty="0"/>
              <a:t> </a:t>
            </a:r>
            <a:r>
              <a:rPr lang="en-GB" sz="2000" dirty="0" err="1"/>
              <a:t>resulta</a:t>
            </a:r>
            <a:r>
              <a:rPr lang="en-GB" sz="2000" dirty="0"/>
              <a:t> </a:t>
            </a:r>
            <a:r>
              <a:rPr lang="en-GB" sz="2000" dirty="0" err="1"/>
              <a:t>numa</a:t>
            </a:r>
            <a:r>
              <a:rPr lang="en-GB" sz="2000" dirty="0"/>
              <a:t> </a:t>
            </a:r>
            <a:r>
              <a:rPr lang="en-GB" sz="2000" dirty="0" err="1"/>
              <a:t>melhor</a:t>
            </a:r>
            <a:r>
              <a:rPr lang="en-GB" sz="2000" dirty="0"/>
              <a:t> </a:t>
            </a:r>
            <a:r>
              <a:rPr lang="en-GB" sz="2000" dirty="0" err="1"/>
              <a:t>utilização</a:t>
            </a:r>
            <a:r>
              <a:rPr lang="en-GB" sz="2000" dirty="0"/>
              <a:t> da </a:t>
            </a:r>
            <a:r>
              <a:rPr lang="en-GB" sz="2000" dirty="0" err="1"/>
              <a:t>memória</a:t>
            </a:r>
            <a:r>
              <a:rPr lang="en-GB" sz="2000" dirty="0"/>
              <a:t> (</a:t>
            </a:r>
            <a:r>
              <a:rPr lang="en-GB" sz="2000" dirty="0" err="1"/>
              <a:t>menos</a:t>
            </a:r>
            <a:r>
              <a:rPr lang="en-GB" sz="2000" dirty="0"/>
              <a:t> </a:t>
            </a:r>
            <a:r>
              <a:rPr lang="en-GB" sz="2000" i="1" dirty="0"/>
              <a:t>padding</a:t>
            </a:r>
            <a:r>
              <a:rPr lang="en-GB" sz="2000" dirty="0"/>
              <a:t>), </a:t>
            </a:r>
            <a:r>
              <a:rPr lang="en-GB" sz="2000" dirty="0" err="1"/>
              <a:t>maior</a:t>
            </a:r>
            <a:r>
              <a:rPr lang="en-GB" sz="2000" dirty="0"/>
              <a:t> </a:t>
            </a:r>
            <a:r>
              <a:rPr lang="en-GB" sz="2000" dirty="0" err="1"/>
              <a:t>localidade</a:t>
            </a:r>
            <a:r>
              <a:rPr lang="en-GB" sz="2000" dirty="0"/>
              <a:t> especial e </a:t>
            </a:r>
            <a:r>
              <a:rPr lang="en-GB" sz="2000" dirty="0" err="1"/>
              <a:t>permite</a:t>
            </a:r>
            <a:r>
              <a:rPr lang="en-GB" sz="2000" dirty="0"/>
              <a:t> </a:t>
            </a:r>
            <a:r>
              <a:rPr lang="en-GB" sz="2000" dirty="0" err="1"/>
              <a:t>vectorização</a:t>
            </a:r>
            <a:endParaRPr lang="en-GB" sz="2000" dirty="0"/>
          </a:p>
          <a:p>
            <a:pPr marL="0" indent="0">
              <a:buNone/>
            </a:pPr>
            <a:r>
              <a:rPr lang="en-GB" sz="2000" dirty="0" err="1"/>
              <a:t>Alguma</a:t>
            </a:r>
            <a:r>
              <a:rPr lang="en-GB" sz="2000" dirty="0"/>
              <a:t> </a:t>
            </a:r>
            <a:r>
              <a:rPr lang="en-GB" sz="2000" dirty="0" err="1"/>
              <a:t>linguagens</a:t>
            </a:r>
            <a:r>
              <a:rPr lang="en-GB" sz="2000" dirty="0"/>
              <a:t> de </a:t>
            </a:r>
            <a:r>
              <a:rPr lang="en-GB" sz="2000" dirty="0" err="1"/>
              <a:t>programação</a:t>
            </a:r>
            <a:r>
              <a:rPr lang="en-GB" sz="2000" dirty="0"/>
              <a:t> </a:t>
            </a:r>
            <a:r>
              <a:rPr lang="en-GB" sz="2000" dirty="0" err="1"/>
              <a:t>recentes</a:t>
            </a:r>
            <a:r>
              <a:rPr lang="en-GB" sz="2000" dirty="0"/>
              <a:t> </a:t>
            </a:r>
            <a:r>
              <a:rPr lang="en-GB" sz="2000" dirty="0" err="1"/>
              <a:t>permitem</a:t>
            </a:r>
            <a:r>
              <a:rPr lang="en-GB" sz="2000" dirty="0"/>
              <a:t> </a:t>
            </a:r>
            <a:r>
              <a:rPr lang="en-GB" sz="2000" dirty="0" err="1"/>
              <a:t>indicar</a:t>
            </a:r>
            <a:r>
              <a:rPr lang="en-GB" sz="2000" dirty="0"/>
              <a:t> </a:t>
            </a:r>
            <a:r>
              <a:rPr lang="en-GB" sz="2000" dirty="0" err="1"/>
              <a:t>ao</a:t>
            </a:r>
            <a:r>
              <a:rPr lang="en-GB" sz="2000" dirty="0"/>
              <a:t> </a:t>
            </a:r>
            <a:r>
              <a:rPr lang="en-GB" sz="2000" dirty="0" err="1"/>
              <a:t>compilador</a:t>
            </a:r>
            <a:r>
              <a:rPr lang="en-GB" sz="2000" dirty="0"/>
              <a:t> qual o </a:t>
            </a:r>
            <a:r>
              <a:rPr lang="en-GB" sz="2000" dirty="0" err="1"/>
              <a:t>mapeamento</a:t>
            </a:r>
            <a:r>
              <a:rPr lang="en-GB" sz="2000" dirty="0"/>
              <a:t> </a:t>
            </a:r>
            <a:r>
              <a:rPr lang="en-GB" sz="2000" dirty="0" err="1"/>
              <a:t>desejado</a:t>
            </a:r>
            <a:r>
              <a:rPr lang="en-GB" sz="2000" dirty="0"/>
              <a:t> </a:t>
            </a:r>
            <a:r>
              <a:rPr lang="en-GB" sz="2000" dirty="0" err="1"/>
              <a:t>sem</a:t>
            </a:r>
            <a:r>
              <a:rPr lang="en-GB" sz="2000" dirty="0"/>
              <a:t> </a:t>
            </a:r>
            <a:r>
              <a:rPr lang="en-GB" sz="2000" dirty="0" err="1"/>
              <a:t>alterar</a:t>
            </a:r>
            <a:r>
              <a:rPr lang="en-GB" sz="2000" dirty="0"/>
              <a:t> a </a:t>
            </a:r>
            <a:r>
              <a:rPr lang="en-GB" sz="2000" dirty="0" err="1"/>
              <a:t>indexação</a:t>
            </a:r>
            <a:r>
              <a:rPr lang="en-GB" sz="2000" dirty="0"/>
              <a:t> da </a:t>
            </a:r>
            <a:r>
              <a:rPr lang="en-GB" sz="2000" dirty="0" err="1"/>
              <a:t>informação</a:t>
            </a:r>
            <a:r>
              <a:rPr lang="en-GB" sz="2000" dirty="0"/>
              <a:t> a </a:t>
            </a:r>
            <a:r>
              <a:rPr lang="en-GB" sz="2000" dirty="0" err="1"/>
              <a:t>tratar</a:t>
            </a:r>
            <a:r>
              <a:rPr lang="en-GB" sz="2000" dirty="0"/>
              <a:t>: ODIN (</a:t>
            </a:r>
            <a:r>
              <a:rPr lang="en-GB" sz="2000" dirty="0">
                <a:hlinkClick r:id="rId2"/>
              </a:rPr>
              <a:t>https://odin-lang.org/docs/overview/#soa-data-types</a:t>
            </a:r>
            <a:r>
              <a:rPr lang="en-GB" sz="2000" dirty="0"/>
              <a:t>) </a:t>
            </a:r>
          </a:p>
          <a:p>
            <a:pPr marL="0" indent="0">
              <a:buNone/>
            </a:pPr>
            <a:endParaRPr lang="pt-PT" sz="1400" b="0" i="0" dirty="0">
              <a:effectLst/>
              <a:latin typeface="SFMono-Regular"/>
            </a:endParaRPr>
          </a:p>
          <a:p>
            <a:pPr marL="0" indent="0">
              <a:buNone/>
            </a:pPr>
            <a:endParaRPr lang="pt-PT" sz="1400" dirty="0">
              <a:latin typeface="SFMono-Regular"/>
            </a:endParaRPr>
          </a:p>
          <a:p>
            <a:pPr marL="0" indent="0">
              <a:buNone/>
            </a:pPr>
            <a:endParaRPr lang="pt-PT" sz="2000" b="0" i="0" dirty="0">
              <a:effectLst/>
              <a:latin typeface="SFMono-Regular"/>
            </a:endParaRP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A44DF67-C5E9-83AC-EA2D-7E2440FD2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5B51C5B-C5EC-4110-3407-8566960504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29</a:t>
            </a:fld>
            <a:endParaRPr lang="pt-PT" altLang="pt-PT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FE4F2DC3-04CA-74C8-A541-B42B7E0C9D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914041"/>
              </p:ext>
            </p:extLst>
          </p:nvPr>
        </p:nvGraphicFramePr>
        <p:xfrm>
          <a:off x="467544" y="3789040"/>
          <a:ext cx="7920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0">
                  <a:extLst>
                    <a:ext uri="{9D8B030D-6E8A-4147-A177-3AD203B41FA5}">
                      <a16:colId xmlns:a16="http://schemas.microsoft.com/office/drawing/2014/main" val="2484589404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15189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Vector3 :: </a:t>
                      </a:r>
                      <a:r>
                        <a:rPr lang="pt-PT" sz="1400" b="0" i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struct</a:t>
                      </a: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{x, y, z: f32} </a:t>
                      </a:r>
                    </a:p>
                    <a:p>
                      <a:pPr marL="0" indent="0">
                        <a:buNone/>
                      </a:pP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 :: 2 </a:t>
                      </a:r>
                    </a:p>
                    <a:p>
                      <a:pPr marL="0" indent="0">
                        <a:buNone/>
                      </a:pPr>
                      <a:endParaRPr lang="pt-PT" sz="1400" b="0" i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pt-PT" sz="1400" b="0" i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v_aos</a:t>
                      </a: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: [N]Vector3 </a:t>
                      </a:r>
                    </a:p>
                    <a:p>
                      <a:pPr marL="0" indent="0">
                        <a:buNone/>
                      </a:pPr>
                      <a:r>
                        <a:rPr lang="pt-PT" sz="1400" b="0" i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v_aos</a:t>
                      </a: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[0].x = 1 </a:t>
                      </a:r>
                      <a:r>
                        <a:rPr lang="pt-PT" sz="1400" b="0" i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v_aos</a:t>
                      </a: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[0].y = 4 </a:t>
                      </a:r>
                      <a:r>
                        <a:rPr lang="pt-PT" sz="1400" b="0" i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v_aos</a:t>
                      </a: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[0].z = 9 </a:t>
                      </a:r>
                    </a:p>
                    <a:p>
                      <a:pPr marL="0" indent="0">
                        <a:buNone/>
                      </a:pPr>
                      <a:r>
                        <a:rPr lang="pt-PT" sz="1400" b="0" i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v_aos</a:t>
                      </a: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[1] = {0, 3, 4} </a:t>
                      </a:r>
                    </a:p>
                    <a:p>
                      <a:pPr marL="0" indent="0">
                        <a:buNone/>
                      </a:pPr>
                      <a:r>
                        <a:rPr lang="pt-PT" sz="1400" b="0" i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fmt.println</a:t>
                      </a: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pt-PT" sz="1400" b="0" i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v_aos</a:t>
                      </a: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 </a:t>
                      </a:r>
                    </a:p>
                    <a:p>
                      <a:endParaRPr lang="en-GB" sz="14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// </a:t>
                      </a:r>
                      <a:r>
                        <a:rPr lang="pt-PT" sz="1400" b="0" i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Same</a:t>
                      </a: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pt-PT" sz="1400" b="0" i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syntax</a:t>
                      </a: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as AOS </a:t>
                      </a:r>
                    </a:p>
                    <a:p>
                      <a:pPr marL="0" indent="0">
                        <a:buNone/>
                      </a:pP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//</a:t>
                      </a:r>
                      <a:r>
                        <a:rPr lang="pt-PT" sz="1400" b="0" i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treat</a:t>
                      </a: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as </a:t>
                      </a:r>
                      <a:r>
                        <a:rPr lang="pt-PT" sz="1400" b="0" i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if</a:t>
                      </a: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pt-PT" sz="1400" b="0" i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it</a:t>
                      </a: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pt-PT" sz="1400" b="0" i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was</a:t>
                      </a: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pt-PT" sz="1400" b="0" i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</a:t>
                      </a: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pt-PT" sz="1400" b="0" i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array</a:t>
                      </a:r>
                      <a:endParaRPr lang="pt-PT" sz="1400" b="0" i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indent="0">
                        <a:buNone/>
                      </a:pPr>
                      <a:endParaRPr lang="pt-PT" sz="1400" b="0" i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pt-PT" sz="1400" b="0" i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v_soa</a:t>
                      </a: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: #soa[N]Vector3 </a:t>
                      </a:r>
                    </a:p>
                    <a:p>
                      <a:pPr marL="0" indent="0">
                        <a:buNone/>
                      </a:pPr>
                      <a:r>
                        <a:rPr lang="pt-PT" sz="1400" b="0" i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v_soa</a:t>
                      </a: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[0].x = 1 </a:t>
                      </a:r>
                      <a:r>
                        <a:rPr lang="pt-PT" sz="1400" b="0" i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v_soa</a:t>
                      </a: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[0].y = 4 </a:t>
                      </a:r>
                      <a:r>
                        <a:rPr lang="pt-PT" sz="1400" b="0" i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v_soa</a:t>
                      </a: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[0].z = 9</a:t>
                      </a:r>
                    </a:p>
                    <a:p>
                      <a:pPr marL="0" indent="0">
                        <a:buNone/>
                      </a:pPr>
                      <a:r>
                        <a:rPr lang="pt-PT" sz="1400" b="0" i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v_aos</a:t>
                      </a: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[1] = {0, 3, 4} </a:t>
                      </a:r>
                    </a:p>
                    <a:p>
                      <a:pPr marL="0" indent="0">
                        <a:buNone/>
                      </a:pPr>
                      <a:r>
                        <a:rPr lang="pt-PT" sz="1400" b="0" i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fmt.println</a:t>
                      </a: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pt-PT" sz="1400" b="0" i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v_aos</a:t>
                      </a:r>
                      <a:r>
                        <a:rPr lang="pt-PT" sz="1400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 </a:t>
                      </a:r>
                      <a:endParaRPr lang="en-GB" sz="105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067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46332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Bloqueadores </a:t>
            </a:r>
            <a:r>
              <a:rPr lang="pt-PT" dirty="0" err="1"/>
              <a:t>Auto-vectorização</a:t>
            </a:r>
            <a:r>
              <a:rPr lang="pt-PT" dirty="0"/>
              <a:t>: </a:t>
            </a:r>
            <a:r>
              <a:rPr lang="pt-PT" i="1" dirty="0" err="1"/>
              <a:t>stride</a:t>
            </a:r>
            <a:endParaRPr lang="pt-PT" i="1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30</a:t>
            </a:fld>
            <a:endParaRPr lang="pt-PT" altLang="pt-PT"/>
          </a:p>
        </p:txBody>
      </p:sp>
      <p:sp>
        <p:nvSpPr>
          <p:cNvPr id="6" name="CaixaDeTexto 5"/>
          <p:cNvSpPr txBox="1"/>
          <p:nvPr/>
        </p:nvSpPr>
        <p:spPr>
          <a:xfrm>
            <a:off x="313815" y="1124744"/>
            <a:ext cx="5615640" cy="181588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#define SIZE 1000000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a[SIZE]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endParaRPr lang="pt-PT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loop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()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for 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PT" sz="1600">
                <a:latin typeface="Courier New" pitchFamily="49" charset="0"/>
                <a:cs typeface="Courier New" pitchFamily="49" charset="0"/>
              </a:rPr>
              <a:t> i=0 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; i&lt; SIZE ; i+=2)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a[i] = a[i] + 1;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} }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5666" y="3526383"/>
            <a:ext cx="65405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i="1" dirty="0" err="1"/>
              <a:t>Stride</a:t>
            </a:r>
            <a:r>
              <a:rPr lang="pt-PT" i="1" dirty="0"/>
              <a:t> </a:t>
            </a:r>
            <a:r>
              <a:rPr lang="pt-PT" dirty="0"/>
              <a:t>!= 1</a:t>
            </a:r>
          </a:p>
          <a:p>
            <a:r>
              <a:rPr lang="pt-PT" dirty="0"/>
              <a:t>Acessos </a:t>
            </a:r>
            <a:r>
              <a:rPr lang="pt-PT" b="1" dirty="0"/>
              <a:t>não contíguos</a:t>
            </a:r>
            <a:r>
              <a:rPr lang="pt-PT" dirty="0"/>
              <a:t>, mas </a:t>
            </a:r>
            <a:r>
              <a:rPr lang="pt-PT" b="1" dirty="0"/>
              <a:t>ordenados</a:t>
            </a:r>
            <a:r>
              <a:rPr lang="pt-PT" dirty="0"/>
              <a:t>.</a:t>
            </a:r>
          </a:p>
          <a:p>
            <a:r>
              <a:rPr lang="pt-PT" dirty="0"/>
              <a:t>Compilador pode não vectorizar o código. </a:t>
            </a:r>
          </a:p>
          <a:p>
            <a:r>
              <a:rPr lang="pt-PT" dirty="0"/>
              <a:t>Código (mesmo vectorial) menos eficiente, devido a acessos a memória e reduzida localidade espacial.</a:t>
            </a:r>
          </a:p>
        </p:txBody>
      </p:sp>
    </p:spTree>
    <p:extLst>
      <p:ext uri="{BB962C8B-B14F-4D97-AF65-F5344CB8AC3E}">
        <p14:creationId xmlns:p14="http://schemas.microsoft.com/office/powerpoint/2010/main" val="4027246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1" hangingPunct="1"/>
            <a:r>
              <a:rPr lang="pt-PT" sz="2800" dirty="0">
                <a:solidFill>
                  <a:srgbClr val="000000"/>
                </a:solidFill>
                <a:latin typeface="Arial" charset="0"/>
                <a:ea typeface="ＭＳ Ｐゴシック" pitchFamily="-109" charset="-128"/>
                <a:cs typeface="+mn-cs"/>
              </a:rPr>
              <a:t>Bloqueadores </a:t>
            </a:r>
            <a:r>
              <a:rPr lang="pt-PT" sz="2800" dirty="0" err="1">
                <a:solidFill>
                  <a:srgbClr val="000000"/>
                </a:solidFill>
                <a:latin typeface="Arial" charset="0"/>
                <a:ea typeface="ＭＳ Ｐゴシック" pitchFamily="-109" charset="-128"/>
                <a:cs typeface="+mn-cs"/>
              </a:rPr>
              <a:t>Auto-vectorização</a:t>
            </a:r>
            <a:r>
              <a:rPr lang="pt-PT" sz="2800" dirty="0">
                <a:solidFill>
                  <a:srgbClr val="000000"/>
                </a:solidFill>
                <a:latin typeface="Arial" charset="0"/>
                <a:ea typeface="ＭＳ Ｐゴシック" pitchFamily="-109" charset="-128"/>
                <a:cs typeface="+mn-cs"/>
              </a:rPr>
              <a:t>: </a:t>
            </a:r>
            <a:r>
              <a:rPr lang="pt-PT" sz="2800" i="1" dirty="0" err="1">
                <a:solidFill>
                  <a:srgbClr val="000000"/>
                </a:solidFill>
                <a:latin typeface="Arial" charset="0"/>
                <a:ea typeface="ＭＳ Ｐゴシック" pitchFamily="-109" charset="-128"/>
                <a:cs typeface="+mn-cs"/>
              </a:rPr>
              <a:t>uncountable</a:t>
            </a:r>
            <a:r>
              <a:rPr lang="pt-PT" sz="2800" i="1" dirty="0">
                <a:solidFill>
                  <a:srgbClr val="000000"/>
                </a:solidFill>
                <a:latin typeface="Arial" charset="0"/>
                <a:ea typeface="ＭＳ Ｐゴシック" pitchFamily="-109" charset="-128"/>
                <a:cs typeface="+mn-cs"/>
              </a:rPr>
              <a:t> </a:t>
            </a:r>
            <a:r>
              <a:rPr lang="pt-PT" sz="2800" i="1" dirty="0" err="1">
                <a:solidFill>
                  <a:srgbClr val="000000"/>
                </a:solidFill>
                <a:latin typeface="Arial" charset="0"/>
                <a:ea typeface="ＭＳ Ｐゴシック" pitchFamily="-109" charset="-128"/>
                <a:cs typeface="+mn-cs"/>
              </a:rPr>
              <a:t>loops</a:t>
            </a:r>
            <a:endParaRPr lang="pt-PT" sz="2800" i="1" dirty="0">
              <a:solidFill>
                <a:srgbClr val="000000"/>
              </a:solidFill>
              <a:latin typeface="Arial" charset="0"/>
              <a:ea typeface="ＭＳ Ｐゴシック" pitchFamily="-109" charset="-128"/>
              <a:cs typeface="+mn-cs"/>
            </a:endParaRP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31</a:t>
            </a:fld>
            <a:endParaRPr lang="pt-PT" altLang="pt-PT"/>
          </a:p>
        </p:txBody>
      </p:sp>
      <p:sp>
        <p:nvSpPr>
          <p:cNvPr id="7" name="CaixaDeTexto 6"/>
          <p:cNvSpPr txBox="1"/>
          <p:nvPr/>
        </p:nvSpPr>
        <p:spPr>
          <a:xfrm>
            <a:off x="285750" y="1000125"/>
            <a:ext cx="5615640" cy="23083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#define SIZE 1000000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a[SIZE]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b[SIZE]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c[SIZE]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endParaRPr lang="pt-PT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loop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()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for 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i=0 ; a[i]!=0 &amp;&amp; i&lt; SIZE ; i++)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c[i] = a[i] + b[i];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} }</a:t>
            </a:r>
          </a:p>
        </p:txBody>
      </p:sp>
      <p:sp>
        <p:nvSpPr>
          <p:cNvPr id="3" name="Rectângulo 2"/>
          <p:cNvSpPr/>
          <p:nvPr/>
        </p:nvSpPr>
        <p:spPr bwMode="auto">
          <a:xfrm>
            <a:off x="2411760" y="2420888"/>
            <a:ext cx="1008112" cy="360040"/>
          </a:xfrm>
          <a:prstGeom prst="rect">
            <a:avLst/>
          </a:prstGeom>
          <a:solidFill>
            <a:srgbClr val="C00000">
              <a:alpha val="34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455006" y="3893654"/>
            <a:ext cx="59171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O número de iterações não pode ser computado </a:t>
            </a:r>
          </a:p>
          <a:p>
            <a:r>
              <a:rPr lang="pt-PT" i="1" dirty="0"/>
              <a:t>(</a:t>
            </a:r>
            <a:r>
              <a:rPr lang="pt-PT" i="1" dirty="0" err="1"/>
              <a:t>uncountable</a:t>
            </a:r>
            <a:r>
              <a:rPr lang="pt-PT" i="1" dirty="0"/>
              <a:t> </a:t>
            </a:r>
            <a:r>
              <a:rPr lang="pt-PT" i="1" dirty="0" err="1"/>
              <a:t>loop</a:t>
            </a:r>
            <a:r>
              <a:rPr lang="pt-PT" dirty="0"/>
              <a:t>)</a:t>
            </a:r>
            <a:r>
              <a:rPr lang="pt-PT" i="1" dirty="0"/>
              <a:t>:</a:t>
            </a:r>
          </a:p>
          <a:p>
            <a:r>
              <a:rPr lang="pt-PT" dirty="0"/>
              <a:t>Código não </a:t>
            </a:r>
            <a:r>
              <a:rPr lang="pt-PT" dirty="0" err="1"/>
              <a:t>vectorizável</a:t>
            </a:r>
            <a:r>
              <a:rPr lang="pt-PT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81838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Bloqueadores </a:t>
            </a:r>
            <a:r>
              <a:rPr lang="pt-PT" dirty="0" err="1"/>
              <a:t>Auto-vectorização</a:t>
            </a:r>
            <a:r>
              <a:rPr lang="pt-PT" dirty="0"/>
              <a:t>: condições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32</a:t>
            </a:fld>
            <a:endParaRPr lang="pt-PT" altLang="pt-PT"/>
          </a:p>
        </p:txBody>
      </p:sp>
      <p:sp>
        <p:nvSpPr>
          <p:cNvPr id="7" name="CaixaDeTexto 6"/>
          <p:cNvSpPr txBox="1"/>
          <p:nvPr/>
        </p:nvSpPr>
        <p:spPr>
          <a:xfrm>
            <a:off x="285750" y="1000125"/>
            <a:ext cx="5615640" cy="30469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#define SIZE 1000000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a[SIZE]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b[SIZE]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c[SIZE]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endParaRPr lang="pt-PT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loop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()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for 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i=0 ; i&lt; SIZE ; i++)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s = a[i] + b[i];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(s&lt;0.) {c[i] = s;}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else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(s==0.) {c[i] = -10.;}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else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{c[i] = -s;}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} }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441314" y="4401485"/>
            <a:ext cx="59171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Estruturas condicionais</a:t>
            </a:r>
            <a:r>
              <a:rPr lang="pt-PT" i="1" dirty="0"/>
              <a:t>:</a:t>
            </a:r>
          </a:p>
          <a:p>
            <a:r>
              <a:rPr lang="pt-PT" dirty="0"/>
              <a:t>Código não </a:t>
            </a:r>
            <a:r>
              <a:rPr lang="pt-PT" dirty="0" err="1"/>
              <a:t>vectorizável</a:t>
            </a:r>
            <a:r>
              <a:rPr lang="pt-PT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959599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Bloqueadores </a:t>
            </a:r>
            <a:r>
              <a:rPr lang="pt-PT" dirty="0" err="1"/>
              <a:t>Auto-vectorização</a:t>
            </a:r>
            <a:r>
              <a:rPr lang="pt-PT" dirty="0"/>
              <a:t>: condições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33</a:t>
            </a:fld>
            <a:endParaRPr lang="pt-PT" altLang="pt-PT"/>
          </a:p>
        </p:txBody>
      </p:sp>
      <p:sp>
        <p:nvSpPr>
          <p:cNvPr id="7" name="CaixaDeTexto 6"/>
          <p:cNvSpPr txBox="1"/>
          <p:nvPr/>
        </p:nvSpPr>
        <p:spPr>
          <a:xfrm>
            <a:off x="285750" y="1000125"/>
            <a:ext cx="5615640" cy="255454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#define SIZE 1000000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a[SIZE]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b[SIZE]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c[SIZE]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endParaRPr lang="pt-PT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loop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()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for 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i=0 ; i&lt; SIZE ; i++)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s = a[i] + b[i];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c[i] = (s &lt; 0 ? s : 0);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} }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441314" y="3899783"/>
            <a:ext cx="679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Algumas estruturas condicionais simples realizáveis como uma máscara</a:t>
            </a:r>
            <a:r>
              <a:rPr lang="pt-PT" i="1" dirty="0"/>
              <a:t>: </a:t>
            </a:r>
            <a:r>
              <a:rPr lang="pt-PT" dirty="0"/>
              <a:t>Código </a:t>
            </a:r>
            <a:r>
              <a:rPr lang="pt-PT" dirty="0" err="1"/>
              <a:t>vectorizável</a:t>
            </a:r>
            <a:r>
              <a:rPr lang="pt-PT" dirty="0"/>
              <a:t> nesses casos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441313" y="4797152"/>
            <a:ext cx="70830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/>
              <a:t>NOTA</a:t>
            </a:r>
            <a:r>
              <a:rPr lang="pt-PT" dirty="0"/>
              <a:t>: </a:t>
            </a:r>
          </a:p>
          <a:p>
            <a:r>
              <a:rPr lang="pt-PT" dirty="0"/>
              <a:t>s é calculado para todos os elementos do vector.</a:t>
            </a:r>
          </a:p>
          <a:p>
            <a:r>
              <a:rPr lang="pt-PT" dirty="0"/>
              <a:t>usando uma máscara só é atribuído aqueles elementos de c para os quais s é &lt;0!</a:t>
            </a:r>
          </a:p>
        </p:txBody>
      </p:sp>
    </p:spTree>
    <p:extLst>
      <p:ext uri="{BB962C8B-B14F-4D97-AF65-F5344CB8AC3E}">
        <p14:creationId xmlns:p14="http://schemas.microsoft.com/office/powerpoint/2010/main" val="376476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Bloqueadores </a:t>
            </a:r>
            <a:r>
              <a:rPr lang="pt-PT" dirty="0" err="1"/>
              <a:t>Auto-vectorização</a:t>
            </a:r>
            <a:r>
              <a:rPr lang="pt-PT" dirty="0"/>
              <a:t>: funções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34</a:t>
            </a:fld>
            <a:endParaRPr lang="pt-PT" altLang="pt-PT"/>
          </a:p>
        </p:txBody>
      </p:sp>
      <p:sp>
        <p:nvSpPr>
          <p:cNvPr id="7" name="CaixaDeTexto 6"/>
          <p:cNvSpPr txBox="1"/>
          <p:nvPr/>
        </p:nvSpPr>
        <p:spPr>
          <a:xfrm>
            <a:off x="285750" y="1000125"/>
            <a:ext cx="5615640" cy="23083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#define SIZE 1000000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a[SIZE]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b[SIZE]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c[SIZE]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endParaRPr lang="pt-PT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loop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()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for 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i=0 ; i&lt; SIZE ; i++)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c[i] =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myfunc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(a[i]) + b[i];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} }</a:t>
            </a:r>
          </a:p>
        </p:txBody>
      </p:sp>
      <p:sp>
        <p:nvSpPr>
          <p:cNvPr id="3" name="Rectângulo 2"/>
          <p:cNvSpPr/>
          <p:nvPr/>
        </p:nvSpPr>
        <p:spPr bwMode="auto">
          <a:xfrm>
            <a:off x="1691680" y="2739171"/>
            <a:ext cx="1512168" cy="360040"/>
          </a:xfrm>
          <a:prstGeom prst="rect">
            <a:avLst/>
          </a:prstGeom>
          <a:solidFill>
            <a:srgbClr val="C00000">
              <a:alpha val="34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455006" y="3893654"/>
            <a:ext cx="59171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Invocação de funções dentro do ciclo:</a:t>
            </a:r>
          </a:p>
          <a:p>
            <a:r>
              <a:rPr lang="pt-PT" dirty="0"/>
              <a:t>Código não </a:t>
            </a:r>
            <a:r>
              <a:rPr lang="pt-PT" dirty="0" err="1"/>
              <a:t>vectorizável</a:t>
            </a:r>
            <a:r>
              <a:rPr lang="pt-PT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93472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Bloqueadores </a:t>
            </a:r>
            <a:r>
              <a:rPr lang="pt-PT" dirty="0" err="1"/>
              <a:t>Auto-vectorização</a:t>
            </a:r>
            <a:r>
              <a:rPr lang="pt-PT" dirty="0"/>
              <a:t>: funções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35</a:t>
            </a:fld>
            <a:endParaRPr lang="pt-PT" altLang="pt-PT"/>
          </a:p>
        </p:txBody>
      </p:sp>
      <p:sp>
        <p:nvSpPr>
          <p:cNvPr id="7" name="CaixaDeTexto 6"/>
          <p:cNvSpPr txBox="1"/>
          <p:nvPr/>
        </p:nvSpPr>
        <p:spPr>
          <a:xfrm>
            <a:off x="285750" y="1000125"/>
            <a:ext cx="5615640" cy="23083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#define SIZE 1000000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a[SIZE]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b[SIZE]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c[SIZE]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endParaRPr lang="pt-PT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loop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()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for 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i=0 ; i&lt; SIZE ; i++)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c[i] =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__builtin_absf(a[i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]) + b[i];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} }</a:t>
            </a:r>
          </a:p>
        </p:txBody>
      </p:sp>
      <p:sp>
        <p:nvSpPr>
          <p:cNvPr id="3" name="Rectângulo 2"/>
          <p:cNvSpPr/>
          <p:nvPr/>
        </p:nvSpPr>
        <p:spPr bwMode="auto">
          <a:xfrm>
            <a:off x="1676400" y="2743200"/>
            <a:ext cx="2578968" cy="360040"/>
          </a:xfrm>
          <a:prstGeom prst="rect">
            <a:avLst/>
          </a:prstGeom>
          <a:solidFill>
            <a:srgbClr val="C00000">
              <a:alpha val="34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455006" y="3893654"/>
            <a:ext cx="59171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Invocação de funções intrínseca dentro do ciclo:</a:t>
            </a:r>
          </a:p>
          <a:p>
            <a:r>
              <a:rPr lang="pt-PT" dirty="0"/>
              <a:t>Código </a:t>
            </a:r>
            <a:r>
              <a:rPr lang="pt-PT" dirty="0" err="1"/>
              <a:t>vectorizável</a:t>
            </a:r>
            <a:r>
              <a:rPr lang="pt-PT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74546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3815" y="255918"/>
            <a:ext cx="8534400" cy="838200"/>
          </a:xfrm>
        </p:spPr>
        <p:txBody>
          <a:bodyPr/>
          <a:lstStyle/>
          <a:p>
            <a:r>
              <a:rPr lang="pt-PT" dirty="0"/>
              <a:t>Bloqueadores </a:t>
            </a:r>
            <a:r>
              <a:rPr lang="pt-PT" dirty="0" err="1"/>
              <a:t>Auto-vectorização</a:t>
            </a:r>
            <a:r>
              <a:rPr lang="pt-PT" dirty="0"/>
              <a:t>: dependências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36</a:t>
            </a:fld>
            <a:endParaRPr lang="pt-PT" altLang="pt-PT"/>
          </a:p>
        </p:txBody>
      </p:sp>
      <p:sp>
        <p:nvSpPr>
          <p:cNvPr id="6" name="CaixaDeTexto 5"/>
          <p:cNvSpPr txBox="1"/>
          <p:nvPr/>
        </p:nvSpPr>
        <p:spPr>
          <a:xfrm>
            <a:off x="313815" y="1124744"/>
            <a:ext cx="5615640" cy="181588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#define SIZE 1000000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a[SIZE]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endParaRPr lang="pt-PT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loop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()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for 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i=1 ; i&lt; SIZE ; i++)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a[i] = a[i-1] + 1;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} }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5666" y="3526383"/>
            <a:ext cx="59171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Dependência </a:t>
            </a:r>
            <a:r>
              <a:rPr lang="pt-PT" i="1" dirty="0" err="1"/>
              <a:t>read</a:t>
            </a:r>
            <a:r>
              <a:rPr lang="pt-PT" i="1" dirty="0"/>
              <a:t> </a:t>
            </a:r>
            <a:r>
              <a:rPr lang="pt-PT" i="1" dirty="0" err="1"/>
              <a:t>after</a:t>
            </a:r>
            <a:r>
              <a:rPr lang="pt-PT" dirty="0"/>
              <a:t> </a:t>
            </a:r>
            <a:r>
              <a:rPr lang="pt-PT" dirty="0" err="1"/>
              <a:t>write</a:t>
            </a:r>
            <a:r>
              <a:rPr lang="pt-PT" dirty="0"/>
              <a:t> (</a:t>
            </a:r>
            <a:r>
              <a:rPr lang="pt-PT" dirty="0" err="1"/>
              <a:t>RaW</a:t>
            </a:r>
            <a:r>
              <a:rPr lang="pt-PT" dirty="0"/>
              <a:t>)!</a:t>
            </a:r>
          </a:p>
          <a:p>
            <a:r>
              <a:rPr lang="pt-PT" dirty="0"/>
              <a:t>Como i cresce, o valor de a[i+1] é alterado na próxima iteração anterior!</a:t>
            </a:r>
          </a:p>
          <a:p>
            <a:r>
              <a:rPr lang="pt-PT" dirty="0"/>
              <a:t>Código não </a:t>
            </a:r>
            <a:r>
              <a:rPr lang="pt-PT" dirty="0" err="1"/>
              <a:t>vectorizável</a:t>
            </a:r>
            <a:r>
              <a:rPr lang="pt-PT" dirty="0"/>
              <a:t>!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7272FD3-8CAE-4FBE-6DBF-5914543DC66D}"/>
              </a:ext>
            </a:extLst>
          </p:cNvPr>
          <p:cNvSpPr txBox="1"/>
          <p:nvPr/>
        </p:nvSpPr>
        <p:spPr>
          <a:xfrm>
            <a:off x="6516216" y="1997281"/>
            <a:ext cx="2160240" cy="1323439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solidFill>
                  <a:srgbClr val="FFFFFF"/>
                </a:solidFill>
              </a:rPr>
              <a:t>iteração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sz="1800" dirty="0" err="1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endParaRPr lang="en-GB" sz="1800" dirty="0">
              <a:solidFill>
                <a:srgbClr val="FFFF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dirty="0">
              <a:solidFill>
                <a:srgbClr val="FFFFFF"/>
              </a:solidFill>
            </a:endParaRPr>
          </a:p>
          <a:p>
            <a:r>
              <a:rPr lang="en-GB" dirty="0" err="1">
                <a:solidFill>
                  <a:srgbClr val="FFFFFF"/>
                </a:solidFill>
              </a:rPr>
              <a:t>ler</a:t>
            </a:r>
            <a:r>
              <a:rPr lang="en-GB" dirty="0">
                <a:solidFill>
                  <a:srgbClr val="FFFFFF"/>
                </a:solidFill>
              </a:rPr>
              <a:t>: </a:t>
            </a:r>
            <a:r>
              <a:rPr lang="en-GB" sz="1800" dirty="0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a[i-1]</a:t>
            </a:r>
          </a:p>
          <a:p>
            <a:r>
              <a:rPr lang="en-GB" dirty="0" err="1">
                <a:solidFill>
                  <a:srgbClr val="FFFFFF"/>
                </a:solidFill>
              </a:rPr>
              <a:t>escrever</a:t>
            </a:r>
            <a:r>
              <a:rPr lang="en-GB" dirty="0">
                <a:solidFill>
                  <a:srgbClr val="FFFFFF"/>
                </a:solidFill>
              </a:rPr>
              <a:t>: </a:t>
            </a:r>
            <a:r>
              <a:rPr lang="en-GB" sz="1800" dirty="0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</a:t>
            </a:r>
            <a:r>
              <a:rPr lang="en-GB" sz="1800" dirty="0" err="1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800" dirty="0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lang="en-GB" dirty="0">
              <a:solidFill>
                <a:srgbClr val="FFFF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D8D0480-3C69-4AD6-2C85-DC748145D164}"/>
              </a:ext>
            </a:extLst>
          </p:cNvPr>
          <p:cNvSpPr txBox="1"/>
          <p:nvPr/>
        </p:nvSpPr>
        <p:spPr>
          <a:xfrm>
            <a:off x="6516216" y="4136135"/>
            <a:ext cx="2160240" cy="1323439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solidFill>
                  <a:srgbClr val="FFFFFF"/>
                </a:solidFill>
              </a:rPr>
              <a:t>iteração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sz="1800" dirty="0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i+1</a:t>
            </a:r>
          </a:p>
          <a:p>
            <a:endParaRPr lang="en-GB" dirty="0">
              <a:solidFill>
                <a:srgbClr val="FFFFFF"/>
              </a:solidFill>
            </a:endParaRPr>
          </a:p>
          <a:p>
            <a:r>
              <a:rPr lang="en-GB" dirty="0" err="1">
                <a:solidFill>
                  <a:srgbClr val="FFFFFF"/>
                </a:solidFill>
              </a:rPr>
              <a:t>ler</a:t>
            </a:r>
            <a:r>
              <a:rPr lang="en-GB" dirty="0">
                <a:solidFill>
                  <a:srgbClr val="FFFFFF"/>
                </a:solidFill>
              </a:rPr>
              <a:t>: </a:t>
            </a:r>
            <a:r>
              <a:rPr lang="en-GB" sz="1800" dirty="0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</a:t>
            </a:r>
            <a:r>
              <a:rPr lang="en-GB" sz="1800" dirty="0" err="1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800" dirty="0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GB" dirty="0" err="1">
                <a:solidFill>
                  <a:srgbClr val="FFFFFF"/>
                </a:solidFill>
              </a:rPr>
              <a:t>escrever</a:t>
            </a:r>
            <a:r>
              <a:rPr lang="en-GB" dirty="0">
                <a:solidFill>
                  <a:srgbClr val="FFFFFF"/>
                </a:solidFill>
              </a:rPr>
              <a:t>: </a:t>
            </a:r>
            <a:r>
              <a:rPr lang="en-GB" sz="1800" dirty="0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a[i+1]</a:t>
            </a:r>
            <a:endParaRPr lang="en-GB" dirty="0">
              <a:solidFill>
                <a:srgbClr val="FFFF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8" name="Conexão Curva 17">
            <a:extLst>
              <a:ext uri="{FF2B5EF4-FFF2-40B4-BE49-F238E27FC236}">
                <a16:creationId xmlns:a16="http://schemas.microsoft.com/office/drawing/2014/main" id="{5A570FCE-D756-A98C-D6C7-4249123A894D}"/>
              </a:ext>
            </a:extLst>
          </p:cNvPr>
          <p:cNvCxnSpPr>
            <a:cxnSpLocks/>
            <a:stCxn id="16" idx="0"/>
            <a:endCxn id="11" idx="2"/>
          </p:cNvCxnSpPr>
          <p:nvPr/>
        </p:nvCxnSpPr>
        <p:spPr bwMode="auto">
          <a:xfrm rot="5400000" flipH="1" flipV="1">
            <a:off x="7188629" y="3728428"/>
            <a:ext cx="815415" cy="12700"/>
          </a:xfrm>
          <a:prstGeom prst="curvedConnector3">
            <a:avLst>
              <a:gd name="adj1" fmla="val 50000"/>
            </a:avLst>
          </a:prstGeom>
          <a:noFill/>
          <a:ln w="41275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188186B-7765-5510-947A-F4053DAF233C}"/>
              </a:ext>
            </a:extLst>
          </p:cNvPr>
          <p:cNvSpPr txBox="1"/>
          <p:nvPr/>
        </p:nvSpPr>
        <p:spPr>
          <a:xfrm>
            <a:off x="7660063" y="3543761"/>
            <a:ext cx="1269010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rgbClr val="FFFFFF"/>
                </a:solidFill>
              </a:rPr>
              <a:t>RAW: </a:t>
            </a:r>
            <a:r>
              <a:rPr lang="en-GB" sz="1400" dirty="0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</a:t>
            </a:r>
            <a:r>
              <a:rPr lang="en-GB" sz="1400" dirty="0" err="1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400" dirty="0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lang="en-GB" sz="1800" dirty="0">
              <a:solidFill>
                <a:srgbClr val="FFFF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4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 animBg="1"/>
      <p:bldP spid="2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Bloqueadores </a:t>
            </a:r>
            <a:r>
              <a:rPr lang="pt-PT" dirty="0" err="1"/>
              <a:t>Auto-vectorização</a:t>
            </a:r>
            <a:r>
              <a:rPr lang="pt-PT" dirty="0"/>
              <a:t>: dependências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37</a:t>
            </a:fld>
            <a:endParaRPr lang="pt-PT" altLang="pt-PT"/>
          </a:p>
        </p:txBody>
      </p:sp>
      <p:sp>
        <p:nvSpPr>
          <p:cNvPr id="6" name="CaixaDeTexto 5"/>
          <p:cNvSpPr txBox="1"/>
          <p:nvPr/>
        </p:nvSpPr>
        <p:spPr>
          <a:xfrm>
            <a:off x="313815" y="1124744"/>
            <a:ext cx="5615640" cy="181588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#define SIZE 1000000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a[SIZE]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endParaRPr lang="pt-PT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loop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()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for 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i=0 ; i&lt; SIZE-1 ; i++)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a[i] = a[i+1] + 1;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} }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5666" y="3526383"/>
            <a:ext cx="59171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Dependência </a:t>
            </a:r>
            <a:r>
              <a:rPr lang="pt-PT" dirty="0" err="1"/>
              <a:t>write</a:t>
            </a:r>
            <a:r>
              <a:rPr lang="pt-PT" dirty="0"/>
              <a:t> </a:t>
            </a:r>
            <a:r>
              <a:rPr lang="pt-PT" i="1" dirty="0" err="1"/>
              <a:t>after</a:t>
            </a:r>
            <a:r>
              <a:rPr lang="pt-PT" i="1" dirty="0"/>
              <a:t> </a:t>
            </a:r>
            <a:r>
              <a:rPr lang="pt-PT" i="1" dirty="0" err="1"/>
              <a:t>read</a:t>
            </a:r>
            <a:r>
              <a:rPr lang="pt-PT" i="1" dirty="0"/>
              <a:t> (</a:t>
            </a:r>
            <a:r>
              <a:rPr lang="pt-PT" i="1" dirty="0" err="1"/>
              <a:t>WaR</a:t>
            </a:r>
            <a:r>
              <a:rPr lang="pt-PT" i="1" dirty="0"/>
              <a:t>)</a:t>
            </a:r>
            <a:r>
              <a:rPr lang="pt-PT" dirty="0"/>
              <a:t>!</a:t>
            </a:r>
          </a:p>
          <a:p>
            <a:r>
              <a:rPr lang="pt-PT" dirty="0"/>
              <a:t>Como i cresce, o valor de a[i+1] só será alterado na próxima iteração!</a:t>
            </a:r>
          </a:p>
          <a:p>
            <a:r>
              <a:rPr lang="pt-PT" dirty="0"/>
              <a:t>Código </a:t>
            </a:r>
            <a:r>
              <a:rPr lang="pt-PT" dirty="0" err="1"/>
              <a:t>vectorizável</a:t>
            </a:r>
            <a:r>
              <a:rPr lang="pt-PT" dirty="0"/>
              <a:t>!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6252859" y="2691567"/>
            <a:ext cx="2159566" cy="2154419"/>
            <a:chOff x="6387543" y="2858757"/>
            <a:chExt cx="2159566" cy="2154419"/>
          </a:xfrm>
        </p:grpSpPr>
        <p:sp>
          <p:nvSpPr>
            <p:cNvPr id="9" name="CaixaDeTexto 8"/>
            <p:cNvSpPr txBox="1"/>
            <p:nvPr/>
          </p:nvSpPr>
          <p:spPr>
            <a:xfrm>
              <a:off x="6387543" y="2858757"/>
              <a:ext cx="21595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dirty="0">
                  <a:latin typeface="Consolas" panose="020B0609020204030204" pitchFamily="49" charset="0"/>
                  <a:cs typeface="Consolas" panose="020B0609020204030204" pitchFamily="49" charset="0"/>
                </a:rPr>
                <a:t>a[0] = a[1]+1;</a:t>
              </a:r>
            </a:p>
          </p:txBody>
        </p:sp>
        <p:sp>
          <p:nvSpPr>
            <p:cNvPr id="10" name="CaixaDeTexto 9"/>
            <p:cNvSpPr txBox="1"/>
            <p:nvPr/>
          </p:nvSpPr>
          <p:spPr>
            <a:xfrm>
              <a:off x="6387543" y="3388930"/>
              <a:ext cx="21595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dirty="0">
                  <a:latin typeface="Consolas" panose="020B0609020204030204" pitchFamily="49" charset="0"/>
                  <a:cs typeface="Consolas" panose="020B0609020204030204" pitchFamily="49" charset="0"/>
                </a:rPr>
                <a:t>a[1] = a[2]+1;</a:t>
              </a:r>
            </a:p>
          </p:txBody>
        </p:sp>
        <p:sp>
          <p:nvSpPr>
            <p:cNvPr id="11" name="CaixaDeTexto 10"/>
            <p:cNvSpPr txBox="1"/>
            <p:nvPr/>
          </p:nvSpPr>
          <p:spPr>
            <a:xfrm>
              <a:off x="6387543" y="4037002"/>
              <a:ext cx="21595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dirty="0">
                  <a:latin typeface="Consolas" panose="020B0609020204030204" pitchFamily="49" charset="0"/>
                  <a:cs typeface="Consolas" panose="020B0609020204030204" pitchFamily="49" charset="0"/>
                </a:rPr>
                <a:t>a[2] = a[3]+1;</a:t>
              </a:r>
            </a:p>
          </p:txBody>
        </p:sp>
        <p:sp>
          <p:nvSpPr>
            <p:cNvPr id="12" name="CaixaDeTexto 11"/>
            <p:cNvSpPr txBox="1"/>
            <p:nvPr/>
          </p:nvSpPr>
          <p:spPr>
            <a:xfrm>
              <a:off x="6387543" y="4613066"/>
              <a:ext cx="21595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dirty="0">
                  <a:latin typeface="Consolas" panose="020B0609020204030204" pitchFamily="49" charset="0"/>
                  <a:cs typeface="Consolas" panose="020B0609020204030204" pitchFamily="49" charset="0"/>
                </a:rPr>
                <a:t>a[3] = a[4]+1;</a:t>
              </a:r>
            </a:p>
          </p:txBody>
        </p:sp>
        <p:cxnSp>
          <p:nvCxnSpPr>
            <p:cNvPr id="13" name="Conexão recta unidireccional 12"/>
            <p:cNvCxnSpPr/>
            <p:nvPr/>
          </p:nvCxnSpPr>
          <p:spPr bwMode="auto">
            <a:xfrm flipH="1">
              <a:off x="6804248" y="3258867"/>
              <a:ext cx="998780" cy="133758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4" name="Conexão recta unidireccional 13"/>
            <p:cNvCxnSpPr/>
            <p:nvPr/>
          </p:nvCxnSpPr>
          <p:spPr bwMode="auto">
            <a:xfrm flipH="1">
              <a:off x="6804248" y="3789040"/>
              <a:ext cx="998780" cy="288032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5" name="Conexão recta unidireccional 14"/>
            <p:cNvCxnSpPr/>
            <p:nvPr/>
          </p:nvCxnSpPr>
          <p:spPr bwMode="auto">
            <a:xfrm flipH="1">
              <a:off x="6804248" y="4437112"/>
              <a:ext cx="936104" cy="267516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309139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Bloqueadores </a:t>
            </a:r>
            <a:r>
              <a:rPr lang="pt-PT" dirty="0" err="1"/>
              <a:t>Auto-vectorização</a:t>
            </a:r>
            <a:r>
              <a:rPr lang="pt-PT" dirty="0"/>
              <a:t>: dependências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219200"/>
                <a:ext cx="8534400" cy="1849760"/>
              </a:xfrm>
            </p:spPr>
            <p:txBody>
              <a:bodyPr/>
              <a:lstStyle/>
              <a:p>
                <a:r>
                  <a:rPr lang="pt-PT" sz="2000" dirty="0"/>
                  <a:t>Distância da dependência : diferença entre o índice de escrita e o índice de leitura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000" b="0" i="1" smtClean="0">
                          <a:latin typeface="Cambria Math"/>
                        </a:rPr>
                        <m:t>𝑑</m:t>
                      </m:r>
                      <m:r>
                        <a:rPr lang="pt-PT" sz="20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pt-PT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sz="2000" i="1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lang="pt-PT" sz="2000" b="0" i="1" smtClean="0">
                              <a:latin typeface="Cambria Math"/>
                            </a:rPr>
                            <m:t>𝑊</m:t>
                          </m:r>
                        </m:sup>
                      </m:sSup>
                      <m:r>
                        <a:rPr lang="pt-PT" sz="2000" b="0" i="1" smtClean="0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pt-PT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sz="2000" b="0" i="1" smtClean="0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lang="pt-PT" sz="2000" b="0" i="1" smtClean="0">
                              <a:latin typeface="Cambria Math"/>
                            </a:rPr>
                            <m:t>𝑅</m:t>
                          </m:r>
                        </m:sup>
                      </m:sSup>
                    </m:oMath>
                  </m:oMathPara>
                </a14:m>
                <a:endParaRPr lang="pt-PT" sz="2000" dirty="0"/>
              </a:p>
              <a:p>
                <a:endParaRPr lang="pt-PT" sz="2000" dirty="0"/>
              </a:p>
              <a:p>
                <a:r>
                  <a:rPr lang="pt-PT" sz="2000" dirty="0"/>
                  <a:t>Se </a:t>
                </a:r>
                <a:r>
                  <a:rPr lang="pt-PT" sz="2000" i="1" dirty="0"/>
                  <a:t>d</a:t>
                </a:r>
                <a:r>
                  <a:rPr lang="pt-PT" sz="2000" dirty="0"/>
                  <a:t> &lt;= 0 não há dependências </a:t>
                </a:r>
                <a:r>
                  <a:rPr lang="pt-PT" sz="2000" dirty="0" err="1"/>
                  <a:t>RaW</a:t>
                </a:r>
                <a:r>
                  <a:rPr lang="pt-PT" sz="2000" dirty="0"/>
                  <a:t> : ciclo pode ser vectorizado</a:t>
                </a:r>
              </a:p>
            </p:txBody>
          </p:sp>
        </mc:Choice>
        <mc:Fallback xmlns="" xmlns:mv="urn:schemas-microsoft-com:mac:vml">
          <p:sp>
            <p:nvSpPr>
              <p:cNvPr id="3" name="Marcador de Posição de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219200"/>
                <a:ext cx="8534400" cy="1849760"/>
              </a:xfrm>
              <a:blipFill rotWithShape="1">
                <a:blip r:embed="rId2"/>
                <a:stretch>
                  <a:fillRect l="-714" t="-1980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38</a:t>
            </a:fld>
            <a:endParaRPr lang="pt-PT" altLang="pt-PT"/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286371"/>
              </p:ext>
            </p:extLst>
          </p:nvPr>
        </p:nvGraphicFramePr>
        <p:xfrm>
          <a:off x="395536" y="3212976"/>
          <a:ext cx="835292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pt-PT" sz="1800" kern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(i=1 ; i &lt; SIZE ; i++) {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pt-PT" sz="1800" kern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pt-PT" sz="1800" kern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a[i] = 2 * a[i-1]; }</a:t>
                      </a:r>
                    </a:p>
                    <a:p>
                      <a:endParaRPr lang="pt-PT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pt-PT" sz="1800" kern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(i=0 ; i &lt; SIZE-1 ; i++) {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pt-PT" sz="1800" kern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pt-PT" sz="1800" kern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a[i] = 2 * a[i+1]; 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800" kern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 = i – (i-1) = 1	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800" kern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d&gt;0 =&gt; </a:t>
                      </a:r>
                      <a:r>
                        <a:rPr lang="pt-PT" sz="1800" kern="0" dirty="0" err="1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RaW</a:t>
                      </a:r>
                      <a:endParaRPr lang="pt-PT" sz="1800" kern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pt-PT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800" kern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 = i – (i+1) = -1	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800" kern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d&lt;0 =&gt; </a:t>
                      </a:r>
                      <a:r>
                        <a:rPr lang="pt-PT" sz="1800" kern="0" dirty="0" err="1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WaR</a:t>
                      </a:r>
                      <a:endParaRPr lang="pt-PT" sz="1800" kern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Marcador de Posição de Conteúdo 2"/>
              <p:cNvSpPr txBox="1">
                <a:spLocks/>
              </p:cNvSpPr>
              <p:nvPr/>
            </p:nvSpPr>
            <p:spPr bwMode="auto">
              <a:xfrm>
                <a:off x="395536" y="5199337"/>
                <a:ext cx="8534400" cy="924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600">
                    <a:solidFill>
                      <a:schemeClr val="tx1"/>
                    </a:solidFill>
                    <a:latin typeface="Calibri" pitchFamily="34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Calibri" pitchFamily="34" charset="0"/>
                    <a:ea typeface="ＭＳ Ｐゴシック" charset="0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  <a:ea typeface="ＭＳ Ｐゴシック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  <a:ea typeface="ＭＳ Ｐゴシック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ＭＳ Ｐゴシック" charset="0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r>
                  <a:rPr lang="pt-PT" sz="2000" kern="0" dirty="0"/>
                  <a:t>Nota: o sinal da distância deve respeitar a ordem de iteração.</a:t>
                </a:r>
                <a:br>
                  <a:rPr lang="pt-PT" sz="2000" kern="0" dirty="0"/>
                </a:br>
                <a:r>
                  <a:rPr lang="pt-PT" sz="2000" kern="0" dirty="0"/>
                  <a:t>Isto é, se o índice for decrementado então </a:t>
                </a:r>
                <a14:m>
                  <m:oMath xmlns:m="http://schemas.openxmlformats.org/officeDocument/2006/math">
                    <m:r>
                      <a:rPr lang="pt-PT" sz="2000" i="1">
                        <a:latin typeface="Cambria Math"/>
                      </a:rPr>
                      <m:t>𝑑</m:t>
                    </m:r>
                    <m:r>
                      <a:rPr lang="pt-PT" sz="20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pt-PT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sz="2000" b="0" i="1" smtClean="0">
                            <a:latin typeface="Cambria Math"/>
                          </a:rPr>
                          <m:t>−(</m:t>
                        </m:r>
                        <m:r>
                          <a:rPr lang="pt-PT" sz="2000" i="1">
                            <a:latin typeface="Cambria Math"/>
                          </a:rPr>
                          <m:t>𝑐</m:t>
                        </m:r>
                      </m:e>
                      <m:sup>
                        <m:r>
                          <a:rPr lang="pt-PT" sz="2000" i="1" smtClean="0">
                            <a:latin typeface="Cambria Math"/>
                          </a:rPr>
                          <m:t>𝑊</m:t>
                        </m:r>
                      </m:sup>
                    </m:sSup>
                    <m:r>
                      <a:rPr lang="pt-PT" sz="2000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pt-PT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sz="2000" i="1">
                            <a:latin typeface="Cambria Math"/>
                          </a:rPr>
                          <m:t>𝑐</m:t>
                        </m:r>
                      </m:e>
                      <m:sup>
                        <m:r>
                          <a:rPr lang="pt-PT" sz="2000" i="1">
                            <a:latin typeface="Cambria Math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pt-PT" sz="2000" dirty="0"/>
                  <a:t>)</a:t>
                </a:r>
              </a:p>
              <a:p>
                <a:pPr marL="0" indent="0">
                  <a:buNone/>
                </a:pPr>
                <a:endParaRPr lang="pt-PT" sz="2000" kern="0" dirty="0"/>
              </a:p>
            </p:txBody>
          </p:sp>
        </mc:Choice>
        <mc:Fallback xmlns="" xmlns:mv="urn:schemas-microsoft-com:mac:vml">
          <p:sp>
            <p:nvSpPr>
              <p:cNvPr id="8" name="Marcador de Posição de Conteú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536" y="5199337"/>
                <a:ext cx="8534400" cy="924880"/>
              </a:xfrm>
              <a:prstGeom prst="rect">
                <a:avLst/>
              </a:prstGeom>
              <a:blipFill rotWithShape="1">
                <a:blip r:embed="rId3"/>
                <a:stretch>
                  <a:fillRect l="-786" t="-3947"/>
                </a:stretch>
              </a:blipFill>
              <a:ln>
                <a:noFill/>
              </a:ln>
              <a:extLst>
                <a:ext uri="{909E8E84-426E-40DD-AFC4-6F175D3DCCD1}">
                  <a14:hiddenFill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14="http://schemas.microsoft.com/office/drawing/2010/main" xmlns:mv="urn:schemas-microsoft-com:mac:vml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14="http://schemas.microsoft.com/office/drawing/2010/main" xmlns:mv="urn:schemas-microsoft-com:mac:vml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8847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Bloqueadores </a:t>
            </a:r>
            <a:r>
              <a:rPr lang="pt-PT" dirty="0" err="1"/>
              <a:t>Auto-vectorização</a:t>
            </a:r>
            <a:r>
              <a:rPr lang="pt-PT" dirty="0"/>
              <a:t>: dependências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39</a:t>
            </a:fld>
            <a:endParaRPr lang="pt-PT" altLang="pt-PT"/>
          </a:p>
        </p:txBody>
      </p:sp>
      <p:sp>
        <p:nvSpPr>
          <p:cNvPr id="6" name="CaixaDeTexto 5"/>
          <p:cNvSpPr txBox="1"/>
          <p:nvPr/>
        </p:nvSpPr>
        <p:spPr>
          <a:xfrm>
            <a:off x="251520" y="1124744"/>
            <a:ext cx="4257897" cy="255454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#define SIZE 1000000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a[SIZE] 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endParaRPr lang="pt-PT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loop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() {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c;</a:t>
            </a:r>
          </a:p>
          <a:p>
            <a:pPr>
              <a:defRPr/>
            </a:pPr>
            <a:endParaRPr lang="pt-PT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for 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i=1 ; i&lt; SIZE ; i++)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c = a[i-1]*2 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a[i] = (c &gt;0 ? c : 1);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} }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5584824" y="5478385"/>
            <a:ext cx="252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err="1"/>
              <a:t>Write</a:t>
            </a:r>
            <a:r>
              <a:rPr lang="pt-PT" dirty="0"/>
              <a:t> </a:t>
            </a:r>
            <a:r>
              <a:rPr lang="pt-PT" i="1" dirty="0" err="1"/>
              <a:t>after</a:t>
            </a:r>
            <a:r>
              <a:rPr lang="pt-PT" i="1" dirty="0"/>
              <a:t> </a:t>
            </a:r>
            <a:r>
              <a:rPr lang="pt-PT" i="1" dirty="0" err="1"/>
              <a:t>read</a:t>
            </a:r>
            <a:endParaRPr lang="pt-PT" dirty="0"/>
          </a:p>
          <a:p>
            <a:r>
              <a:rPr lang="pt-PT" dirty="0"/>
              <a:t>Código </a:t>
            </a:r>
            <a:r>
              <a:rPr lang="pt-PT" dirty="0" err="1"/>
              <a:t>vectorizável</a:t>
            </a:r>
            <a:r>
              <a:rPr lang="pt-PT" dirty="0"/>
              <a:t>!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4914619" y="4525282"/>
            <a:ext cx="3852337" cy="930283"/>
            <a:chOff x="6387543" y="2858757"/>
            <a:chExt cx="3852337" cy="930283"/>
          </a:xfrm>
        </p:grpSpPr>
        <p:sp>
          <p:nvSpPr>
            <p:cNvPr id="9" name="CaixaDeTexto 8"/>
            <p:cNvSpPr txBox="1"/>
            <p:nvPr/>
          </p:nvSpPr>
          <p:spPr>
            <a:xfrm>
              <a:off x="6387543" y="2858757"/>
              <a:ext cx="38523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dirty="0">
                  <a:latin typeface="Consolas" panose="020B0609020204030204" pitchFamily="49" charset="0"/>
                  <a:cs typeface="Consolas" panose="020B0609020204030204" pitchFamily="49" charset="0"/>
                </a:rPr>
                <a:t>a[SIZE-1] = a[SIZE-2]*2:1;</a:t>
              </a:r>
            </a:p>
          </p:txBody>
        </p:sp>
        <p:sp>
          <p:nvSpPr>
            <p:cNvPr id="10" name="CaixaDeTexto 9"/>
            <p:cNvSpPr txBox="1"/>
            <p:nvPr/>
          </p:nvSpPr>
          <p:spPr>
            <a:xfrm>
              <a:off x="6387543" y="3388930"/>
              <a:ext cx="38523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dirty="0">
                  <a:latin typeface="Consolas" panose="020B0609020204030204" pitchFamily="49" charset="0"/>
                  <a:cs typeface="Consolas" panose="020B0609020204030204" pitchFamily="49" charset="0"/>
                </a:rPr>
                <a:t>a[SIZE-2] = a[SIZE-3]*2:1;</a:t>
              </a:r>
            </a:p>
          </p:txBody>
        </p:sp>
        <p:cxnSp>
          <p:nvCxnSpPr>
            <p:cNvPr id="13" name="Conexão recta unidireccional 12"/>
            <p:cNvCxnSpPr/>
            <p:nvPr/>
          </p:nvCxnSpPr>
          <p:spPr bwMode="auto">
            <a:xfrm flipH="1">
              <a:off x="7264883" y="3258867"/>
              <a:ext cx="1656185" cy="164217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16" name="CaixaDeTexto 15"/>
          <p:cNvSpPr txBox="1"/>
          <p:nvPr/>
        </p:nvSpPr>
        <p:spPr>
          <a:xfrm>
            <a:off x="4716016" y="1124744"/>
            <a:ext cx="4257897" cy="255454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#define SIZE 1000000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a[SIZE] 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(16)));</a:t>
            </a:r>
          </a:p>
          <a:p>
            <a:pPr>
              <a:defRPr/>
            </a:pPr>
            <a:endParaRPr lang="pt-PT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loop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() { 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c;</a:t>
            </a:r>
          </a:p>
          <a:p>
            <a:pPr>
              <a:defRPr/>
            </a:pPr>
            <a:endParaRPr lang="pt-PT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for 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i=SIZE -1 ; i&gt;0; i--)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c = a[i-1]*2 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a[i] = (c &gt;0 ? c : 1);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} }</a:t>
            </a:r>
          </a:p>
        </p:txBody>
      </p:sp>
      <p:grpSp>
        <p:nvGrpSpPr>
          <p:cNvPr id="17" name="Grupo 16"/>
          <p:cNvGrpSpPr/>
          <p:nvPr/>
        </p:nvGrpSpPr>
        <p:grpSpPr>
          <a:xfrm>
            <a:off x="899592" y="4525282"/>
            <a:ext cx="2723823" cy="930283"/>
            <a:chOff x="6387543" y="2858757"/>
            <a:chExt cx="2723823" cy="930283"/>
          </a:xfrm>
        </p:grpSpPr>
        <p:sp>
          <p:nvSpPr>
            <p:cNvPr id="18" name="CaixaDeTexto 17"/>
            <p:cNvSpPr txBox="1"/>
            <p:nvPr/>
          </p:nvSpPr>
          <p:spPr>
            <a:xfrm>
              <a:off x="6387543" y="2858757"/>
              <a:ext cx="27238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dirty="0">
                  <a:latin typeface="Consolas" panose="020B0609020204030204" pitchFamily="49" charset="0"/>
                  <a:cs typeface="Consolas" panose="020B0609020204030204" pitchFamily="49" charset="0"/>
                </a:rPr>
                <a:t>a[1] = a[0]*2 : 1;</a:t>
              </a:r>
            </a:p>
          </p:txBody>
        </p:sp>
        <p:sp>
          <p:nvSpPr>
            <p:cNvPr id="19" name="CaixaDeTexto 18"/>
            <p:cNvSpPr txBox="1"/>
            <p:nvPr/>
          </p:nvSpPr>
          <p:spPr>
            <a:xfrm>
              <a:off x="6387543" y="3388930"/>
              <a:ext cx="27238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dirty="0">
                  <a:latin typeface="Consolas" panose="020B0609020204030204" pitchFamily="49" charset="0"/>
                  <a:cs typeface="Consolas" panose="020B0609020204030204" pitchFamily="49" charset="0"/>
                </a:rPr>
                <a:t>a[2] = a[1]*2 : 1;</a:t>
              </a:r>
            </a:p>
          </p:txBody>
        </p:sp>
        <p:cxnSp>
          <p:nvCxnSpPr>
            <p:cNvPr id="22" name="Conexão recta unidireccional 21"/>
            <p:cNvCxnSpPr/>
            <p:nvPr/>
          </p:nvCxnSpPr>
          <p:spPr bwMode="auto">
            <a:xfrm>
              <a:off x="6804248" y="3258867"/>
              <a:ext cx="936104" cy="267516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25" name="CaixaDeTexto 24"/>
          <p:cNvSpPr txBox="1"/>
          <p:nvPr/>
        </p:nvSpPr>
        <p:spPr>
          <a:xfrm>
            <a:off x="772904" y="5482846"/>
            <a:ext cx="3196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i="1" dirty="0" err="1"/>
              <a:t>read</a:t>
            </a:r>
            <a:r>
              <a:rPr lang="pt-PT" i="1" dirty="0"/>
              <a:t> </a:t>
            </a:r>
            <a:r>
              <a:rPr lang="pt-PT" i="1" dirty="0" err="1"/>
              <a:t>after</a:t>
            </a:r>
            <a:r>
              <a:rPr lang="pt-PT" i="1" dirty="0"/>
              <a:t> </a:t>
            </a:r>
            <a:r>
              <a:rPr lang="pt-PT" dirty="0" err="1"/>
              <a:t>write</a:t>
            </a:r>
            <a:r>
              <a:rPr lang="pt-PT" dirty="0"/>
              <a:t> </a:t>
            </a:r>
          </a:p>
          <a:p>
            <a:pPr algn="ctr"/>
            <a:r>
              <a:rPr lang="pt-PT" dirty="0"/>
              <a:t>Código NÃO </a:t>
            </a:r>
            <a:r>
              <a:rPr lang="pt-PT" dirty="0" err="1"/>
              <a:t>vectorizável</a:t>
            </a:r>
            <a:r>
              <a:rPr lang="pt-PT" dirty="0"/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ângulo 2"/>
              <p:cNvSpPr/>
              <p:nvPr/>
            </p:nvSpPr>
            <p:spPr>
              <a:xfrm>
                <a:off x="535992" y="4009628"/>
                <a:ext cx="367074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i="1" smtClean="0">
                          <a:latin typeface="Cambria Math"/>
                        </a:rPr>
                        <m:t>𝑑</m:t>
                      </m:r>
                      <m:r>
                        <a:rPr lang="pt-PT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i="1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lang="pt-PT" i="1">
                              <a:latin typeface="Cambria Math"/>
                            </a:rPr>
                            <m:t>𝑊</m:t>
                          </m:r>
                        </m:sup>
                      </m:sSup>
                      <m:r>
                        <a:rPr lang="pt-PT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i="1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lang="pt-PT" i="1">
                              <a:latin typeface="Cambria Math"/>
                            </a:rPr>
                            <m:t>𝑅</m:t>
                          </m:r>
                        </m:sup>
                      </m:sSup>
                      <m:r>
                        <a:rPr lang="pt-PT" b="0" i="1" smtClean="0">
                          <a:latin typeface="Cambria Math"/>
                        </a:rPr>
                        <m:t>=</m:t>
                      </m:r>
                      <m:r>
                        <a:rPr lang="pt-PT" b="0" i="1" smtClean="0">
                          <a:latin typeface="Cambria Math"/>
                        </a:rPr>
                        <m:t>𝑖</m:t>
                      </m:r>
                      <m:r>
                        <a:rPr lang="pt-PT" b="0" i="1" smtClean="0">
                          <a:latin typeface="Cambria Math"/>
                        </a:rPr>
                        <m:t> −</m:t>
                      </m:r>
                      <m:d>
                        <m:dPr>
                          <m:ctrlPr>
                            <a:rPr lang="pt-P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pt-PT" b="0" i="1" smtClean="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pt-PT" b="0" i="1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pt-PT" dirty="0"/>
              </a:p>
            </p:txBody>
          </p:sp>
        </mc:Choice>
        <mc:Fallback xmlns="" xmlns:mv="urn:schemas-microsoft-com:mac:vml">
          <p:sp>
            <p:nvSpPr>
              <p:cNvPr id="3" name="Rec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92" y="4009628"/>
                <a:ext cx="3670748" cy="40011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ângulo 19"/>
              <p:cNvSpPr/>
              <p:nvPr/>
            </p:nvSpPr>
            <p:spPr>
              <a:xfrm>
                <a:off x="4749742" y="4009628"/>
                <a:ext cx="419044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i="1" smtClean="0">
                          <a:latin typeface="Cambria Math"/>
                        </a:rPr>
                        <m:t>𝑑</m:t>
                      </m:r>
                      <m:r>
                        <a:rPr lang="pt-PT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b="0" i="1" smtClean="0">
                              <a:latin typeface="Cambria Math"/>
                            </a:rPr>
                            <m:t>−(</m:t>
                          </m:r>
                          <m:r>
                            <a:rPr lang="pt-PT" i="1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lang="pt-PT" i="1">
                              <a:latin typeface="Cambria Math"/>
                            </a:rPr>
                            <m:t>𝑊</m:t>
                          </m:r>
                        </m:sup>
                      </m:sSup>
                      <m:r>
                        <a:rPr lang="pt-PT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i="1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lang="pt-PT" i="1">
                              <a:latin typeface="Cambria Math"/>
                            </a:rPr>
                            <m:t>𝑅</m:t>
                          </m:r>
                        </m:sup>
                      </m:sSup>
                      <m:r>
                        <a:rPr lang="pt-PT" b="0" i="1" smtClean="0">
                          <a:latin typeface="Cambria Math"/>
                        </a:rPr>
                        <m:t>)=−</m:t>
                      </m:r>
                      <m:r>
                        <a:rPr lang="pt-PT" b="0" i="1" smtClean="0">
                          <a:latin typeface="Cambria Math"/>
                        </a:rPr>
                        <m:t>𝑖</m:t>
                      </m:r>
                      <m:r>
                        <a:rPr lang="pt-PT" b="0" i="1" smtClean="0">
                          <a:latin typeface="Cambria Math"/>
                        </a:rPr>
                        <m:t>+</m:t>
                      </m:r>
                      <m:r>
                        <a:rPr lang="pt-PT" b="0" i="1" smtClean="0">
                          <a:latin typeface="Cambria Math"/>
                        </a:rPr>
                        <m:t>𝑖</m:t>
                      </m:r>
                      <m:r>
                        <a:rPr lang="pt-PT" b="0" i="1" smtClean="0">
                          <a:latin typeface="Cambria Math"/>
                        </a:rPr>
                        <m:t>−1=−1</m:t>
                      </m:r>
                    </m:oMath>
                  </m:oMathPara>
                </a14:m>
                <a:endParaRPr lang="pt-PT" dirty="0"/>
              </a:p>
            </p:txBody>
          </p:sp>
        </mc:Choice>
        <mc:Fallback xmlns="" xmlns:mv="urn:schemas-microsoft-com:mac:vml">
          <p:sp>
            <p:nvSpPr>
              <p:cNvPr id="20" name="Rec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742" y="4009628"/>
                <a:ext cx="4190443" cy="400110"/>
              </a:xfrm>
              <a:prstGeom prst="rect">
                <a:avLst/>
              </a:prstGeom>
              <a:blipFill rotWithShape="1">
                <a:blip r:embed="rId3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332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5" grpId="0"/>
      <p:bldP spid="3" grpId="0" animBg="1"/>
      <p:bldP spid="2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Bloqueadores </a:t>
            </a:r>
            <a:r>
              <a:rPr lang="pt-PT" dirty="0" err="1"/>
              <a:t>Auto-vectorização</a:t>
            </a:r>
            <a:r>
              <a:rPr lang="pt-PT" dirty="0"/>
              <a:t>: dependências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40</a:t>
            </a:fld>
            <a:endParaRPr lang="pt-PT" altLang="pt-PT"/>
          </a:p>
        </p:txBody>
      </p:sp>
      <p:sp>
        <p:nvSpPr>
          <p:cNvPr id="6" name="CaixaDeTexto 5"/>
          <p:cNvSpPr txBox="1"/>
          <p:nvPr/>
        </p:nvSpPr>
        <p:spPr>
          <a:xfrm>
            <a:off x="313815" y="1124744"/>
            <a:ext cx="5615640" cy="181588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#define SIZE 1000000</a:t>
            </a: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a[SIZE] __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attribute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__ ((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aligned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(32)));</a:t>
            </a:r>
          </a:p>
          <a:p>
            <a:pPr>
              <a:defRPr/>
            </a:pPr>
            <a:endParaRPr lang="pt-PT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loop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()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for (</a:t>
            </a:r>
            <a:r>
              <a:rPr lang="pt-P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PT" sz="1600" dirty="0">
                <a:latin typeface="Courier New" pitchFamily="49" charset="0"/>
                <a:cs typeface="Courier New" pitchFamily="49" charset="0"/>
              </a:rPr>
              <a:t> i=9 ; i&lt; SIZE ; i++) {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    a[i] = a[i-9] + 1;</a:t>
            </a:r>
          </a:p>
          <a:p>
            <a:pPr>
              <a:defRPr/>
            </a:pPr>
            <a:r>
              <a:rPr lang="pt-PT" sz="1600" dirty="0">
                <a:latin typeface="Courier New" pitchFamily="49" charset="0"/>
                <a:cs typeface="Courier New" pitchFamily="49" charset="0"/>
              </a:rPr>
              <a:t>} }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611560" y="3883114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PT" kern="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 = i – (i-9) = 9	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PT" kern="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d&gt;0 =&gt; </a:t>
            </a:r>
            <a:r>
              <a:rPr lang="pt-PT" kern="0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RaW</a:t>
            </a:r>
            <a:endParaRPr lang="pt-PT" kern="0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304800" y="3061492"/>
            <a:ext cx="6571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Máquina AVX: largura das unidades funcionais W= 8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611560" y="4765059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PT" kern="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 d&gt;W ; 9 &gt; 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313815" y="5306674"/>
            <a:ext cx="6571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Código </a:t>
            </a:r>
            <a:r>
              <a:rPr lang="pt-PT" dirty="0" err="1"/>
              <a:t>vectorizável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2261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1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Processamento Vectorial: Linhas de Orientação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800"/>
              </a:spcBef>
            </a:pPr>
            <a:r>
              <a:rPr lang="en-US" sz="2400" dirty="0" err="1"/>
              <a:t>Usar</a:t>
            </a:r>
            <a:r>
              <a:rPr lang="en-US" sz="2400" dirty="0"/>
              <a:t> </a:t>
            </a:r>
            <a:r>
              <a:rPr lang="en-US" sz="2400" dirty="0" err="1"/>
              <a:t>ciclos</a:t>
            </a:r>
            <a:r>
              <a:rPr lang="en-US" sz="2400" dirty="0"/>
              <a:t> “for” </a:t>
            </a:r>
            <a:r>
              <a:rPr lang="en-US" sz="2400" dirty="0" err="1"/>
              <a:t>contáveis</a:t>
            </a:r>
            <a:r>
              <a:rPr lang="en-US" sz="2400" dirty="0"/>
              <a:t>: </a:t>
            </a:r>
            <a:r>
              <a:rPr lang="en-US" sz="2400" dirty="0" err="1"/>
              <a:t>pontos</a:t>
            </a:r>
            <a:r>
              <a:rPr lang="en-US" sz="2400" dirty="0"/>
              <a:t> </a:t>
            </a:r>
            <a:r>
              <a:rPr lang="en-US" sz="2400" dirty="0" err="1"/>
              <a:t>únicos</a:t>
            </a:r>
            <a:r>
              <a:rPr lang="en-US" sz="2400" dirty="0"/>
              <a:t> de entrada e </a:t>
            </a:r>
            <a:r>
              <a:rPr lang="en-US" sz="2400" dirty="0" err="1"/>
              <a:t>saída</a:t>
            </a:r>
            <a:r>
              <a:rPr lang="en-US" sz="2400" dirty="0"/>
              <a:t>;</a:t>
            </a:r>
          </a:p>
          <a:p>
            <a:pPr>
              <a:spcBef>
                <a:spcPts val="1800"/>
              </a:spcBef>
            </a:pPr>
            <a:r>
              <a:rPr lang="en-US" sz="2400" dirty="0" err="1"/>
              <a:t>Evitar</a:t>
            </a:r>
            <a:r>
              <a:rPr lang="en-US" sz="2400" dirty="0"/>
              <a:t> </a:t>
            </a:r>
            <a:r>
              <a:rPr lang="en-US" sz="2400" dirty="0" err="1"/>
              <a:t>estruturas</a:t>
            </a:r>
            <a:r>
              <a:rPr lang="en-US" sz="2400" dirty="0"/>
              <a:t> </a:t>
            </a:r>
            <a:r>
              <a:rPr lang="en-US" sz="2400" dirty="0" err="1"/>
              <a:t>condicionais</a:t>
            </a:r>
            <a:r>
              <a:rPr lang="en-US" sz="2400" dirty="0"/>
              <a:t>; no </a:t>
            </a:r>
            <a:r>
              <a:rPr lang="en-US" sz="2400" dirty="0" err="1"/>
              <a:t>entanto</a:t>
            </a:r>
            <a:r>
              <a:rPr lang="en-US" sz="2400" dirty="0"/>
              <a:t>, </a:t>
            </a:r>
            <a:r>
              <a:rPr lang="en-US" sz="2400" dirty="0" err="1"/>
              <a:t>máscaras</a:t>
            </a:r>
            <a:r>
              <a:rPr lang="en-US" sz="2400" dirty="0"/>
              <a:t> </a:t>
            </a:r>
            <a:r>
              <a:rPr lang="en-US" sz="2400" dirty="0" err="1"/>
              <a:t>são</a:t>
            </a:r>
            <a:r>
              <a:rPr lang="en-US" sz="2400" dirty="0"/>
              <a:t> </a:t>
            </a:r>
            <a:r>
              <a:rPr lang="en-US" sz="2400" dirty="0" err="1"/>
              <a:t>vectorizáveis</a:t>
            </a:r>
            <a:r>
              <a:rPr lang="en-US" sz="2400" dirty="0"/>
              <a:t>;</a:t>
            </a:r>
          </a:p>
          <a:p>
            <a:pPr>
              <a:spcBef>
                <a:spcPts val="1800"/>
              </a:spcBef>
            </a:pPr>
            <a:r>
              <a:rPr lang="en-US" sz="2400" dirty="0" err="1"/>
              <a:t>Evitar</a:t>
            </a:r>
            <a:r>
              <a:rPr lang="en-US" sz="2400" dirty="0"/>
              <a:t> </a:t>
            </a:r>
            <a:r>
              <a:rPr lang="en-US" sz="2400" dirty="0" err="1"/>
              <a:t>dependências</a:t>
            </a:r>
            <a:r>
              <a:rPr lang="en-US" sz="2400" dirty="0"/>
              <a:t>, </a:t>
            </a:r>
            <a:r>
              <a:rPr lang="en-US" sz="2400" dirty="0" err="1"/>
              <a:t>especialmente</a:t>
            </a:r>
            <a:r>
              <a:rPr lang="en-US" sz="2400" dirty="0"/>
              <a:t> do </a:t>
            </a:r>
            <a:r>
              <a:rPr lang="en-US" sz="2400" dirty="0" err="1"/>
              <a:t>tipo</a:t>
            </a:r>
            <a:r>
              <a:rPr lang="en-US" sz="2400" dirty="0"/>
              <a:t> “read-after-write”</a:t>
            </a:r>
          </a:p>
          <a:p>
            <a:pPr>
              <a:spcBef>
                <a:spcPts val="1800"/>
              </a:spcBef>
            </a:pPr>
            <a:r>
              <a:rPr lang="en-US" sz="2400" dirty="0" err="1"/>
              <a:t>Evitar</a:t>
            </a:r>
            <a:r>
              <a:rPr lang="en-US" sz="2400" dirty="0"/>
              <a:t> a </a:t>
            </a:r>
            <a:r>
              <a:rPr lang="en-US" sz="2400" dirty="0" err="1"/>
              <a:t>utilização</a:t>
            </a:r>
            <a:r>
              <a:rPr lang="en-US" sz="2400" dirty="0"/>
              <a:t> de </a:t>
            </a:r>
            <a:r>
              <a:rPr lang="en-US" sz="2400" dirty="0" err="1"/>
              <a:t>apontadores</a:t>
            </a:r>
            <a:r>
              <a:rPr lang="en-US" sz="2400" dirty="0"/>
              <a:t> e </a:t>
            </a:r>
            <a:r>
              <a:rPr lang="en-US" sz="2400" dirty="0" err="1"/>
              <a:t>prevenir</a:t>
            </a:r>
            <a:r>
              <a:rPr lang="en-US" sz="2400" dirty="0"/>
              <a:t> </a:t>
            </a:r>
            <a:r>
              <a:rPr lang="en-US" sz="2400" i="1" dirty="0"/>
              <a:t>aliasing</a:t>
            </a:r>
            <a:endParaRPr lang="en-US" sz="2400" dirty="0"/>
          </a:p>
          <a:p>
            <a:pPr>
              <a:spcBef>
                <a:spcPts val="1800"/>
              </a:spcBef>
            </a:pPr>
            <a:r>
              <a:rPr lang="pt-PT" sz="2400" dirty="0"/>
              <a:t>Usar acessos à memória eficientes:</a:t>
            </a:r>
          </a:p>
          <a:p>
            <a:pPr lvl="1"/>
            <a:r>
              <a:rPr lang="en-US" sz="2000" dirty="0" err="1"/>
              <a:t>Ciclo</a:t>
            </a:r>
            <a:r>
              <a:rPr lang="en-US" sz="2000" dirty="0"/>
              <a:t> </a:t>
            </a:r>
            <a:r>
              <a:rPr lang="en-US" sz="2000" dirty="0" err="1"/>
              <a:t>mais</a:t>
            </a:r>
            <a:r>
              <a:rPr lang="en-US" sz="2000" dirty="0"/>
              <a:t> </a:t>
            </a:r>
            <a:r>
              <a:rPr lang="en-US" sz="2000" dirty="0" err="1"/>
              <a:t>aninhado</a:t>
            </a:r>
            <a:r>
              <a:rPr lang="en-US" sz="2000" dirty="0"/>
              <a:t> com </a:t>
            </a:r>
            <a:r>
              <a:rPr lang="en-US" sz="2000" i="1" dirty="0"/>
              <a:t>stride </a:t>
            </a:r>
            <a:r>
              <a:rPr lang="en-US" sz="2000" dirty="0"/>
              <a:t>1 (dados </a:t>
            </a:r>
            <a:r>
              <a:rPr lang="en-US" sz="2000" dirty="0" err="1"/>
              <a:t>consecutivos</a:t>
            </a:r>
            <a:r>
              <a:rPr lang="en-US" sz="2000" dirty="0"/>
              <a:t>)</a:t>
            </a:r>
          </a:p>
          <a:p>
            <a:pPr lvl="1"/>
            <a:r>
              <a:rPr lang="en-US" sz="2000" dirty="0" err="1"/>
              <a:t>Alinhar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dados a </a:t>
            </a:r>
            <a:r>
              <a:rPr lang="en-US" sz="2000" dirty="0" err="1"/>
              <a:t>múltiplos</a:t>
            </a:r>
            <a:r>
              <a:rPr lang="en-US" sz="2000" dirty="0"/>
              <a:t> de 32 </a:t>
            </a:r>
            <a:r>
              <a:rPr lang="en-US" sz="1800" dirty="0"/>
              <a:t>(Intel® AVX)</a:t>
            </a:r>
            <a:r>
              <a:rPr lang="en-US" sz="2000" dirty="0"/>
              <a:t> </a:t>
            </a:r>
          </a:p>
          <a:p>
            <a:endParaRPr lang="pt-PT" sz="2400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Processamento Vectorial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41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1205930188"/>
      </p:ext>
    </p:extLst>
  </p:cSld>
  <p:clrMapOvr>
    <a:masterClrMapping/>
  </p:clrMapOvr>
</p:sld>
</file>

<file path=ppt/theme/theme1.xml><?xml version="1.0" encoding="utf-8"?>
<a:theme xmlns:a="http://schemas.openxmlformats.org/drawingml/2006/main" name="Modelo de apresentação predefinido">
  <a:themeElements>
    <a:clrScheme name="">
      <a:dk1>
        <a:srgbClr val="000000"/>
      </a:dk1>
      <a:lt1>
        <a:srgbClr val="DDDDDD"/>
      </a:lt1>
      <a:dk2>
        <a:srgbClr val="000000"/>
      </a:dk2>
      <a:lt2>
        <a:srgbClr val="000000"/>
      </a:lt2>
      <a:accent1>
        <a:srgbClr val="FF9900"/>
      </a:accent1>
      <a:accent2>
        <a:srgbClr val="00FFFF"/>
      </a:accent2>
      <a:accent3>
        <a:srgbClr val="EBEBEB"/>
      </a:accent3>
      <a:accent4>
        <a:srgbClr val="000000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Modelo de apresentação predefini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PT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arrow"/>
        </a:ln>
        <a:effectLst/>
      </a:spPr>
      <a:bodyPr/>
      <a:lstStyle/>
    </a:lnDef>
  </a:objectDefaults>
  <a:extraClrSchemeLst>
    <a:extraClrScheme>
      <a:clrScheme name="Modelo de apresentação predefini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o de apresentação predefini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o de apresentação predefini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o de apresentação predefini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o de apresentação predefini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o de apresentação predefini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o de apresentação predefini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7890</TotalTime>
  <Words>5366</Words>
  <Application>Microsoft Macintosh PowerPoint</Application>
  <PresentationFormat>Apresentação no Ecrã (4:3)</PresentationFormat>
  <Paragraphs>724</Paragraphs>
  <Slides>41</Slides>
  <Notes>0</Notes>
  <HiddenSlides>0</HiddenSlides>
  <MMClips>0</MMClips>
  <ScaleCrop>false</ScaleCrop>
  <HeadingPairs>
    <vt:vector size="8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incorporados</vt:lpstr>
      </vt:variant>
      <vt:variant>
        <vt:i4>1</vt:i4>
      </vt:variant>
      <vt:variant>
        <vt:lpstr>Títulos dos diapositivos</vt:lpstr>
      </vt:variant>
      <vt:variant>
        <vt:i4>41</vt:i4>
      </vt:variant>
    </vt:vector>
  </HeadingPairs>
  <TitlesOfParts>
    <vt:vector size="50" baseType="lpstr">
      <vt:lpstr>Arial</vt:lpstr>
      <vt:lpstr>Calibri</vt:lpstr>
      <vt:lpstr>Cambria Math</vt:lpstr>
      <vt:lpstr>Consolas</vt:lpstr>
      <vt:lpstr>Courier New</vt:lpstr>
      <vt:lpstr>SFMono-Regular</vt:lpstr>
      <vt:lpstr>Times New Roman</vt:lpstr>
      <vt:lpstr>Modelo de apresentação predefinido</vt:lpstr>
      <vt:lpstr>Equação</vt:lpstr>
      <vt:lpstr>Processamento Vectorial</vt:lpstr>
      <vt:lpstr>Material de Apoio</vt:lpstr>
      <vt:lpstr>Processamento Escalar</vt:lpstr>
      <vt:lpstr>Processamento Vectorial</vt:lpstr>
      <vt:lpstr>Processamento Vectorial</vt:lpstr>
      <vt:lpstr>Intel SSE</vt:lpstr>
      <vt:lpstr>Intel SSE  - Streaming SIMD Extensions </vt:lpstr>
      <vt:lpstr>Intel Advanced Vector Extensions (AVX)</vt:lpstr>
      <vt:lpstr>Instruções AVX: Notação</vt:lpstr>
      <vt:lpstr>Instruções AVX: Notação</vt:lpstr>
      <vt:lpstr>Instruções AVX: Transferência de Dados</vt:lpstr>
      <vt:lpstr>Instruções AVX: Operações FP</vt:lpstr>
      <vt:lpstr>Exemplo AVX</vt:lpstr>
      <vt:lpstr>Processamento Vectorial - desenvolvimento</vt:lpstr>
      <vt:lpstr>Compiler Intrinsics</vt:lpstr>
      <vt:lpstr>Compiler Intrinsics</vt:lpstr>
      <vt:lpstr>Compiler Intrinsics</vt:lpstr>
      <vt:lpstr>Compiler Intrinsics</vt:lpstr>
      <vt:lpstr>Compiler Intrinsics: Exemplo 1</vt:lpstr>
      <vt:lpstr>Compiler Intrinsics: Exemplo 2</vt:lpstr>
      <vt:lpstr>Compiler Intrinsics: Exemplo 3</vt:lpstr>
      <vt:lpstr>Auto-vectorização</vt:lpstr>
      <vt:lpstr>Auto-vectorização</vt:lpstr>
      <vt:lpstr>Auto-vectorização</vt:lpstr>
      <vt:lpstr>Auto-vectorização</vt:lpstr>
      <vt:lpstr>Bloqueadores Auto-vectorização: dados não contíguos</vt:lpstr>
      <vt:lpstr>Apresentação do PowerPoint</vt:lpstr>
      <vt:lpstr>Apresentação do PowerPoint</vt:lpstr>
      <vt:lpstr>AoS versus SoA</vt:lpstr>
      <vt:lpstr>Bloqueadores Auto-vectorização: stride</vt:lpstr>
      <vt:lpstr>Bloqueadores Auto-vectorização: uncountable loops</vt:lpstr>
      <vt:lpstr>Bloqueadores Auto-vectorização: condições</vt:lpstr>
      <vt:lpstr>Bloqueadores Auto-vectorização: condições</vt:lpstr>
      <vt:lpstr>Bloqueadores Auto-vectorização: funções</vt:lpstr>
      <vt:lpstr>Bloqueadores Auto-vectorização: funções</vt:lpstr>
      <vt:lpstr>Bloqueadores Auto-vectorização: dependências</vt:lpstr>
      <vt:lpstr>Bloqueadores Auto-vectorização: dependências</vt:lpstr>
      <vt:lpstr>Bloqueadores Auto-vectorização: dependências</vt:lpstr>
      <vt:lpstr>Bloqueadores Auto-vectorização: dependências</vt:lpstr>
      <vt:lpstr>Bloqueadores Auto-vectorização: dependências</vt:lpstr>
      <vt:lpstr>Processamento Vectorial: Linhas de Orientação</vt:lpstr>
    </vt:vector>
  </TitlesOfParts>
  <Company>Univ. do Minho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Luís Santos</dc:creator>
  <cp:lastModifiedBy>Luís Paulo Peixoto Santos</cp:lastModifiedBy>
  <cp:revision>635</cp:revision>
  <dcterms:created xsi:type="dcterms:W3CDTF">2015-11-17T12:58:13Z</dcterms:created>
  <dcterms:modified xsi:type="dcterms:W3CDTF">2025-11-10T17:08:22Z</dcterms:modified>
</cp:coreProperties>
</file>